
<file path=[Content_Types].xml><?xml version="1.0" encoding="utf-8"?>
<Types xmlns="http://schemas.openxmlformats.org/package/2006/content-types">
  <Default Extension="3rx3m0aaaagsurbvamatgds1gdzrh0aaaaasuvork5cyii=" ContentType="image/3rx3m0aaaagsurbvamatgds1gdzrh0aaaaasuvork5cyii="/>
  <Default Extension="5gucrgaaaagsurbvamayrq85ldfdxiaaaaasuvork5cyii=" ContentType="image/5gucrgaaaagsurbvamayrq85ldfdxiaaaaasuvork5cyii="/>
  <Default Extension="85ra9paaaabkleqvqdaaokmkpw7uqhaaaaaelftksuqmcc" ContentType="image/85ra9paaaabkleqvqdaaokmkpw7uqhaaaaaelftksuqmcc"/>
  <Default Extension="8g5sjzaaaabkleqvqdakgl4fqaknnkaaaaaelftksuqmcc" ContentType="image/8g5sjzaaaabkleqvqdakgl4fqaknnkaaaaaelftksuqmcc"/>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5611"/>
    <p:restoredTop sz="94610"/>
  </p:normalViewPr>
  <p:slideViewPr>
    <p:cSldViewPr snapToGrid="0" snapToObjects="1">
      <p:cViewPr varScale="1">
        <p:scale>
          <a:sx n="56" d="100"/>
          <a:sy n="56" d="100"/>
        </p:scale>
        <p:origin x="1488"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US" dirty="0"/>
          </a:p>
        </p:txBody>
      </p:sp>
      <p:sp>
        <p:nvSpPr>
          <p:cNvPr id="3" name="Veri Yer Tutucusu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5381BDB4-83B4-4D24-A8E5-55327306CDCB}" type="datetimeFigureOut">
              <a:rPr lang="en-US" smtClean="0"/>
              <a:t>8/25/2025</a:t>
            </a:fld>
            <a:endParaRPr lang="en-US" dirty="0"/>
          </a:p>
        </p:txBody>
      </p:sp>
      <p:sp>
        <p:nvSpPr>
          <p:cNvPr id="4" name="Slayt Görüntüsü Yer Tutucusu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 Yer Tutucusu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6" name="Altbilgi Yer Tutucusu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US" dirty="0"/>
          </a:p>
        </p:txBody>
      </p:sp>
      <p:sp>
        <p:nvSpPr>
          <p:cNvPr id="7" name="Slayt Numarası Yer Tutucusu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5A18C2F1-3429-411D-B548-667DF570D747}" type="slidenum">
              <a:rPr lang="en-US" smtClean="0"/>
              <a:t>‹#›</a:t>
            </a:fld>
            <a:endParaRPr lang="en-US" dirty="0"/>
          </a:p>
        </p:txBody>
      </p:sp>
    </p:spTree>
    <p:extLst>
      <p:ext uri="{BB962C8B-B14F-4D97-AF65-F5344CB8AC3E}">
        <p14:creationId xmlns:p14="http://schemas.microsoft.com/office/powerpoint/2010/main" val="3056219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3rx3m0aaaagsurbvamatgds1gdzrh0aaaaasuvork5cyii="/><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85ra9paaaabkleqvqdaaokmkpw7uqhaaaaaelftksuqmcc"/><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8g5sjzaaaabkleqvqdakgl4fqaknnkaaaaaelftksuqmcc"/><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5gucrgaaaagsurbvamayrq85ldfdxiaaaaasuvork5cyii="/><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8g5sjzaaaabkleqvqdakgl4fqaknnkaaaaaelftksuqmcc"/><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5gucrgaaaagsurbvamayrq85ldfdxiaaaaasuvork5cyii="/><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15" b="115"/>
          <a:stretch/>
        </p:blipFill>
        <p:spPr>
          <a:xfrm>
            <a:off x="0" y="0"/>
            <a:ext cx="3429000" cy="5143500"/>
          </a:xfrm>
          <a:prstGeom prst="rect">
            <a:avLst/>
          </a:prstGeom>
        </p:spPr>
      </p:pic>
      <p:sp>
        <p:nvSpPr>
          <p:cNvPr id="3" name="Text 0"/>
          <p:cNvSpPr/>
          <p:nvPr/>
        </p:nvSpPr>
        <p:spPr>
          <a:xfrm>
            <a:off x="2743201" y="1715854"/>
            <a:ext cx="619490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Term Project: </a:t>
            </a:r>
          </a:p>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Systematic Review of a Biomaterial</a:t>
            </a:r>
            <a:endParaRPr lang="en-US" sz="2820" dirty="0"/>
          </a:p>
        </p:txBody>
      </p:sp>
      <p:sp>
        <p:nvSpPr>
          <p:cNvPr id="4" name="Text 1"/>
          <p:cNvSpPr/>
          <p:nvPr/>
        </p:nvSpPr>
        <p:spPr>
          <a:xfrm>
            <a:off x="3925186" y="2814551"/>
            <a:ext cx="4722628" cy="226803"/>
          </a:xfrm>
          <a:prstGeom prst="rect">
            <a:avLst/>
          </a:prstGeom>
          <a:noFill/>
          <a:ln/>
        </p:spPr>
        <p:txBody>
          <a:bodyPr wrap="square" lIns="0" tIns="0" rIns="0" bIns="0" rtlCol="0" anchor="ctr"/>
          <a:lstStyle/>
          <a:p>
            <a:pPr marL="0" indent="0">
              <a:lnSpc>
                <a:spcPts val="1805"/>
              </a:lnSpc>
              <a:buNone/>
            </a:pPr>
            <a:r>
              <a:rPr lang="en-US" sz="1400" b="1" dirty="0">
                <a:solidFill>
                  <a:srgbClr val="000000"/>
                </a:solidFill>
                <a:latin typeface="Rubik" pitchFamily="34" charset="0"/>
                <a:ea typeface="Rubik" pitchFamily="34" charset="-122"/>
                <a:cs typeface="Rubik" pitchFamily="34" charset="-120"/>
              </a:rPr>
              <a:t>Dr. </a:t>
            </a:r>
            <a:r>
              <a:rPr lang="en-US" sz="1400" b="1" dirty="0" err="1">
                <a:solidFill>
                  <a:srgbClr val="000000"/>
                </a:solidFill>
                <a:latin typeface="Rubik" pitchFamily="34" charset="0"/>
                <a:ea typeface="Rubik" pitchFamily="34" charset="-122"/>
                <a:cs typeface="Rubik" pitchFamily="34" charset="-120"/>
              </a:rPr>
              <a:t>Sarkis</a:t>
            </a:r>
            <a:r>
              <a:rPr lang="en-US" sz="1400" b="1" dirty="0">
                <a:solidFill>
                  <a:srgbClr val="000000"/>
                </a:solidFill>
                <a:latin typeface="Rubik" pitchFamily="34" charset="0"/>
                <a:ea typeface="Rubik" pitchFamily="34" charset="-122"/>
                <a:cs typeface="Rubik" pitchFamily="34" charset="-120"/>
              </a:rPr>
              <a:t> SÖZKES</a:t>
            </a:r>
            <a:endParaRPr lang="en-US" sz="1400" b="1" dirty="0"/>
          </a:p>
        </p:txBody>
      </p:sp>
      <p:sp>
        <p:nvSpPr>
          <p:cNvPr id="5" name="Text 2"/>
          <p:cNvSpPr/>
          <p:nvPr/>
        </p:nvSpPr>
        <p:spPr>
          <a:xfrm>
            <a:off x="3925186" y="3200843"/>
            <a:ext cx="4722628" cy="226803"/>
          </a:xfrm>
          <a:prstGeom prst="rect">
            <a:avLst/>
          </a:prstGeom>
          <a:noFill/>
          <a:ln/>
        </p:spPr>
        <p:txBody>
          <a:bodyPr wrap="square" lIns="0" tIns="0" rIns="0" bIns="0" rtlCol="0" anchor="ctr"/>
          <a:lstStyle/>
          <a:p>
            <a:pPr marL="0" indent="0">
              <a:lnSpc>
                <a:spcPts val="1805"/>
              </a:lnSpc>
              <a:buNone/>
            </a:pPr>
            <a:r>
              <a:rPr lang="en-US" sz="1400" b="1" dirty="0">
                <a:solidFill>
                  <a:srgbClr val="000000"/>
                </a:solidFill>
                <a:latin typeface="Rubik" pitchFamily="34" charset="0"/>
                <a:ea typeface="Rubik" pitchFamily="34" charset="-122"/>
                <a:cs typeface="Rubik" pitchFamily="34" charset="-120"/>
              </a:rPr>
              <a:t>ssozkes@fgcu.edu</a:t>
            </a:r>
            <a:endParaRPr lang="en-US"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D"/>
        </a:solidFill>
        <a:effectLst/>
      </p:bgPr>
    </p:bg>
    <p:spTree>
      <p:nvGrpSpPr>
        <p:cNvPr id="1" name=""/>
        <p:cNvGrpSpPr/>
        <p:nvPr/>
      </p:nvGrpSpPr>
      <p:grpSpPr>
        <a:xfrm>
          <a:off x="0" y="0"/>
          <a:ext cx="0" cy="0"/>
          <a:chOff x="0" y="0"/>
          <a:chExt cx="0" cy="0"/>
        </a:xfrm>
      </p:grpSpPr>
      <p:sp>
        <p:nvSpPr>
          <p:cNvPr id="2" name="Text 0"/>
          <p:cNvSpPr/>
          <p:nvPr/>
        </p:nvSpPr>
        <p:spPr>
          <a:xfrm>
            <a:off x="496186" y="538273"/>
            <a:ext cx="8151628" cy="443023"/>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Contents</a:t>
            </a:r>
            <a:endParaRPr lang="en-US" sz="2820" dirty="0"/>
          </a:p>
        </p:txBody>
      </p:sp>
      <p:sp>
        <p:nvSpPr>
          <p:cNvPr id="3" name="Text 1"/>
          <p:cNvSpPr/>
          <p:nvPr/>
        </p:nvSpPr>
        <p:spPr>
          <a:xfrm>
            <a:off x="496186" y="1201824"/>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a:pPr>
            <a:r>
              <a:rPr lang="en-US" sz="1105" dirty="0">
                <a:solidFill>
                  <a:srgbClr val="000000"/>
                </a:solidFill>
                <a:latin typeface="Rubik" pitchFamily="34" charset="0"/>
                <a:ea typeface="Rubik" pitchFamily="34" charset="-122"/>
                <a:cs typeface="Rubik" pitchFamily="34" charset="-120"/>
              </a:rPr>
              <a:t>Introduction: Term Project Overview</a:t>
            </a:r>
            <a:endParaRPr lang="en-US" sz="1105" dirty="0"/>
          </a:p>
        </p:txBody>
      </p:sp>
      <p:sp>
        <p:nvSpPr>
          <p:cNvPr id="4" name="Text 2"/>
          <p:cNvSpPr/>
          <p:nvPr/>
        </p:nvSpPr>
        <p:spPr>
          <a:xfrm>
            <a:off x="496186" y="1486097"/>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2"/>
            </a:pPr>
            <a:r>
              <a:rPr lang="en-US" sz="1105" dirty="0">
                <a:solidFill>
                  <a:srgbClr val="000000"/>
                </a:solidFill>
                <a:latin typeface="Rubik" pitchFamily="34" charset="0"/>
                <a:ea typeface="Rubik" pitchFamily="34" charset="-122"/>
                <a:cs typeface="Rubik" pitchFamily="34" charset="-120"/>
              </a:rPr>
              <a:t>Understanding Biomaterials: A Definition</a:t>
            </a:r>
            <a:endParaRPr lang="en-US" sz="1105" dirty="0"/>
          </a:p>
        </p:txBody>
      </p:sp>
      <p:sp>
        <p:nvSpPr>
          <p:cNvPr id="5" name="Text 3"/>
          <p:cNvSpPr/>
          <p:nvPr/>
        </p:nvSpPr>
        <p:spPr>
          <a:xfrm>
            <a:off x="496186" y="1770370"/>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3"/>
            </a:pPr>
            <a:r>
              <a:rPr lang="en-US" sz="1105" dirty="0">
                <a:solidFill>
                  <a:srgbClr val="000000"/>
                </a:solidFill>
                <a:latin typeface="Rubik" pitchFamily="34" charset="0"/>
                <a:ea typeface="Rubik" pitchFamily="34" charset="-122"/>
                <a:cs typeface="Rubik" pitchFamily="34" charset="-120"/>
              </a:rPr>
              <a:t>Introduction to Systematic Literature Search</a:t>
            </a:r>
            <a:endParaRPr lang="en-US" sz="1105" dirty="0"/>
          </a:p>
        </p:txBody>
      </p:sp>
      <p:sp>
        <p:nvSpPr>
          <p:cNvPr id="6" name="Text 4"/>
          <p:cNvSpPr/>
          <p:nvPr/>
        </p:nvSpPr>
        <p:spPr>
          <a:xfrm>
            <a:off x="496186" y="2054643"/>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4"/>
            </a:pPr>
            <a:r>
              <a:rPr lang="en-US" sz="1105" dirty="0">
                <a:solidFill>
                  <a:srgbClr val="000000"/>
                </a:solidFill>
                <a:latin typeface="Rubik" pitchFamily="34" charset="0"/>
                <a:ea typeface="Rubik" pitchFamily="34" charset="-122"/>
                <a:cs typeface="Rubik" pitchFamily="34" charset="-120"/>
              </a:rPr>
              <a:t>PRISMA Flow Chart: An Overview</a:t>
            </a:r>
            <a:endParaRPr lang="en-US" sz="1105" dirty="0"/>
          </a:p>
        </p:txBody>
      </p:sp>
      <p:sp>
        <p:nvSpPr>
          <p:cNvPr id="7" name="Text 5"/>
          <p:cNvSpPr/>
          <p:nvPr/>
        </p:nvSpPr>
        <p:spPr>
          <a:xfrm>
            <a:off x="496186" y="2338917"/>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5"/>
            </a:pPr>
            <a:r>
              <a:rPr lang="en-US" sz="1105" dirty="0">
                <a:solidFill>
                  <a:srgbClr val="000000"/>
                </a:solidFill>
                <a:latin typeface="Rubik" pitchFamily="34" charset="0"/>
                <a:ea typeface="Rubik" pitchFamily="34" charset="-122"/>
                <a:cs typeface="Rubik" pitchFamily="34" charset="-120"/>
              </a:rPr>
              <a:t>Phase 1: Identification - Developing Search Strategies</a:t>
            </a:r>
            <a:endParaRPr lang="en-US" sz="1105" dirty="0"/>
          </a:p>
        </p:txBody>
      </p:sp>
      <p:sp>
        <p:nvSpPr>
          <p:cNvPr id="8" name="Text 6"/>
          <p:cNvSpPr/>
          <p:nvPr/>
        </p:nvSpPr>
        <p:spPr>
          <a:xfrm>
            <a:off x="496186" y="2623190"/>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6"/>
            </a:pPr>
            <a:r>
              <a:rPr lang="en-US" sz="1105" dirty="0">
                <a:solidFill>
                  <a:srgbClr val="000000"/>
                </a:solidFill>
                <a:latin typeface="Rubik" pitchFamily="34" charset="0"/>
                <a:ea typeface="Rubik" pitchFamily="34" charset="-122"/>
                <a:cs typeface="Rubik" pitchFamily="34" charset="-120"/>
              </a:rPr>
              <a:t>Phase 2: Screening - Eligibility Criteria and Selection</a:t>
            </a:r>
            <a:endParaRPr lang="en-US" sz="1105" dirty="0"/>
          </a:p>
        </p:txBody>
      </p:sp>
      <p:sp>
        <p:nvSpPr>
          <p:cNvPr id="9" name="Text 7"/>
          <p:cNvSpPr/>
          <p:nvPr/>
        </p:nvSpPr>
        <p:spPr>
          <a:xfrm>
            <a:off x="496186" y="2907463"/>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7"/>
            </a:pPr>
            <a:r>
              <a:rPr lang="en-US" sz="1105" dirty="0">
                <a:solidFill>
                  <a:srgbClr val="000000"/>
                </a:solidFill>
                <a:latin typeface="Rubik" pitchFamily="34" charset="0"/>
                <a:ea typeface="Rubik" pitchFamily="34" charset="-122"/>
                <a:cs typeface="Rubik" pitchFamily="34" charset="-120"/>
              </a:rPr>
              <a:t>Phase 3: Eligibility - Full-Text Review and Inclusion</a:t>
            </a:r>
            <a:endParaRPr lang="en-US" sz="1105" dirty="0"/>
          </a:p>
        </p:txBody>
      </p:sp>
      <p:sp>
        <p:nvSpPr>
          <p:cNvPr id="10" name="Text 8"/>
          <p:cNvSpPr/>
          <p:nvPr/>
        </p:nvSpPr>
        <p:spPr>
          <a:xfrm>
            <a:off x="496186" y="3191736"/>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8"/>
            </a:pPr>
            <a:r>
              <a:rPr lang="en-US" sz="1105" dirty="0">
                <a:solidFill>
                  <a:srgbClr val="000000"/>
                </a:solidFill>
                <a:latin typeface="Rubik" pitchFamily="34" charset="0"/>
                <a:ea typeface="Rubik" pitchFamily="34" charset="-122"/>
                <a:cs typeface="Rubik" pitchFamily="34" charset="-120"/>
              </a:rPr>
              <a:t>Phase 4: Included - Data Extraction and Synthesis</a:t>
            </a:r>
            <a:endParaRPr lang="en-US" sz="1105" dirty="0"/>
          </a:p>
        </p:txBody>
      </p:sp>
      <p:sp>
        <p:nvSpPr>
          <p:cNvPr id="11" name="Text 9"/>
          <p:cNvSpPr/>
          <p:nvPr/>
        </p:nvSpPr>
        <p:spPr>
          <a:xfrm>
            <a:off x="496186" y="3476010"/>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9"/>
            </a:pPr>
            <a:r>
              <a:rPr lang="en-US" sz="1105" dirty="0">
                <a:solidFill>
                  <a:srgbClr val="000000"/>
                </a:solidFill>
                <a:latin typeface="Rubik" pitchFamily="34" charset="0"/>
                <a:ea typeface="Rubik" pitchFamily="34" charset="-122"/>
                <a:cs typeface="Rubik" pitchFamily="34" charset="-120"/>
              </a:rPr>
              <a:t>Application of PRISMA to Biomaterial Research</a:t>
            </a:r>
            <a:endParaRPr lang="en-US" sz="1105" dirty="0"/>
          </a:p>
        </p:txBody>
      </p:sp>
      <p:sp>
        <p:nvSpPr>
          <p:cNvPr id="12" name="Text 10"/>
          <p:cNvSpPr/>
          <p:nvPr/>
        </p:nvSpPr>
        <p:spPr>
          <a:xfrm>
            <a:off x="496186" y="3760283"/>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10"/>
            </a:pPr>
            <a:r>
              <a:rPr lang="en-US" sz="1105" dirty="0">
                <a:solidFill>
                  <a:srgbClr val="000000"/>
                </a:solidFill>
                <a:latin typeface="Rubik" pitchFamily="34" charset="0"/>
                <a:ea typeface="Rubik" pitchFamily="34" charset="-122"/>
                <a:cs typeface="Rubik" pitchFamily="34" charset="-120"/>
              </a:rPr>
              <a:t>Challenges and Considerations in Systematic Reviews</a:t>
            </a:r>
            <a:endParaRPr lang="en-US" sz="1105" dirty="0"/>
          </a:p>
        </p:txBody>
      </p:sp>
      <p:sp>
        <p:nvSpPr>
          <p:cNvPr id="13" name="Text 11"/>
          <p:cNvSpPr/>
          <p:nvPr/>
        </p:nvSpPr>
        <p:spPr>
          <a:xfrm>
            <a:off x="496186" y="4044556"/>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11"/>
            </a:pPr>
            <a:r>
              <a:rPr lang="en-US" sz="1105" dirty="0">
                <a:solidFill>
                  <a:srgbClr val="000000"/>
                </a:solidFill>
                <a:latin typeface="Rubik" pitchFamily="34" charset="0"/>
                <a:ea typeface="Rubik" pitchFamily="34" charset="-122"/>
                <a:cs typeface="Rubik" pitchFamily="34" charset="-120"/>
              </a:rPr>
              <a:t>Expected Outcomes and Impact of the Project</a:t>
            </a:r>
            <a:endParaRPr lang="en-US" sz="1105" dirty="0"/>
          </a:p>
        </p:txBody>
      </p:sp>
      <p:sp>
        <p:nvSpPr>
          <p:cNvPr id="14" name="Text 12"/>
          <p:cNvSpPr/>
          <p:nvPr/>
        </p:nvSpPr>
        <p:spPr>
          <a:xfrm>
            <a:off x="496186" y="4328829"/>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12"/>
            </a:pPr>
            <a:r>
              <a:rPr lang="en-US" sz="1105" dirty="0">
                <a:solidFill>
                  <a:srgbClr val="000000"/>
                </a:solidFill>
                <a:latin typeface="Rubik" pitchFamily="34" charset="0"/>
                <a:ea typeface="Rubik" pitchFamily="34" charset="-122"/>
                <a:cs typeface="Rubik" pitchFamily="34" charset="-120"/>
              </a:rPr>
              <a:t>Conclusion &amp; Future Directions</a:t>
            </a:r>
            <a:endParaRPr lang="en-US" sz="110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264" r="1264"/>
          <a:stretch/>
        </p:blipFill>
        <p:spPr>
          <a:xfrm>
            <a:off x="0" y="0"/>
            <a:ext cx="3429000" cy="5143500"/>
          </a:xfrm>
          <a:prstGeom prst="rect">
            <a:avLst/>
          </a:prstGeom>
        </p:spPr>
      </p:pic>
      <p:sp>
        <p:nvSpPr>
          <p:cNvPr id="3" name="Shape 0"/>
          <p:cNvSpPr/>
          <p:nvPr/>
        </p:nvSpPr>
        <p:spPr>
          <a:xfrm>
            <a:off x="3925185" y="1694687"/>
            <a:ext cx="2290430" cy="2852824"/>
          </a:xfrm>
          <a:prstGeom prst="roundRect">
            <a:avLst>
              <a:gd name="adj" fmla="val 2063"/>
            </a:avLst>
          </a:prstGeom>
          <a:solidFill>
            <a:srgbClr val="CEDEF0"/>
          </a:solidFill>
          <a:ln/>
        </p:spPr>
        <p:txBody>
          <a:bodyPr/>
          <a:lstStyle/>
          <a:p>
            <a:endParaRPr lang="en-US"/>
          </a:p>
        </p:txBody>
      </p:sp>
      <p:sp>
        <p:nvSpPr>
          <p:cNvPr id="4" name="Shape 1"/>
          <p:cNvSpPr/>
          <p:nvPr/>
        </p:nvSpPr>
        <p:spPr>
          <a:xfrm>
            <a:off x="6357384" y="1694687"/>
            <a:ext cx="2290430" cy="2852824"/>
          </a:xfrm>
          <a:prstGeom prst="roundRect">
            <a:avLst>
              <a:gd name="adj" fmla="val 2063"/>
            </a:avLst>
          </a:prstGeom>
          <a:solidFill>
            <a:srgbClr val="CEDEF0"/>
          </a:solidFill>
          <a:ln/>
        </p:spPr>
        <p:txBody>
          <a:bodyPr/>
          <a:lstStyle/>
          <a:p>
            <a:endParaRPr lang="en-US"/>
          </a:p>
        </p:txBody>
      </p:sp>
      <p:sp>
        <p:nvSpPr>
          <p:cNvPr id="5" name="Text 2"/>
          <p:cNvSpPr/>
          <p:nvPr/>
        </p:nvSpPr>
        <p:spPr>
          <a:xfrm>
            <a:off x="4066953" y="355033"/>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Introduction: Term Project Overview</a:t>
            </a:r>
            <a:endParaRPr lang="en-US" sz="2820" dirty="0"/>
          </a:p>
        </p:txBody>
      </p:sp>
      <p:sp>
        <p:nvSpPr>
          <p:cNvPr id="6" name="Text 3"/>
          <p:cNvSpPr/>
          <p:nvPr/>
        </p:nvSpPr>
        <p:spPr>
          <a:xfrm>
            <a:off x="4066953" y="1836454"/>
            <a:ext cx="2006895"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Project Scope and Objectives</a:t>
            </a:r>
            <a:endParaRPr lang="en-US" sz="1410" dirty="0"/>
          </a:p>
        </p:txBody>
      </p:sp>
      <p:sp>
        <p:nvSpPr>
          <p:cNvPr id="7" name="Text 4"/>
          <p:cNvSpPr/>
          <p:nvPr/>
        </p:nvSpPr>
        <p:spPr>
          <a:xfrm>
            <a:off x="4066953" y="2364514"/>
            <a:ext cx="2006895" cy="2041230"/>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This project aims to conduct a comprehensive systematic review, culminating in a final report detailing findings and implications. It serves as a foundational exercise in applying rigorous research methodologies to a specific scientific domain.</a:t>
            </a:r>
            <a:endParaRPr lang="en-US" sz="1105" dirty="0"/>
          </a:p>
        </p:txBody>
      </p:sp>
      <p:sp>
        <p:nvSpPr>
          <p:cNvPr id="8" name="Text 5"/>
          <p:cNvSpPr/>
          <p:nvPr/>
        </p:nvSpPr>
        <p:spPr>
          <a:xfrm>
            <a:off x="6499151" y="1836454"/>
            <a:ext cx="2006895"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Presentation Overview and Structure</a:t>
            </a:r>
            <a:endParaRPr lang="en-US" sz="1410" dirty="0"/>
          </a:p>
        </p:txBody>
      </p:sp>
      <p:sp>
        <p:nvSpPr>
          <p:cNvPr id="9" name="Text 6"/>
          <p:cNvSpPr/>
          <p:nvPr/>
        </p:nvSpPr>
        <p:spPr>
          <a:xfrm>
            <a:off x="6499151" y="2364514"/>
            <a:ext cx="2006895" cy="158762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The presentation will outline the key steps involved in executing a systematic review, from initial literature search to data synthesis, with a specific focus on biomaterials research.</a:t>
            </a:r>
            <a:endParaRPr lang="en-US" sz="110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5374" r="5374"/>
          <a:stretch/>
        </p:blipFill>
        <p:spPr>
          <a:xfrm>
            <a:off x="5715000" y="0"/>
            <a:ext cx="3429000" cy="5617166"/>
          </a:xfrm>
          <a:prstGeom prst="rect">
            <a:avLst/>
          </a:prstGeom>
        </p:spPr>
      </p:pic>
      <p:sp>
        <p:nvSpPr>
          <p:cNvPr id="3" name="Shape 0"/>
          <p:cNvSpPr/>
          <p:nvPr/>
        </p:nvSpPr>
        <p:spPr>
          <a:xfrm>
            <a:off x="496186" y="1488558"/>
            <a:ext cx="2290430" cy="503201"/>
          </a:xfrm>
          <a:prstGeom prst="chevron">
            <a:avLst/>
          </a:prstGeom>
          <a:solidFill>
            <a:srgbClr val="CEDEF0"/>
          </a:solidFill>
          <a:ln/>
        </p:spPr>
        <p:txBody>
          <a:bodyPr/>
          <a:lstStyle/>
          <a:p>
            <a:endParaRPr lang="en-US"/>
          </a:p>
        </p:txBody>
      </p:sp>
      <p:sp>
        <p:nvSpPr>
          <p:cNvPr id="4" name="Shape 1"/>
          <p:cNvSpPr/>
          <p:nvPr/>
        </p:nvSpPr>
        <p:spPr>
          <a:xfrm>
            <a:off x="2928384" y="1488558"/>
            <a:ext cx="2290430" cy="503201"/>
          </a:xfrm>
          <a:prstGeom prst="chevron">
            <a:avLst/>
          </a:prstGeom>
          <a:solidFill>
            <a:srgbClr val="CEDEF0"/>
          </a:solidFill>
          <a:ln/>
        </p:spPr>
        <p:txBody>
          <a:bodyPr/>
          <a:lstStyle/>
          <a:p>
            <a:endParaRPr lang="en-US"/>
          </a:p>
        </p:txBody>
      </p:sp>
      <p:sp>
        <p:nvSpPr>
          <p:cNvPr id="5" name="Text 2"/>
          <p:cNvSpPr/>
          <p:nvPr/>
        </p:nvSpPr>
        <p:spPr>
          <a:xfrm>
            <a:off x="1535076" y="1570025"/>
            <a:ext cx="212651" cy="340143"/>
          </a:xfrm>
          <a:prstGeom prst="rect">
            <a:avLst/>
          </a:prstGeom>
          <a:noFill/>
          <a:ln/>
        </p:spPr>
        <p:txBody>
          <a:bodyPr wrap="square" lIns="0" tIns="0" rIns="0" bIns="0" rtlCol="0" anchor="ctr"/>
          <a:lstStyle/>
          <a:p>
            <a:pPr marL="0" indent="0" algn="ctr">
              <a:lnSpc>
                <a:spcPts val="2707"/>
              </a:lnSpc>
              <a:buNone/>
            </a:pPr>
            <a:r>
              <a:rPr lang="en-US" sz="1692" dirty="0">
                <a:solidFill>
                  <a:srgbClr val="000000"/>
                </a:solidFill>
                <a:latin typeface="Rubik" pitchFamily="34" charset="0"/>
                <a:ea typeface="Rubik" pitchFamily="34" charset="-122"/>
                <a:cs typeface="Rubik" pitchFamily="34" charset="-120"/>
              </a:rPr>
              <a:t>1</a:t>
            </a:r>
            <a:endParaRPr lang="en-US" sz="1692" dirty="0"/>
          </a:p>
        </p:txBody>
      </p:sp>
      <p:sp>
        <p:nvSpPr>
          <p:cNvPr id="6" name="Text 3"/>
          <p:cNvSpPr/>
          <p:nvPr/>
        </p:nvSpPr>
        <p:spPr>
          <a:xfrm>
            <a:off x="3967273" y="1570025"/>
            <a:ext cx="212651" cy="340143"/>
          </a:xfrm>
          <a:prstGeom prst="rect">
            <a:avLst/>
          </a:prstGeom>
          <a:noFill/>
          <a:ln/>
        </p:spPr>
        <p:txBody>
          <a:bodyPr wrap="square" lIns="0" tIns="0" rIns="0" bIns="0" rtlCol="0" anchor="ctr"/>
          <a:lstStyle/>
          <a:p>
            <a:pPr marL="0" indent="0" algn="ctr">
              <a:lnSpc>
                <a:spcPts val="2707"/>
              </a:lnSpc>
              <a:buNone/>
            </a:pPr>
            <a:r>
              <a:rPr lang="en-US" sz="1692" dirty="0">
                <a:solidFill>
                  <a:srgbClr val="000000"/>
                </a:solidFill>
                <a:latin typeface="Rubik" pitchFamily="34" charset="0"/>
                <a:ea typeface="Rubik" pitchFamily="34" charset="-122"/>
                <a:cs typeface="Rubik" pitchFamily="34" charset="-120"/>
              </a:rPr>
              <a:t>2</a:t>
            </a:r>
            <a:endParaRPr lang="en-US" sz="1692" dirty="0"/>
          </a:p>
        </p:txBody>
      </p:sp>
      <p:sp>
        <p:nvSpPr>
          <p:cNvPr id="7" name="Text 4"/>
          <p:cNvSpPr/>
          <p:nvPr/>
        </p:nvSpPr>
        <p:spPr>
          <a:xfrm>
            <a:off x="496186" y="389860"/>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Understanding Biomaterials: A Definition</a:t>
            </a:r>
            <a:endParaRPr lang="en-US" sz="2820" dirty="0"/>
          </a:p>
        </p:txBody>
      </p:sp>
      <p:sp>
        <p:nvSpPr>
          <p:cNvPr id="8" name="Text 5"/>
          <p:cNvSpPr/>
          <p:nvPr/>
        </p:nvSpPr>
        <p:spPr>
          <a:xfrm>
            <a:off x="637953" y="2204410"/>
            <a:ext cx="2006895" cy="221512"/>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Defining Biomaterials</a:t>
            </a:r>
            <a:endParaRPr lang="en-US" sz="1410" dirty="0"/>
          </a:p>
        </p:txBody>
      </p:sp>
      <p:sp>
        <p:nvSpPr>
          <p:cNvPr id="9" name="Text 6"/>
          <p:cNvSpPr/>
          <p:nvPr/>
        </p:nvSpPr>
        <p:spPr>
          <a:xfrm>
            <a:off x="637953" y="2510957"/>
            <a:ext cx="2006895" cy="2268033"/>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Biomaterials are substances engineered to interact with biological systems for a medical purpose, either therapeutic or diagnostic. They can be synthetic or natural in origin and are designed to perform, augment, or replace a natural function.</a:t>
            </a:r>
            <a:endParaRPr lang="en-US" sz="1105" dirty="0"/>
          </a:p>
        </p:txBody>
      </p:sp>
      <p:sp>
        <p:nvSpPr>
          <p:cNvPr id="10" name="Text 7"/>
          <p:cNvSpPr/>
          <p:nvPr/>
        </p:nvSpPr>
        <p:spPr>
          <a:xfrm>
            <a:off x="3070151" y="2204410"/>
            <a:ext cx="2006895" cy="443023"/>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Properties and Applications</a:t>
            </a:r>
            <a:endParaRPr lang="en-US" sz="1410" dirty="0"/>
          </a:p>
        </p:txBody>
      </p:sp>
      <p:sp>
        <p:nvSpPr>
          <p:cNvPr id="11" name="Text 8"/>
          <p:cNvSpPr/>
          <p:nvPr/>
        </p:nvSpPr>
        <p:spPr>
          <a:xfrm>
            <a:off x="3070151" y="2732469"/>
            <a:ext cx="2006895" cy="2494836"/>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Key characteristics include biocompatibility (not eliciting adverse host responses), desired mechanical properties, and biodegradability/stability, depending on the application. Examples range from implants and prosthetics to drug delivery systems and tissue engineering scaffolds.</a:t>
            </a:r>
            <a:endParaRPr lang="en-US" sz="110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264" r="1264"/>
          <a:stretch/>
        </p:blipFill>
        <p:spPr>
          <a:xfrm>
            <a:off x="0" y="0"/>
            <a:ext cx="3429000" cy="5143500"/>
          </a:xfrm>
          <a:prstGeom prst="rect">
            <a:avLst/>
          </a:prstGeom>
        </p:spPr>
      </p:pic>
      <p:sp>
        <p:nvSpPr>
          <p:cNvPr id="3" name="Shape 0"/>
          <p:cNvSpPr/>
          <p:nvPr/>
        </p:nvSpPr>
        <p:spPr>
          <a:xfrm>
            <a:off x="3925186" y="1747850"/>
            <a:ext cx="4722628" cy="15752"/>
          </a:xfrm>
          <a:prstGeom prst="line">
            <a:avLst/>
          </a:prstGeom>
          <a:noFill/>
          <a:ln w="12700">
            <a:solidFill>
              <a:srgbClr val="CEDEF0"/>
            </a:solidFill>
            <a:prstDash val="solid"/>
          </a:ln>
        </p:spPr>
        <p:txBody>
          <a:bodyPr/>
          <a:lstStyle/>
          <a:p>
            <a:endParaRPr lang="en-US"/>
          </a:p>
        </p:txBody>
      </p:sp>
      <p:sp>
        <p:nvSpPr>
          <p:cNvPr id="4" name="Shape 1"/>
          <p:cNvSpPr/>
          <p:nvPr/>
        </p:nvSpPr>
        <p:spPr>
          <a:xfrm>
            <a:off x="4928634" y="1606082"/>
            <a:ext cx="283535" cy="283535"/>
          </a:xfrm>
          <a:prstGeom prst="roundRect">
            <a:avLst>
              <a:gd name="adj" fmla="val 16667"/>
            </a:avLst>
          </a:prstGeom>
          <a:solidFill>
            <a:srgbClr val="CEDEF0"/>
          </a:solidFill>
          <a:ln/>
        </p:spPr>
        <p:txBody>
          <a:bodyPr/>
          <a:lstStyle/>
          <a:p>
            <a:endParaRPr lang="en-US"/>
          </a:p>
        </p:txBody>
      </p:sp>
      <p:sp>
        <p:nvSpPr>
          <p:cNvPr id="5" name="Shape 2"/>
          <p:cNvSpPr/>
          <p:nvPr/>
        </p:nvSpPr>
        <p:spPr>
          <a:xfrm>
            <a:off x="7360831" y="1606082"/>
            <a:ext cx="283535" cy="283535"/>
          </a:xfrm>
          <a:prstGeom prst="roundRect">
            <a:avLst>
              <a:gd name="adj" fmla="val 16667"/>
            </a:avLst>
          </a:prstGeom>
          <a:solidFill>
            <a:srgbClr val="CEDEF0"/>
          </a:solidFill>
          <a:ln/>
        </p:spPr>
        <p:txBody>
          <a:bodyPr/>
          <a:lstStyle/>
          <a:p>
            <a:endParaRPr lang="en-US"/>
          </a:p>
        </p:txBody>
      </p:sp>
      <p:sp>
        <p:nvSpPr>
          <p:cNvPr id="6" name="Text 3"/>
          <p:cNvSpPr/>
          <p:nvPr/>
        </p:nvSpPr>
        <p:spPr>
          <a:xfrm>
            <a:off x="3925186" y="489664"/>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Introduction to Systematic Literature Search</a:t>
            </a:r>
            <a:endParaRPr lang="en-US" sz="2820" dirty="0"/>
          </a:p>
        </p:txBody>
      </p:sp>
      <p:sp>
        <p:nvSpPr>
          <p:cNvPr id="7" name="Text 4"/>
          <p:cNvSpPr/>
          <p:nvPr/>
        </p:nvSpPr>
        <p:spPr>
          <a:xfrm>
            <a:off x="4066953" y="2084547"/>
            <a:ext cx="2006895" cy="443023"/>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Purpose and Importance</a:t>
            </a:r>
            <a:endParaRPr lang="en-US" sz="1410" dirty="0"/>
          </a:p>
        </p:txBody>
      </p:sp>
      <p:sp>
        <p:nvSpPr>
          <p:cNvPr id="8" name="Text 5"/>
          <p:cNvSpPr/>
          <p:nvPr/>
        </p:nvSpPr>
        <p:spPr>
          <a:xfrm>
            <a:off x="4066953" y="2612607"/>
            <a:ext cx="2006895" cy="2041230"/>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A systematic literature search is a rigorous and transparent method for identifying, appraising, and synthesizing all relevant studies on a specific research question. It minimizes bias and provides a reliable basis for evidence-based conclusions.</a:t>
            </a:r>
            <a:endParaRPr lang="en-US" sz="1105" dirty="0"/>
          </a:p>
        </p:txBody>
      </p:sp>
      <p:sp>
        <p:nvSpPr>
          <p:cNvPr id="9" name="Text 6"/>
          <p:cNvSpPr/>
          <p:nvPr/>
        </p:nvSpPr>
        <p:spPr>
          <a:xfrm>
            <a:off x="6499151" y="2084547"/>
            <a:ext cx="2006895" cy="443023"/>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Key Principles and Methodologies</a:t>
            </a:r>
            <a:endParaRPr lang="en-US" sz="1410" dirty="0"/>
          </a:p>
        </p:txBody>
      </p:sp>
      <p:sp>
        <p:nvSpPr>
          <p:cNvPr id="10" name="Text 7"/>
          <p:cNvSpPr/>
          <p:nvPr/>
        </p:nvSpPr>
        <p:spPr>
          <a:xfrm>
            <a:off x="6499151" y="2612607"/>
            <a:ext cx="2006895" cy="1587623"/>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This approach involves clearly defined search strategies, explicit inclusion/exclusion criteria, and methodical data extraction and synthesis, ensuring reproducibility and comprehensiveness.</a:t>
            </a:r>
            <a:endParaRPr lang="en-US" sz="110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fQAAAICCAYAAAA59T8TAAAQAElEQVR4AeydB1wcx/X45+0V+t0h1BDqEhLqEsjqEgjkbicuUQyOU+3YkXD8+8UxcsqvOPnnl9jIcZqR7DhxihNLsuK4d9HUG6DeUG+oIHF0uLvd+b85bvYO1JAEV+DdZ+fezOzszJvvwr2dugqjDxEgAkSACBABIhDyBMigh/wtpAoQASJABIgAEWCscw06ESYCfiSQtapufFZhTU8/FklFEQEiQASChgAZ9KC5FaTIzRJQmTOOce18Vn7VGw/nV0+52fzoeiJABIhAKBEIZYMeSpxJVz8QeGtebKG7GIBHOPBNWfn2TVmF1Y+44+iLCBABItDFCZBB7+I3uBtWb5VeZ2BTGOdvZBbYK7IK7T99eI09Vj9HHiJABIhAFyNABv1KN5TiQ5MAZ/ltFQfG+jLOfqE5+MnM/Ko/PJzfOKhtGgoTASJABEKdABn0UL+DpH8rAlxh3hZ6qzOMAUAkuic5NB/NzLevzCyonsq66OetXW+Zf7VlyVDdlS0d/OudeQNe2rY0IXdzXt/F65b2fnnTy3G/KfuN7bmNv7cs3r446i9H/hL+HF7XRZFQtYhAlydABj0wt5hK7SQCy+fatmI3e43MPrlX2OqeYYa1GHai0w8A9hVgfCO22Nc9VFD1gH6ii3iOOs+PNhrYId1xfkRzwnFV4yfBCBUsgp9tNCmVLh5WFWU2VjM1qq6yqrExylHZvLh0CRcutySvMrdkyb7c0iVrUb6D8jWM/yW6p18sXfr1F0uX3PlC6SuTf4UPC3m78qK7CDqqBhEIWQJk0EP21pHiVyLAAfRWel0z1zKHR8/61kjLxcExxiK8xo5OPwBghsLg7cwCe3lWQfXC+et5hH6ym3uQTRwAG4lDFjNR3ofyMUTyY3S/5oz/nTP2scK0LUZ8WGhwQC0a/ZrFJUt2ovtwcUleXm5J3iJ0D71QsmTab7a+Go/X0UEEiEAnElA6MW/KOlAEunm5wCBfIjhW53JPhIs2Qp97BkalPZFkMSfHha3GP/xjMo2QwNhwxniesbH6RFa+/Rf3r6vtLeK7iGsyG83bjQbDLqPBuNegGA4ooBwCgGMAyklgcAZdJda1Gl0Duhs6AFgMAzYW3d0MYCEAvIBuuQJsg0tRT2PLnueWLDmYW5q3Ct2fF5fk/TS37OW7nt/66sAbKpAuIgJEoBUB/F1rFaYAEQh5AmBgX8hKNGvaGJcmQ4yZDBA5o2/4nAVjrIPS+0VsDldgm/cs+oDFMWA/DW9Wz6Jhf21+Qc1IjA3pQwG4cO+4eRO+PP72sV8ef9uo+ybcPuL+iXcMe2DinYMemHhH/wcm3dkXXc8HJ91lRReJjj0w8U5297iM8+lJMw5OH5qybVL/0RsS+wxd3T82vqhndFxxdHjU+jBjWKlBUfYDPhAgIBe6ax4AbBimz0D3HQbwC+DKRwZFPba4dMkFbM0XLC5Z8psXy5Z8M7csb+I1M6MERIAItCKgtApRgAhcm0DQp3gz1VrOODvnUdR4sMa52ePXBaBvdKx5ymOjLBMfHBq1r4dZWYdRrY0SsMeMTNuXWVD1YWZhVRqe7zYHALBwY1iv2Ajb8H7WPhOH9ho8fXy/pDlTB09KS02cmnr7qNQZ94zLSL5vwh0jH8AHggcn3WUUDwBzEqfsHo/Gf0jPAWj4basjTOFbDKCUI7hGdFc7egDAXAbsPzlnfwUOZWjkORr4UnRvvFCa98PFJUvTn9v6aiSjDxEgApclQAb9slgoMtQJcGAfyDrsq3ZctRs5PsKY9HBizMxvjog5P6hlnF10PcvL0cbA3WhgCjPz7aWZ+dVf10+QpxUB8QDQK7rnmEQ0/skDxqHhnzHnrrHpt9w38Y5ENPgR946/1Z42Ysa+5IFjNwmD3yPKutqkGHdjJk3oLn8Am8SAPaIweJEBz49S1PrFJUu2Li7N+0Nu2ZL5L5T+od/lL6RYItD9CCjdr8pU46Am0EHKcZ+JcWca1Hb96MeYlPh7cZz98SSLcYIYZ1fYcV91AI0LAP97Zn7VsYcKqp6eX8hpZrcvoGv4zQaTLS7KljQkbuBUYfDnjpg550sTbhuD3fvh6UmzDo1NGLWub0yvojCjuQQYiDH9y+cILIUxeBI4e0thhlO5JUuO5ZbmvYkym7rqGX26MQEy6N345nflqjcz7VNZP5fGRzQ4+XkZvpY0GyBqdl8cZ0+yDkxLiNgUblS2+14DAAMVBr82aPaTWQX23My19e16YPDNw59+zrCNy4L3gzxZbIRl2MjeQ2bOHH5L2j3j5qU8MOnOnneNzTg7edDELYN69C+KNkdtAFBOXq4WAGwgPgBkoXwZ3F31ebWLS5d8ga34/15c+vL0y11DcUSgKxJQumKlqE5E4N25sXbOuG6I91Y7DjDGrgsMGgg21mae+tjImAn3D4naExumrMcM9HF2ALBiOAcczlPihTDzi+vGYTjoDmAMbXrQqXVNhSJMYX0G9eh3y+RB49NuH5M6/YGJd/S/Y0xaxfiE0et7RttWiwl5mInPlEcMuQ+IRjGPMfg5Y8r6xaV5VbmlS97CFvzjubvy+jL6EIEuSoAMehe9sVQthkOuoK9HP2B3XuaHn7X7kxBpHP214TEzvpEYc25gyzi7vnmNOxOAR4yqa0dmgX1VVmH1He44+upwAlHmyPjE3oNnpCbOmCMm5H1p/K11UwZN3Bpv61uEXfpixcJlxuPBBozNB2CvggMqckvzdi0uXfLr3G15t3W4gpQhEQggATLoAYRPRXcuAQDQl69dcKhJHVGaxaz0+5IYZx9lUcbFhRUrwLzdwFgAGo4MxvknWQVVu7DV/m2MoqMTCZgMJsuAHv0mzxiSnHbv+FsnPjjprvA5iVP3DO05oDjcFLYVi75kdj0wGIPxT4MGn6Fh57mleZ8sLl3y9EslecMxng4iELIEyKCH7K0jxa9EICvfnp6Zb39e49r/6Gk463WhSTush2/SY1YgOrVveOqCUdb+qfERG80GtqN1lmg0AF7HFrv7TW/zv+Cie751Egp1CoFe0XGjJw0Yl3r32IzJ2IoH0YLvGROHD1/KkcsViAZe9Kj8WgUozy3N25JbkvcD6pq/HCmKC3YCZNCD/Q6Rftck8PAq+9DMguqnMvOrPsBWcR0Dlg/AngWAGb4X77Y7TviGO8IPwNi4HuZpjydZx2PLfbfVrGzAfFV07gNPu9/0ZjDYK1C/P2QWVg12n7j+L7riBgjgOHu4aMGnDp+aev/EO4bcMTr15Ig+w1ZHmiM2YXZ16FodwGAyALwEDqhYXLqkcHFZ3nd/tWOJe7fBVgkpQASCkAAZ9CC8KaTStQk8XFydmJlf/V9owHdwhR0Cxn+HP8T3MICotldjt/iRhChjcaLV2KftuY4M49j6mK8nxkx/ZHjMmUHRxmLMWx9nR0MRgfo9CRyOZObbVz6cXz0Fz/vl4IwBo4+bQFRYVP9x/UbOuXPM3KnYPR89Y2jK9nhL7yKjYtjvTtD6K41x+KPRxS4uLlnyIbpHFm//+yV/X60voRARCBwBMuiBY08lXycB0brNLLD/JLOgahtX+QEA/v8YwCUzy9F6NUSZYPPEuLDVX0uMOb5wtHXI/YOjsGfc2CHj6NdS2xamJNw7KCr18VEWGBtrLgYGFb7XALCvcOCbsB5rswqr7vM91xl+aM8s984oOATyjLf2mTBj2OS0L0+4feSto2YdGRDbrwhb9Zcad2B3M2BvcFddJbbcl+WWLL0nBKpHKnYzAmTQu9kND7Xquo14of1ZbNWWitYtGqf/AwYT2tbDAOxQf2yF3z4gsvSJUdbIb4+wTJnVN3xOrFkJ2Is/cJw9Jq1fROqC0Zb4OX0jNmB4D/P5YD1mYgvwHXxIOYzj/uJNZj5nyetvApZwy5Apgyem4bj7yHmj5hwd1KP/JS13fBgLZ4xl4sPkB2jYT+aWLvnZS9uWJmAcHUQg4ATIoAf8FpACbQmIHdgyC6uz0dBtBOyiBs6exx/SSW3TGQDKR9jMRV8bFnNswWjrsPuwFZ5oMSUbg+yvGrv82fg483RssY/+8qCondaWcXZ9GR0wNoQBew2HD45mFtofbVvPLhAOuSpYw6MHi/XvLS33OccG9RhQZDQY97apSALeu/9RNX4Su+M/zC1d+mCb8xQkAn4lEGQ/fX6tOxUWZAQeKqyehi3V1wzcfg44fxl/LKe2VRGN47FhFmPRQ0NjDi0YbUm8LSEiLTZcGdQ2XbCGB0Qbx3nG2U8ltIyzeydmAQwCzv6EDzI/CVb9u6NelvDoQZMHjUv78vjbRolJdcK4K6C02hYYH8juBsb/lVuad2Jx2dL/pVny3fEvJfB1JoMe+HvQrTUQy7my8qu/j63THQrnG/CH8TFgEOELBY34qcExxiLxVjQcDx9054CotF4RyjDfNKHmx3H2AfcPikrFFnurpVScs9Ll6bZfhlp9AqqvHwsXk+qEcb9/4h0Dpw1JLokKi9iIxXt3D2TQn3H+nJgln1u65L3cspfvwvN0EAG/ECCD7hfMVEhbAlmFNbMyC6r+ajRU2xnw3zOAcW3SVMdHG4rFUjA04gn3DIxKE29Fa5Mm5IMfHKv3mTXNa5nCqds2RO5qgq1vyh2j5067c8zcyv6x8UXA4Iyv6sDYl4ArH2F3/HFsuf/oN2W/sfmeJz8R6GgCZNA7mijld0UCojX+UH71k5n59j2Ma2uAwTfbJFajjbBlTnzEhu+NslofHBSdKpaCtUnTZYLLD9atwYH0obJC2Dr/5vK5sUdlmGRQELimEpHmiL5TB09Kw1Z735SBYzeHt+xQx/ULgQ3Av/VfuXhYVW7Jkldf2L5kpH6OPESgAwmQQe9AmJTV5QlkFdVMzyqwvy5a4wrwPwCwUb4pDQo7MspmLv7WSMsFdLeM72GeHmwT23z17Qj/zouOjZXN6myZF/76/3F5Ruw7Mkwy9AgAABscN3CK2KHuttGpp+ItvYqwFq3e8odJHldUtg9b7J9TdzzSoaNDCZBB71CclJkkIGeqi7FxpmniLWVt9zWv7RVuWIPjyLsXjLIOyUiISMXWeW95fVeW9mbtZHFF4xi9jpzvUcOt/6mHyRPyBGLCovrPGHZL2n0T7+g1Jn7EWoNiKPetFLbYbxXd8bmlSw4sLsl7cjFtWOOLh/w3SIAM+g2Co8suT+ChwtqxojUuZ6qzNmPjisKOT4wLK358lAUeGhY9OyHa6DVsl8+yS8Wq2BRffqiuHisVg04cTS5unL9yBlzyEhFxklxoEzCAwpL6Dp9134TbE6cPTdkWaXZvOYt/BS31AsYS8X/kD9xVd2px6ZJf/3pn3oCWM/RNBK6fABn062dGV1yGwPziunGZBVXvKVzdiae/DW1mqkcYoHRev8gt2BofOKtveKpZAfHOakzavY6PjtcXuTjXx1A1xv5j5byYPd2LQvesbT9rn4l3jpk79dZRqcd7RseJrYH1JYvYFW9FKk9rTji+uGTJPA+lbwAAEABJREFUG78qWzoYwzd70PXdjAAZ9G52wzu6ug/l25Mz86s+MKquHWjEv9Qm/+ZeYYY184dFlT+aZElOijXdAm0SdKfgoRpn6fE6V5pPnd9ekW77o0+YvN2AgCU8alBq4tTUe8ffqg7u2f+SrYEZsEeMnB/JLV2y5DdbX43vBkioih1EgAx6B4HsbtlkFldNwq71jxRgJQBwj2/90WifG2kzF31npKXuoeHRs/uEGxN9z3dHf52Ln/v0RMNAb935yXqzte28Au/pDvRh/y7ekg7MkLLqEAJmg8maMmB86gOT7owf33/0BoNiaNVTgzdtgRPUw6Ir/sWtr/bskEI7MhPKK+gIkEEPulsS3AplFtonZxbYPwEVSlHTVptm4A/QieReYaufGGXtfWtCRFqkEeIwTbc/0KCyNw/WnUGp/ygDVx58fxbU+gMO3hcs2h8lURk3SiCx1+DpOM4+OmXguM0KKIdkPgBM7B3/NFdcosX+/2gtuyRD8nIEyKBfjgrFXUJAN+ScbUEDcYdvAgOwQzP6hK9bMNo6YEbv8DldfcmZb93b4191qrHIoWrjfdI++2aGdbNPmLxEwE1gcNyAKfdPvGPYuISk9cDghDvS/QXRwNh/ubj5SG7Jkp88t/XVSHd01/2imt0AATLoNwCtO10iutYzC6o+hMsYcpPCds1LiNz8vdHWYck9w2Zi93t3QtOuup6qc+3eb3fMkomxqZy/LN2WK8MkicDlCIzoPXTGfRNvH5DUd+gaADjrTQM2APZ/keASk+doqaMXDPmQABl0hEDHpQTmF9eNy8qvel90rQODu31TRJpg690DIrdh1/rYJJtpCvieJL9OwKHx2nePNfTACCM6cVQCKJnCQ44IXIuAAgobE580+8vjb7cO7TlAzIqvktcAQBwD9pvFpXnlL5a9cquMJ9lOAl00GRn0Lnpjb7RaLYbc/o6Ytc4A7vXNB8fES8Te6t8ZYZk8xGKa6HuO/JcSWHGobjdnXJ+ljK3zzGVzLZWXpqQYInBlAgZFCZ80YFzqlybcZuwfGy92n9OXuzEGwznXPl9ckvfvl3YsGcro060JkEHv1rffW/n5BTUjM/PtK1sMObuP+XzMBmXHPYMid3xnpCWlK++t7lPlm/auO9tUXO3QpsmMOGcvLE+35cuwPyU+SFAnij+Bd1JZJsUYM3XwpLR7xt/q7BnTU7TYvSUB3K+62KHcsrwXaNc5L5YA+QJWLBn0gKEPjoLv3coj0ZA/b2TaPgD2FV+tzArsuX1AZMnjSTHjB0ebfCd1+SYjfxsC5xrVg2WVzVNlNBrUTcszbD+SYX9LznnUxqNlRVuP7SgqO7GzeNvJPcU7T+9fvafi4Jp9Zw+tKz93dMORC8c3Hbt4estJe0VpRfXZ7VX1VeWNjsYKl6Y2+FtfKu/qBMIMptjU4VNSbx0155hn5zn9AuCwiKu1R7Ar/lE9kjzdhgAZ9G5zqy+taFaB/cGoGrsw5M/6njUAlIvJbo+PsoxOtJhSfM+R/+oEXCpr+teROjFmLpYbYWJey4AHetzceqqqIu3YxZNphytPpB46fzT1wNlDc/aeOTB79+n9M3ec2jO99PiuqVuPbbtl05Gy5PWHSyYUHNiQ+PHuwvj3tn8W+XbZx+zf2z45++62zw6+v/OLHR/tLty8au+atWsObioWDwnl549uuFBv3+fUXLVYYTr8RMASHj3ozjFzp04fOnkbdsvvl8UCg16MwZ9yS/O2vFD6ymRGn65F4Cq1IYN+FThd9VRmYdVgNOai+/df+M+v7x2tADs5q2/EhgWjLYlisltXrX9n1utfR+u2aJzp23ZiV/s3l8+NPcpC/MM576NydbjT5Rzf5GicUt1UO+tc7YVU8ZCw4+Se6UUH1ie9v/3zmH+XfVL5/o7Pd36+b826TUfLivafO7LufF3l7mbVWRXiCIJW/X7W3hO/POH2kaP6Jq4Fnxnx+L89WWHalsWlS/76qx1LYoO2AqRYhxEgg95hKEMjo6yCqp9ht9wR1DYdnfsAxhrEzm6PJ1n7T4wzT3dH0td1E3C/ErUpSF6JamJnGOc/0x3Ac1ihX3HGf41DAH9gjL/KOPsL5/yfGF6J4ffw/CfoVjHO16Lcg+fOoLyuA/Pv6VRd42oba2eexF6BXaf2zlxdvnnMhzu+iMWWftUHO1ZtKzywfjU+BKw+XX1uW5OrufK6CqDElyUADNjo+MRZ946fF51g6ysmzjX5JPymwcnLc0vzsnziyNsFCXSAQe+CVLpglR4uqL49s8COhhz+x7d6PczKum+MiKm+NSEijTaE8SVzfX57s3ayuKJxjH4VZ+XhYP0PPexnz6Kx2WdyUrKf092kBT/LSV74k0XJ2c8sSl74VE5y9vdyUhZ+Z1FK9iMY/iqG78tJXngXultzUrJnoxyD5+JRAjNERysmPlBhykQGMJcz+AoOIzzOGPsRB/4blJ9wxspRXuuIdaiOiRfr7XOwm37OhsNbJ360M7+nNPTF5etX7zy9Z3UFjuFfKyM6f3kCJsUUNW1Ichp2xdtjImLWyVTYco9Do/9mbsmSD2h/eEml60ml61WJauRL4JHV9fGZBVXvYsvpU2BM7wo2KrBfLEF7ODFmZoxJiWf0uWECl38lquG+v84F31bSDecf6AtzJnyj/ofjsk/8MPl723MmLShalLzg7ZxJ2a+hsX9h0aTsp1HehQ8FI1CCwciGcYXfzjl7EnsAfovuI/Tr47tXqIvb0FfW2eccOHt0jhjDRyPvfA+77tcf2lJ0/OKprU7VWXOFayn6MgQizRF9b0uaPXPO8Cm7lNZbyd7jBHVvbtmSxy5zGUWFOIGgN+ghzjeg6mcWVD+luhz7gcGXpSIArCq5Z9iaJ5IsI2kJmqRyc/Kj4/VFLs5Hylw0xv5j5byYPTLcneTT4xceXjQx+/NFKQvzclIW/gDdPehPEsZeM7Ak4PxBbM3/L3brv4UPmbvZlT8mF3bdV9ScT9tybPvk93d8EY0Gfm/xwU3Fh8+f2Njsar5w5UvpjCTQK6bn2C9PuG1Y/9h+ohveIeLxN8AKnL2GrfXVL5a+PEjEkesaBMigd4372KoWWavqxmflV20Hxn/HGMQwzychylD82EiLYUaf8Nn4T+2JJXEzBMprnCW+r0TF1ug79ErUyxN9dsLC/c+kZP8bW/M/z0nJfmhRcvZYYeixFT8Bx+sz0dD/XIzlo6H32epUz0tBAz+qsvZCatnJndM+3Jkf9+72zw4Ul28qPnbx5Ban5qzXU5KnFQFsobOpgyemzRs157TZYN7GPB/8DZitcWXfC6V5P/REkQhxAt3coIf43WujvlhTnlVQ/WumuLbjWKe+btygQPl9A6P23D84OjXMAJY2l1EQCTS6+EUU13XUufi5z0806MMY2Oo8Zoiyfuu6MqHELCdl4Y5FKdkrFiUv/N+c5Oz7FiVn9xVd92jov4N4/oaG/rKrBFRNHVFZdyF167Edt7y//YuwD3au2r756LYiMaue48V4LR0+BKzh0YPvHT9v4qi+iWswuhod/kywcIXBi7mleWUvlOSNEnHkQpeAErqqk+a+BDIL7V+JrrEfxBbO0z7xzaNjzUWPJ1kS+8cYR/vEd3svGglW0eDa+/mJxqI/7q3Z/ef9NbH77c6t7QUjrve8EjVOXsNBeeif04DGeiWQm5Ci6x4N/V9ykhd+a1HywiEaUxPQRn8duf8J3eUm4BkdLseEE1Wn08Ss+n+XfVL92e7iDbtP71tT21x/8iZU6XKXjo5PnH33uAxHdHjUelk5HJabqADsyS3Le0bGkQw9AmTQO/Ge+SPr+1fVxGUW2N/GMbGVjIE+uS3cCGVfS4w5m94vIs0AjD5IwKHxOrG0bPmhujV5u6vPv32kftSBGkcaxovZ6bC/2lGHydp1fHGqscihanovCBqbHy9Pt25q18WU6LoJPJv8/dM5KQv/gcb9u+hGMAP0YQyyOOPLkP3llr5Z6xz10/edPTz78z3F/d/b/tn+0hM7i+odDRWMPizcGNbr9lGpM24ZMrEEQNEfeIDDYjG2/vzWVwcSptAjQAY99O6ZrnHWKvutYYq2C+31AzIS/Rem9Qlbi2Plk2LNSrf/p8SudPvaM02rXz9QsxVb4tHFFY3TKlvWiveSzKQ83aDqD0Qy7nLyWJ1r5wG7I83n3KplGbbnfcLk7WQCORMWnMtJXrB8UXL2w2joe7mX1HG2CA282DDpktJdmjrySOWJtE93F8WLrnnRcneqDne38yWJu1HEQFu/lC+Pv61njyjballtMbZuANfOxSVLHpFxJEODABn00LhPrbT8ViEPzyqo+j1T2OdowPvKkz3DDGu/M9ICk3uGz5Jx3VE2uHjlprNNa/68r6YMu9Jt2y40z2lw8stvgcnZZsnIpfGR4loZvpxsUnn1h8caespz2P173gXGr8swycAQcC+pS1m4GA38PEOvpkj8v7gLW+6/RQO/t61GomtetNzf37EqUmxjW37u6AZVUxvbpusuYYOihM8dMWNO8sCxooep5SEHwMKAvbG4NO/t35T9xtZdWIR6Pcmgh9gdnF9cN65Zq97BGHyfeT6cs2rsWt+cOTx6VoQReniiu5WodWhnsCVe/Kd9Ndte318Tt6WyeXajyie1hYCsLqIRfpNxeNilWm3Ysp7KGNeXT5VXOw+0vcY3vOxg7QE0Er4t+ayVc6PP+KYhf2AJPD3g6cZnkhd+gi33H6CBH+2eYAfsJ4yzkjaamcQ2tmIv+3e3f6au2r9m7enqc/os8DZpu3xwSNzAqXeMSWswGoz6/wNj8IBLC9vzYtkrtzL6BD0BMuhBf4u8CmYV2Bd5Xm+aKGPDjMr2bydZxOS3KTKuI2Qo5IFj37VbzjetFS3xv5XX9sGWeCq2oCei7thAw2/94Dhuyv/AmCFteYYtbnm67WvLMqzLVt4KLa0RzlbJpPtrHC7pbyvXnm0qrnfxW2Q8Phy8gHnlyzDJ4CTgnmA3aeGv0MBPVjWDWHf9I855aRtto6sbameJ3ev+ve3Tk2K2fKOjEf9u2qTq4sEoc2T8vePmjelr6S3WreOzL1YYWDzn2ufYWv/Dc0f+Eo4xdAQpATLoQXpjfNWan9+QkJlfJca4XvCJd46ONRc9NjJmQrQRevvEd2mvhj8x5TXOrW+W167DMXHjpnPNszwtcfCtOCY7jy3p36vckLosPbYfuqeWpccU+6bx+g26Ua5sVId5470+8UrUbZXN3n3usat+eYYtYK9E9WpGvush8KPJTxzPSV74wqKU7BRmUIfi38iPGeNbfPNA49X/RNXptI93F/b+ZFfBlkPnj23UuOabpEv7FVDYzGGT06YPTdmGfM57KwtPRl5s3Pbr0lcmeOPIF0wEyKAH0924jC6ZBTVfMrDm3QAwW55WgB2dPyzqKHazp7WyYjJB0MvrV/Bsg+vAe0fri5fsrT7/2YmGyRcd2kzMJQKdz4rBXyYAABAASURBVMErOOcvc0WZgy3n3svTY//jrYwY8SDkk+ZSr9EVUyBj8YEhwe7QjsmwkC6VNf3rSJ0R/WZ0ePBarvCH0ENHCBPImfD9I9gl/3xOcvYUYdwZ4/8PDdhpnyoZGpxNt2w7uXvaO9s+vbDm4KZie2PNIZ/zXdrbz9pnErbWlTCDuUxWFICN1Ji2bXFJ3hMyjmTwECCDHjz34hJNsgqqfw1Mew8ArPJkn0jD6u+OtPTuE27Uu93lua4mxR7p2y441v9xX/XOlUfqR5yod6XiOGjb2elNGLdcBXYrtsL7Lc+I/f7yNIvYOKPdON64Heoxjw3ygr1VjlYG/e02r0RlDB5bPjf2spudMPqEJAFh3NGw/w8a+AR8KLyTcf5Om4rEidfF5u9bO0zMki8/f1T/e2mTrksFw4xhcfeMnzdpSM8BogveWzeAVxaXLvmnN4J8wUCADHow3IU2Oogu9qx8+yZsMfhuElM9t1/E5vlDoueYDBDZ5pIuFRRLzcQ671f2VJ9be6ZxhkNl4y6tIC/GH93vGJ3WnssybFlvzbXp4+CXpr12DAeuX3+w1mmSV4gHivNNqt47gl35ry1Lt70lz5PsegSwO/7TnJTsB0wmU19ssYsu+YO+tRSz5Hec3DP939s+Obnz5N7i7jBDPnnAuDTxohdsXPhuy/twbmle2a/Klnp3S/QFRX6/EyCD7nfkVy8wq7D6DiM4djJgU2RKE8C+R4bH1I2JNetx8lxXkmebXOUrD9Wt+fP+moj9dkcaGs9WcwMwfIgDPAc8bPCy9Ni0ZRmxf3G3rjsAgsaNukG3N2mjRZbilaj4QKE/THDODqjh1v8Q58h1fQL/Oe67Z7HFLrrkE/FvLw1b7v/EvwH9DXoY7n/g/JHUd7d/5lh/aEtRg6OxS692EC96uWtsusFsNG+Xdx8YTDRofNvi0iXzGH0CToAMesBvgVcBbJX/Cludn2BMLDr3IbrYnxhtSbKFKQnuiC74td/u3PLnfTWlKw/VJ55taQ2Htanm29glnrE83TZ8+Vzrz97MiGjVJd4m7Q0FPWPtTeJiAGY9XuvaveJIXS2GY9CJo0nlhvtXzoBuu15ZQOiublHywmJsuT/iitT6Y8/Z/0Nn92FhFW+F+2R3YdyqvWvWXqy3X3Xpo891IecNN4b1vHts+oSeMXH6BFPx/4IV+WJxad5/o6QjgATIoAcQviw6c219P/csdmC+s6brZ/aOWC+62GW6riZ3XHBseHVPzb4vTjXc0qjy5Nb14ycZg/91gTF+WbrtK8sybAWskz/Y+iqURXx4ot7mVLn+sgqNdd9XokomJBn7yagnL4ixdkOv5n6cwUI07L7d8abqptpZhQfWj/hw56qS09Vnu+SadjELPnX41NTxCaPFPAKfB1z4ObbUv3h+66v6nB/6m/EvATLo/uV9SWmZ+TUzoNlZBm1msWcNjzk/qZd5xiUXhHiExhnbcr5p7ZLd1cdWn2mc7uQ8ybdKePpzjSn3LUuPHbAs3fpzv27aAvwLqQvqqfeIcMb+vSLd9kd5rjMl5R0aBJ4e8HTjouQFS9G4Y3c8fIVxvslX82aXI2XD4ZKJH+7MLz1Xe95noxbfVKHtT+w9eHp60oxTCoBvj9k8BdQdz+/4gz5UFdq1DC3tyaAH8H5l5tu/C6Ctw/FyfazYalY2PDbS0isuTOlSE01cGm8UO7kt3VNTIdaOY4t3UBv0r4LGhi1Pt92+It3yXptzfgmCZsq/pCDOjxkird++JJ4iiICHABr2t3NSsqcB08QqjI880W7R7GpOXnNwy5iPdxduvlBftd8d2YW+YiNsw+8ZNy823BSmv6kQgA00OJVNi0uW3t+FqhoSVVFCQssuqGRWgT0P//BbtfomxoWt/npizHSzAaK6UpWLTjcWv7Kvpk7s5MYZ17dN5Zw3MA6/ZZqx77J02/fenGc7HMh6L5sXvQPLr0LnPbjpS13nlajeapGv4wk8k/zk6pyUhfeAZhBDNW/6ltDoaJxSdGDDiM92F2/oamvZTQaT5e6xGZMTYuPF0jbs0MKaA0Qw4P/OLct7BkN0+IkAGXQ/gZbFiNedZuVXiQklOP7WEguMnf3y4Khds/qGz2mJCf1vDf+tsUW+Om939dldVQ7RctHXj6NRr8PTv1QjlAHLMqw/QEN6NmhqzNlnUhesw0LUTRh5GUWSCFyTwDOTn9iXk7zwa6pRHY9/6x/7XAB1jvrpYi27mDxX21x/0udcyHunDZ6UNnnQRNFSr5OVAQ6Lc0uXLJFhkp1LgAx65/JtlftDhbVjwxS1jAHohtuksF3fHmkxDIgyjm2VOEQDHC31lvPN617ZW30KW+RzMNhHrwpnFxhnP1ZVW3/sWv/pyhnWi/q54PG4u91R7xUrMmxLg0et4NeENGxN4Efjv79zUXL23fhgOB3/Lzb6nhWT5z7fU9y/8MD61U7VWeN7LpT9g3r0uyU9aWYFjqufkvXABsuCxaVLPn5u66uRMo5k5xAgg945XC/J9aGCqgeAuzYDgwHyZEKUofi7SdaxkUbQX8cpz4WaRAPIdlx0bFy6t/rIpnNNM/FHLMFbB17LAZ5zKdbByzJsz+svRfEmCBqfy8jysS4H6y3W7wSNUqRISBN4NmXhxkUpC6dzhd+OD7RlvpW5WG+f8/6OL9Qdp/etxta876mQ9cdGWBPvGpsebjQY9/pU4s4oUNfm7srTX/fsc468HUSADHoHgbxaNpkFVT9XGLyNxjxCppvRJ3zd/YOjUxWQMaErj9Q4t/9xX83e1RWN09CQD2ldE3ipSTMMEevHV84FvSuudZrgCa1MtR1RNHb7B5OhIXi0Ik0YC30GiyZmf45j7MnA+YOcM98JcrHlZw/PeW/b5we7yox495axY+cNiQqL9PZMAJsEzbD5hZI8Mccg9G9oENZACUKdupRKWfn2ZcBA33ABDfjJB4dG7U/uGSZeLhLSda1yaMf/Xl678aMTDRN812yLSmEr988Go6nfsnTrD9+ZZ7kg4kLFBXpyXqhwIj1vjMAzKdn/xhZ7EuP8e9gqPy9zUbk6XMyI/2zv6vWNjtB/datBUcLvGJ02Ld7WV0yWa6kmsAH4e7gJu+BpZ7kWIh36TQa9Q3F6M5tfyKPRmBcwYJkyNlyBbY8mWWLiI4wjZVwoSofG694/Xl/0z/LagTUObZpvHbDlsdIFkLg83fbYP+ZEdbv3SfuyIH/oEAiEpjkp2a9qmjGRA/+Nb/l1TXUzPt5daN16bEeRyjXfUyHpnzEkOW18wuj1qLwTHQNgYvfFL3JL874hwuQ6jgAZ9I5jqeeUtaquj1Gzb2LA5srIKBNs/tZIy8QwBawyLtQkdqczMXP9tb01zcdrXWm++mOLfBMwNnl5hu2rK+dafXfP8k1GfiJABHwI/GjyE9WLJmU/bTCyYYzxf/ucijx28WTa+9s/P37cfrrEJz4kvYm9B8+YOTRlL/5G6FvmAoO/LS7JezIkKxSkSpNB7+AbM39V7WgOzhIG4H7Bh8i+Z7hhzbdHWKYYQ5i2GCd/ZU/1Yc/M9ThRL+E456ewrl/HFvm0N9NtJSKOHBEgAr4Eru1/evzCwznJ2Q9ygFmYWn/5ica1gVuObEv5fM+adU2u5ko8F7JHX2uf8beNSq1RwHBErwTAH2ituk7jpj0hbGJuuu4dnkFWYc0sg+LaBAD6DO9BMcaizGHRszu8MD9l2KzympVH6laLcXLs/Bsqi8Wxv0Y05r+ot9pGLJtr/YeMJ0kEiMCNE1g0acG6nOSFE7Eb/tuMM33Iqra5dubHO/ONe86Ur73x3AN/ZXR41MB7xs3t4TsDHjgsXly29H8Dr13oa0AGvYPuYVZh9SOMa2uwGylaZjkxLqz43oFRrbqm5blQkAfszpI/7atpPNug6uvmhd7Yvb6CGcJGLs+I/W+aDS6IkCMCHUsAu+H/qkWFjcT/NX0vBPTb9laUz/pwx6qyuqb647LEUJMmg9l619i5A40Gwy5dd86fwzH1F/UweW6IABn0G8LW+qKHCuyPM87f8InVpvYOWzurb3iqT1zIeBtc/MKb5bXrPj/VkII/IvrGMJyzA1xR5mD3euby1MgTIVMhUpQIhCCBZ5MerV2UvHBhSzc81+elNKuOSZ/tLe6z9djOIuySD8GaMWZSTFH3jJ03LMwYViorgI2hH+aWLHlZhklePwHl+i+hK3wJiBesIMRXfeKa5yVEbr2lV7gYC/OJDg3vtguO9X/ZX8MuOjTfZXVNnMN/L8+wjVyeZlkTGjUhLYlA1yDQ0g2fncg5+6VPjcKOXTyR9v6OL8o796UvPiV2sNegGCKwpZ4caY7YJLMGYNnYUv+bDJO8PgJoi67vAkrtJfBQfvWT+Af4R28Mq79rQOTeJJtpik9cSHibnLzqr/trN6890zgDW+X6pDfseViN43mjlmdYfxESFSEliUAXJbAoZeFPPfvDb5NVVDU1sejAhuEbj5QVcbT4Mj5UpAIKu2NM2tSYsKh1UmdsqX9jcemSZTJMsv0EyKC3n1WrlNgyf0YB/gefyJr7B0cdH2oxTfSJCwnvoRpn6Z/Ka1x1Ls37IMLZOTF7fVlGbOryubFHQ6IipCQR6OIEPPvDT8KH7Bx82G70VNdwyl6R9v7Oz3fVhtgLX4T+aMDZbaNTZ/aIsq0WYY/LXFyS57uMzxNN4moEyKBfjc4VzmUV2n+KLfPFPqcvzh8SdSYhyhhSWxq6NN749pG61Z+caEhmnPWS9cEW+p8bFT5yGc1el0hIEoGgIrBoUvaLAHwUNsr1ITCXqo79fE+xrfzc0Q1BpWw7lZk7YsacnjFx4k2ULVcA3J9bsuSdlgB9t4cAGfT2UPJJgy3zxWj8vN3PwM5nDY+p6RNpHOGTLOi9Z5tc5X/cV3O2wncGO2cXsFV+5/J022Pvzo3VN4AI+sqQgkSgGxJ4JvnJY9gNP4cz/mOf6kfvOLVn+uf71qxzaq5an/iQ8KYOn5o6qEd/fatYbDjdh93v/7wx5bvfVWTQr+OeP1RgfwH/wJ6RlyjATj0yLKYpLkwZLOOCXeITPcs/1Vi08lD9YI0zXW9slee7FONYbJV/yuhDBIhAyBBYlJz9vGdsXX+7WW1j7cwPdnxRfb7uoh4XKhWaPGh82mAfo456P4xG/e8o6bgGAeUa5+m0h0BmftVzCGuRJ8jQmB99ZHiMYgtT9NehynPBKutc/NyfD9Ru32t3iLXxJqknPuE/ja3yeSvnRp+RcSSJABEIHQKesfXR+L/8a6k157z/6vKNiVuP7SjCeBkdEjIFjXpfSy+9pY5Kf31xaZ7vnCWMCuwRjKWjjQpGtYJLp4fcs9lB38nIAOzQtxItURazEh9cml5Zm112x6a/7q8xN7m0CXoqzspdBuP45emxrV4OoZ8nDxEgAiFFAFvrz+Cw2Vw04Kc9ihvFnvAf7sjf1qw6qzxxISFmDrslrfVEOXgytzTvVyGhfIBzV92UAAAQAElEQVSUJIN+DfDYzf6472x2IxrzbydaekSaoNc1Lg2K02Lim9i6tehU41RUyIbOfeA/fF6YYh2/MjV6pzuCvogAEegSBHImLSgKj1FHMc70LZkdqmPiRztWNV2ot+8LpUqKiXLW8Bh9u1tg8KPFJXk/DaU63JiuN3YVGfSrcMsstD+EgF6VSUQ3+zdGWKzhJoiVccEszzWqB/+4r+aM79at2A1XzRncg63yJ/86F5qCWX/SjQgQgRsj8FTiUzU5KQu/zhhkcc7c/+f4EB9fdGD90B0n9/guD2PB/skYNWtWVFjERl1PgF/kluX9hx4mj04A7ZXuJ48PgYcKar4MnC2XUcDYCTTmEZFG6CnjglmuP9O0+q3DdQM0zoboenK2gRnDxi1Pt36kx5GHCBCBLksgJ3nBcs2gTWaMH/NU0lx+/uicz3YXb1A1Va5j95wKTgEM2G2jUqeFGcP1tzkCh98uLsv7bnBqHDit2mvQA6dhAEr+aqF9nsK0d2XR+Ad1+mvDY1i0EfR9zeW5YJMujTe+UV67sfRC8xzULQyd++CM/XJZhm3GctqD3c2DvohAdyHwo4lP7jaCQ2x49Ymsc52jfvr7O744XddcFxLvZFBAYXeOSRtjNpj0XfIYhz/imHqWrBNJxsigt/kreKiwepqBsw9kNDB29mvDo9VQmM1e49BOv7a/9mS1Q5sm9WecnVU1nr483UbjTjoU8hCB7kXgB5N+YM9JXngX4/xnsuYa14Z9tnu17eiF45tlXDBLg6KE3zk2fYRBMeyRegKDN3NLl4TkS7BkHTpSBodB78ga3UReWYU1SaBpYh12uMgGGKvMHB7TGArG/Fida+ffy2vD0XgnCt09rsBlMox7a15soSdMgggQgW5MICcl+znsrr4DDXuNGwOwmJLju6asP1Lqu0TMfSoYv4yKIfLusXMTDGDQ3z4HnL+fW/aK7+9eMKruF53IoHswZ62q68M19TMAsIooAFb11WEx1XEhsGlMaWXzug+O1YttZ3sI3d0Ox5iWpdsyVs6JOe8O0xcRIAJEAAk8k7LgM86NyZzx3Rh0HxX2M2mf7yleh612dziYv0wGs/XW0bOjUMcL6BgDsDCuff7i1ldDYn4T68RPdzDo18T39c94FFecqwBgoCex44HBUWd6hSvDPOGgFBoOjL97tL54/dmmmaigEV3Lwfl3lmVYf9ASoG8iQASIQGsCiyY/ccjYq/kWxrj+ApTa5vqZH+0s2OZQndWtUwdfKMocGT8ncdpZ1KwZHcPe1MEaqPpQqYjrjo4MOt51l6n6fWAwFr3uY058REl8ZHC/aKVZ5TV/2V9TerLe5Tt+VMWYIW1ZRuxf3BWhLyJABIjAFQg8PeDpxpzk7Afx9Evo3IdDrFffmX+x3tFQ4Y4I4q9e0T1GT+w/pgxVxKYNYwBsGo6n/4t140+3N+iZ+dXC+KXLv4FRNnPR+B7m6TJ8TRmABGIL19f3155rVHmyT/H7scV+y7L0mGKfOPISASJABK5KICd54Q8ZA31dN3a7D/lsT7HhQn3Vfhbkn2G9Bk0bEBuv/+YBYw/mduPd5Lq1QUdj/l8A/Fvyb7ZXuGFNRkKE2OdcRgWdrGzUjvxtf62qcj7cqxwvViKtU1Zk2A5548hHBIgAEWgfgZzkBb9noN0nU3POexcd2DDg2MVTW2VcsMopgyelxYTFrJP6gXs3uSXfluHuJLutQUdj/nU05v9P3uwIA5R+dWj0bBkOEtlKjRN1rp3LD9f24Iz77iH/6rL02LR/ToOWWautrqAAESACRKB9BHImPfkeY9oMzpkcQ4/cemx78p6Kg2val0PgUs0bNXOmyWD0bmMN7HXsfvcdjgyccn4suVsa9Kx8ezoac/11fAaA8q8nxozEMRg/or++ovbaHZveO1Y/Aq9yz8JHyfAfL2dZuu17wk+OCBABInCzBHKSn9yADQYx5HjKk5ey98yB2RuPlgX1sjYFFHbHmLkDAOCkR2/GOPvghZK8UXq4G3i6nUF/uLg6Ee/0O/LeKgAVaMxtZgOIZRAyOqjkpvNNa/JPNU5BpcLQuQ+N8QeXZ9hedAdu9IuuIwJEgAi0IfBsSvZebuaT0bDry9pOVVWkFR/cpI9Vt7kkKIJmg8mWkTTbBYzZGX4AWAww+CBvV140BrvF0a0M+tc2coum8s8ZgMVzd+seHBpZF20K3jenfXKivmjLuWYxFAAenas4g2kr0mP15SaeeBJEgAgQgQ4hsGhs9hkeGY4tda6/yKWy9kJq/v61Qd39bg2PHjxtaMpRCQGN+rD6Zlgmw11ddiuDrjXY30erONhzU/ntAyL39Qk3YovdExNkQrz29FCNyztJj7PDoLHJy9Otm4JM1cupQ3FEgAiEMIFnkx6tNfRqvgNb6l/IatgbamZ/trt4g8Y1GRV0sp+1z8ThvYbovQlo1O9ZXJL306BTtBMU6jYGPavA/gpjoE+SGGUzFydaTJNZEH446rTiUN2aNq89XQ9mNvnNebbDeJoOIkAEiECnExBr1RclZ9+Gv0nvy8LqHPXTP9lduFXlqowKOjmh/6hU35nv2Cv7ixdLlt4edIp2sELdwqBnFlQ/hdyeQOc+rGHKhmBdnob/OGxZee26802q6GZ364txRWqEbd6bs21V7gj6YowYEAEi4DcCi5IXfplx/o4ssMnZPPnjXYXbnZqzXsYFm8wYNWOm0WDcK/XSGF/x/NZX5W6gMrpLyS5v0B8uqL4dGP+dvGtmA+zJGhqDY0MyJngkR8v9j4O1Gy46NLGVq1sxjMpXw613rZwBje4I+iICRIAIBIBATkr2A9j9rq8OcrgcE9CoH3eqzpoAqHPNIg1gYLcmzY7FhO73WWDXu1UB14fPbX01EuO65NGlDbqY0c659ra8czh+fvaR4TG9jUFYaxUt99/LazdVN2vehw3OvliebptHxlzeQb9JKogIEIHLEFiUnP1NbKm/Jk+5VNeoj3YVnHRpaoOMCyYZaY7oO2f4FLHnu3t8AADGRSmuN4JJx47UJQhNW8dU796tPFJT+cc4diKXozU+MDSqKtIIQflGnjcO1GypdWpT9dqjMV+WYbtND5OHCBABIhAEBLCl/jjjTF8yq2rq6E92FRxQNa0pCNS7RIVeMT3Hjug9ZK33BDyQW5anb3XrjQ99X5c16NE11X/BFvlweYvm9ovYGR9hTJLhYJEatsz/dqB2U52L3yJ1wm6tj8iYSxpdUFKViECIE8hJWZiDVXgBnftwqM6Jn+wu2h2ss9/HJYxKtUbG6EYdOPz2xdKX57iV70JfXdKgZ+XbH8N79FV07qN/tLFoTKxZbMziDgfLF9pytuxQ7XrfljnG/Xt5euw9waIj6UEEiAARuByBnOSFP2KMvyzPNbuaUj7fW7wRGyQyKqhk+oiZs4w+k+Q4V5b/vvz3ck+SoNL1RpXpcgZ9/qra0QzYHyQQowL77x0Y5V3LLU8EgfzXobo1Vc3aDKkK/iO8vzzdJl5nKKNIEoHrJUDpiYDfCOQkZ38fC9PHpOubG6cV7F8XlJvPiO1hxSQ57Ll17ySHdiK+qdb4J9S/yxxdyqCLcXMDqGJpRbjnDtVmDo2OMuAd9ISDRrx9rK74bKulafyj5emxXw4aBUkRIkAEiEA7COQkL/wGJnsTnfsQm88UlwfnNrFiktykgWP118KiaZj/YunSr7sV7wJfXcqgu8fNgY2Q9yUjIWKPLUzpL8PBIj890VhUUafqm9ygXgVozKmbHUHQEeQESD0icBkCaNS/ht3v78lTlXUXUjcdDc4XugyJGzjVFmnRexE0zl/B8fRBUvdQll3GoGcV1nwTb4Q+bt4z3LBmlM3snTWOJ4PhKD7TWHywxuE7BFAQBta7g0E30oEIEAEicKMEcpKz78NrV6FzHyerKtJ2nN6n7wXvjgySr9TE6SngeTMbAIvUcDw9SFS7KTW6hEGfX1g9nHHtFUkCK3XsK4Oj9VnjMj7QcneVY/POCw6fmZV8rTDmf50LQbncI9C8qPxuR4AqHOIE6mMj7sWWum7Ey88ennX0wqnNwVYto2KInDlssth5kwvd0KhPyy1Z8hPhD2WHti+U1W/R3ci1d9Enx82b5g+NcRkNTIbxVOCPo3XOHYWnGyeiJjhsg3/yjG0yOm13kDFHInQQASLQJQg8N+TbTfWa8U60ktKIKyXHt487X3dxT7BVsE9Mr3Hxll6+L3H5vxdKXwnK93u0l13IG/TMAvv/MQZjmOeT0jNsc68IZZgnGBSislE78uGxhiGojBkdwz/2g4qJ3fnG7RC0+yALPckRgS5FgCrjFwLPTX6iQdEMOIzID3oKjFhdvrFPvaOhwhMOGjFtaEqaQTEckAoB11Y8d+QvQdUYlLq1R4a0QX+4wJ6CzV29myTapGye3ifcp0u7PQg6N02dk59/60hdBJYSg04clQoPoxetCBLkiAAR6JIEnpn8RCUwPg9bL5WeCsZ9vmd1Q7Dt+66AwuaOmGFEHR3oGHa9D42qavit8IeiC1mDPn89j+CcvSWho2GvfGhotD7DXcYHUjpUXv/GwVq7xnlfjx5NHNidb2ZEHPOESRABItA1CFAt2hB4JvnJY6Dwu/B32j1HSOPasE93Fx9G2SZlYIPWiJihw3oOXO/VAp54sXTJnd5w6PhC1qAbGu25DNhQifrWhMhjEUawyXCgpYb96m+U1x5QNZ4odeGcP7x8rm2rDJMkAkSACHRlAs9Myt6CjeCvyDo6VMfEVXvXrZPhYJETB4xNMxtM26Q++PP9Wt6uvGgZDhUZkgY9s7AqDQCelJD7RBpWj7CZUmQ4GOTbR+tWN6p8kq4L8GeWZ8SKTW/0KPIQASJABNpFIIQT5Uxa+BG20p+QVahtrp0ZjGvU546c2Qt1rEMnjoT6ZnheeELJhZxB/9pGbgHO9F2JFIUdv39gdFDt077lfNPasw2qPpbPGf/bsrmxvw6lPwzSlQgQASLQUQQWpSz8I+b1K3TuQ6xRLz93dIM7ECRf0WGRCYm9BpdKdQBY9uLSl6fLcCjIkDPoar39ZcYgnrV8tPsHRdUbg2iJ2qk61+5N55p9N7T5bHl67Lda1KVvIkAEiEDQEfCLQjnJC3+CLfUVsrAdp/ZMqG6sPSzDwSDH9x89x2gw7pa6cKb8TfpDQYaUQc8sqL4bAPR9d4dbzKvjI42jggV0nYufffdYfR/Ux4SO4R/vASXSqu9eJ+LIEQEiQAS6KwFsqWcyzko89Y8s2L/W4NJcspvbEx1YkTZiRhRq0DLrnbHExSV5z2E4JI6QMehiVjvj2quSqskAe2/vH+G7hao8FRDp0hj754HaKs5YT7cCnNeoRnbHP6dBjTtMX0SACBCB7kigTZ0NBvgy5/yCiNY4H/T5ntV7hT9YnDU8evCgHv29s94B/je37BV9cnOw6Hk5PULGoBsba36JrfMETyUcXxkSHQHgCQWBWHG4dr2T8ySpisrZ753cjAAAEABJREFUfStTbUdkmCQRIAJEgAgw9vTEBadAUfSZ743Opls2Ht1WGExsUgaOExvO7JM6gabqr4iVccEoQ8Kgiw1kGPD/lABHWMzr48KUwTIcaLn6bGNRVbM2Q+qhcfj+W/Nig+oPVOpGkggQASIQaAI5kxYU4ZDkT6Uep6pOp520V+gT0mR8O2SnJAEAljpiqthwRnUXADAVu971lVXuuCD8UoJQp0tU4ozrExMUYEczgqir/US9a9eOSsdsXWnO/rQiw/qyHiYPESACRIAIXEIAx9N/iePpH3lOwKYjZcNqmuqDZtOt2Ajb8L6WXvprVhmw53+9M2+AR9+gFEFv0LPyq7Blru/Vzu8ZEFVvCJKu9gYnP/9eyyQ4Q8vd5cXLMmzfbfHTNxEgAkSACFyNQGQYz8SWupzpbs3fv1p1aWrD1a7x57lpQ1PSFICjLWVClOqAJS3+4PwOaoM+P78hgQP7pUQXH2VYPTDGqL+IRcYHQuIfIXvjYM1ZfMIUmxGI16edZZrpoUDoQmUSASJABEKRQPbY7Dpg7H6pu6bxoQX71pbJcKClARQ2Y9jkWqkH9sTf82LZK7fKcLDJoDboRub4CzCIENAUgIp7B0YFzW5wH56oL3JqbKzQze0Myv3L5kWfdfvpiwgQASJABNpFICdl4Q5sGOnLkWub62ceuXB8U7su9kMi8ZpVW2SM3vXOubqkg4rt8GyC1qBn5lfdz4DpT0K39o84bVYgKPbWLa9xlh6rdXmXzAH7r2VplqDa9ajD/1IoQyJABIhAJxFAo/4PzvjrMvuy47tGNjqbg6aBNHPYFLHfiWcoAIbnluT9QOoaTDJoDTpC0l9hZwtT1idaTEHROrc3a6c+O9EwDPVzH5yxomVzbf/nDtAXESACRIAI3BABMMQ8hUOZ7vF0/F21rdq7Omjenx5uDOs5qEf/zd6Kwc9+Wfr7luFWb2TAfa0MesC18SiQVWD/MQAM9ATrHxgcPcLjD7hYfrhO7GpkFYpwzk81a971lCKOHBEgAkSACFw/gZwJ36hnRm2+vNKhOiduO7m7WIYDLZMHjk0DUE4KPQBYjIkbgq4hF3QGff7q2l5oKP9LQBNuhM28JdIILbuviYgAuveP1Re5ND5SqoDj+l9+Z57FveORjCNJBIgAESACN0Zg0YQnSxnn+u//ofPHpgfLfu8KKGxCwqgTes0AvptbljdRDweBx48GvX21NbjU5wEgUqRGg3kmPT7CO1YtIgPkTtW79h6vc+lvUEM1nn0z3Sb3JMYgHUSACBABInCzBHJSsv8Pu943evIxFx5Yj+0ozRMMrBjWa9B0o8GwS2oBGntF+oNBBpVBf7iwaiIw9h0JZlrvsEPGINDQpbKm947Vi4cMtzY4vrNxWbotV+pJkggQASJABDqOgMHMv4otdfd7MFRNHbHxcElRx+V+cznNGubeQQ7NAOYjdpDb9nLQvIDLbaBQraA4NA76044JYF9yz7CZ7VWsM9N9cKJ+k8bZIHcZnNczgzlobqBbJ/oiAkSACHQhAj8cl32CKbBAVqmi5nzameqzO2Q4kDIuypZki7Ss1XVQFX0Ctx4XII8SoHIvKfahgqoHsHU+VZ64a1CkS/oDKY/VuXZid7ve1c6BPbU8NdI7jhJI5ahsIkAEiEAXJZAzaeGbnPFlsnrrj5T2UHlwdL3PHHbLKNSrZRkbsPjFZUv/F8MBP4LGoAODFyUNq1nZMCDKOFaGAyUdKq//6Hh9D8YYCB045x8uT4/V10qKOHJEgAgQASLQOQTCY9TvoVE/LXLH39/+Gw4FR9f7JcvYuPbML/e+HCf0DKQLCoOeVWDPQYs5xAPC+eVBUUGxAf57R+tLsKs9waOXHbjpMY+fBBEgAkSACHQygacSn6phXHlCFnO29nza+boLe2Q4kHLyoPFpwMCzVh6ijY3wTCD1EWUH3KDP/4JbOef6a/QGRhvXWcxKf6FcIN2RGuf2s02q3tWOf1Tf6KytXQNZTyqbCBABIhDMBBalLPiQM7ZS6rju4FazFiRd7yP6DC2XejEOT7249dWALrEOuEE3GKqfBQD3Ri0Ipvr2AZGTUAb0UHGY5pMTDXr3CT5wvLEsw/JBQJWiwokAESAC3ZSA2WT6PuesWlRf5erwLUe3BcWs99HxiXMUgFNCLwAWyUFdJPyBcgE16PML6/oCYz+WlR9pM5eFKbpxl9F+lx+frC9Cm97SS8B5DSiGp/2uRIcVSBkRASJABEKbwH+O++5ZpvD/lLU4aT8zq6rRflCGAyXFZjMj+w53b1fbogN/MpCt9IAadCN3/XcLBMbw6aZqbt+IaSzAn3ON6sFjta7ZUg0A5fvL5loqZZgkESACRIAI+J/AoknZf+WM53tKNhYf2OTC3lNPMHBiVN/hswHgmFsDgAiuqHoj1R3nx6+AGfT5xXYxCW6hrOtYW9gOo4GFy3AgJMdC3zlSL5bLGdDLGOer30y3/t3tp6/LEqBIIkAEiIC/CKigPIa/y42iPFVTk0pP7gp41zswYGP6jXTv8S70Qv0W/Gbrq/Fuv5+/AmbQjSr/f7KuCKRidnx4qgwHShZVNBY5OU+S5bsU5VHpJ0kEiAARIAKBJfDjSQuOMgB9r/ejlSem1TU3uJe1BVKzkb2HzsTu90NuHbCV7gTXs26/n78CYtDnF9eNYwy+xjyfyT3NBxXwBAIkap1axe6LDn1jG87gf1bOtQZ8jCZAOIKkWFKDCBABItCaQE7ywpew632rJzZ83eEtRz3+gIrxCUnnpAIA8B+BaKUHxKAbVOevZMUNCjsytU+4PmYt4/0t3z5cJ7pMItzlcla+PN2q9yC44+iLCBABIkAEgoIA5/B9qUhdU/2M87WVu2Q4UHJYr8HTDYphnyzfpbh+Iv3+kn436JkF1VOBwd2ygjN6R3gW5ssY/8vyGmdJnYvfopesKPoLYvQ48nQ5AlQhIkAEQpPAsykLN3LOVkjt1x0uMUp/IOXE/qPdS+tadIAnXyj9Q78Wv3++/W7QGef62IJRgQMT4swz/FPVK5fyxYmGWP0sZ8uWzfXZeF8/QR4iQASIABEIFgIKaLotERPk9lSUe1+YEiAlB8cNmGpSDPpOdsAUvSeB+eHjV4P+0KqaEQDsflmvGX3CL0h/oGTx6aZijbGhsnyDyfRD6SdJBG6cAF1JBIhAZxJ4JvlJsVTsBVnGvjMHk1ya2vLCFBkZADmmX5K3lc4h+7mtr0b6Sw2/GnR8osqRFVOAnRwXa54uw4GQjS5u31nVnCzL5pz/4h9zogI+BCD1IUkEiAARIAJXJhAW4/olZ6xKpOCM99x8rGyz8AfSDe01cDoOK7vfyIkN2JhIRfXbaim/GfT5q2t7MWD6y01S4sKOYGUDyZ19eKJevF83RiiBfxTn6602fbKeiCNHBIKVAOlFBIgAY08lPlUDnOsbuVTYz01vcDSeCSQbNOZsWK/B3t3jONN3uGOd/PGbQTc41R/KugBjZyf3Dg/ozPbzjdqhsw2qrgOAkvPBZAh4d41kRJIIEAEiQASuTSAnJftVxrhcYhy25tBmrzG99uWdkmJsvxFT0M7ZRebYcB2aW7r0QeHvbOcXg/6ltTwGgOu7wiXZzPsMWNvOrtzV8n/veF0NnpdabFs21/I3DNNBBIgAIwREILQIcM70yWfuZWx1F/SJaYGoiUExRPS19d0mywau6cPNMq4zpF8MepSj+nuMQUvXNmfVqfHhU1gAP+U1zq1NLq6/1Y0zQP0CqBAVTQSIABEgAjdMYFFK9qc4hv6FzGDTkTL39rAyHAiZPGDMGCzXgY4xgKkvlCzp9HeV+MWgY3fID5jnM8xiLDMqEOEJBkSsOtkoX9fK8MnuneXp1k0BUYQKJQLdkABVmQh0BgEDM+it4GaXIyXQm82EG8N6xUbYNsq6KsD1YWcZ19FS6egM2+aXlV/1bcZAblTfmJ4QqbeMWQA+Oy46NqqcJ8qiVVD0CRUyjiQRIAJEgAiEFoEfJn9vOzYe/y213ni0zCn9gZIpg8cOwLI5OjzgKy/tWKIvkcaIDj863aBzBvpTU0KUYXO4AfTWcYfXph0ZrjvT2Esm4xz+ujLdsl+GSRIBIhDqBEj/7kwANONPZf0dLuek09Xn9HFsGe9PaQ23DIkwR2yRZaou/h/S3xmyUw36VwtqZgKwUR7FeUa/yBEef0BEaWXzOpWzYbJwg2L6b+knSQSIABEgAqFN4JnJT4i91N+UtdhyrCzgW8JO6j/aLPVhnH33+a2vdlqjtlMNuoFrT8qKRJmULRazIrveZbTfpMYZ23C2aaBeIOe/++fcSPFCFj2KPESACBCBqxGgc8FPwGBkekPNpapjT9orSgOpdby1z0SjYmjpCQaIMCpqVmfp02kGPWtVXR8GLFMqPqtveECflDada1qNNl2MZ+AwC693RSg/l7qRJAJEgAgQga5B4OnxCw9zxl+XtSk5vsPbQpaRfpZDew0+K4vUGH9C+jtadppB5+BcIJU1AjuUaDHpW6zKeH/K0kpHol4esF+vnGG9qIfJQwSIABEIOAFSoKMIaJrxZzIv0Uo/fvG0Po4t4/0pk/oOTcHymtBhOxcm/nrb0k6ZHN5pBp0B6BvJjI8LOyUqEiiHXe3YOueyu99eb7a9GChdqFwiQASIABHoXAI/mvzEccb5ElnKthM7o6Q/ENKkmKKs4TFbZdmaqunboMu4jpCdYtCz8quzgLFeHgVrb+kZNtnj97vg2M9edqFZXyrAGbz0/iyo9bsiVCARIAJEIIAEulvRPIz9P1lnp6aOPl19drsMB0KO7jfCvbmau2xg33jpxEsdvh9Lpxh0HKT+vltp/BoYbSwxGSASvQE50Jiv0zjrLwrHcZXGJtD+IPzkiAARIAJEoOsSWDQ2+ww26P4oa7j95B53l7cM+1v2s/aZAAzcb2FjDKJd58Pmsw7+dLhBzyyumsSAydeiamnxESM7WOd2Z8cx5cZzTQko3AfCfPndubHuDfPdEfRFBIgAESACHUAgOLMAo/q81KzB0Tilrqn+uAwHQg7skXBIL5dDh3e7d7hBB9WrZEyAl6rtuujYiK3zwTpAUHJ1P3mIABEgAkSgSxPImfD9I9hj/J6nkrDl+LajHn9AxNiEkWOxYA0dA2Czf73t5Q7dm6XDDToq+jA69zGlVzi4PQH6Wn+uSV/Aj10vryyba6kMkCpULBEgAkSACNwggZu5DBSmT4K+WF89uVl1Vt1MfjdzbbgxrGekz85xmqp0aCu9Qw16ZqH9K1hZGzqGlrwyyWYK2FvVxBvVnCqXu9QxhYXpXS9CP3JEgAgQASLQ9Qk8MzF7LbbS5bK1yO0ndgV0ctyovsN9oX/bN3Cz/g416Izzb0mF+kUZd2OXggz6XRZXNBpkoZyxN9/MiDgmwySJABEgAkSg+xAAxvTh1uNVp8eoXPWpvH+9g+L6TwUGLb3FwHrmli59sKM06DCDLnaGQyXvlki4T4wAABAASURBVIpN6xPWW/r9Lc83aYeaXHySLJeD4VfST5IIEAEiQAS6F4FnkrP/hcOuh0Wt0U712n/m8BrhD4TD8lkfS69dsmzg2tek/2Zlhxl0ZnA+IpXBTA/HRxj17m4Z7y9ZdKrBZyMbXrxibowOz186UDlEgAgQASIQVARektrsP3uon/R3trxc/mP6DvOWD3D/78t/b7lcuuuNQ9t7vZdcIb3PFPyRNnPAlgY4NF57rknVN7LhAC9fQWOKJgJEgAgQgW5CwNi76XUcfnVPiNO4Nuyk/UzAXtpii4odoQDoM+6bag33dcRt6BCD/lC+XezTnuRRSJveJ1xMzfcE/SvWnW0qwZvWspENZ2eXz7X9y78aUGlEgAgQASIQbASeHvB0IwP+mtRrd8WBwG40Y+ujG3TU6QbfwIZX+hwdYtAV4PpkuEgTlEYaoadPGX7zcixpz0WnvpENts7zMIoOIkAEiAARIAJM8dnfva6p7pZmV/OFQGFJ6jtC3yMFGNzxqx1LYm9Wlw4x6IyDvvZ8Yo+w5ptV6kav31fl3MwZly9hYaAZ9G3/bjRPuo4IEAEiQAS6BoFnkp88xjkv9NTGtPPU/p0ev9+FNTx6sEFRWt6TjqUbnfyrKG7quGmD/tVC+zwGLM6jRf342DDxmjhP0L9iw3nvUjXG2fJl86LP+lcDKo0IEAEiQASCmgAwvdv9eNXp4YHUtb+tb4VePkCm7r9Bz00bdIUz/anCalZ2GA0s/AZ1uanLqhzasQYn1x8mVFBoMtxNEaWLiQARIAJdj8Ci5OxlnLNqUTPOtf6n7BUBmxyH3e6JQg+PS/vtztf6ePw3JG7aoGNLWF8UP75HmBjGviFF2nXRVRJtONN4RD/N+Z630i3r9DB5iAARIAJEgAhIAgp/XXp3ndofsGHi6LDIBJNi2CN1cTqcNzU57qYMetYq+60ArIdHmcYxsSZ9MxdPnF+EeIo4WqfKWfaMg/KqXwqmQogAESACRCDkCBiAvyKVrnM0TA7k5LiEHv3OSV0Y4zfV7X5TBp0rTH+fq8WkbDcq0OEvbPdW9Mq+w9XOMo3zvjKFqlr+Jv3XISkpESACRIAIdAMCP5z45AHG+VpPVQM6OW5k72HebneAqb8qW6rPfvfo125xUwYdGBMvY3EXNraHOWCb424531zvVqLl6+2Vt4J7fKQlSN9EgAgQASJABFoTAFD0VVAnqk4NaX3WfyF3t7vBqM+2N2r8hjeZuWGDLrrbscpy3ZxzfA+z2FwGo/x7OFReX9nsszMcg7/4V4N2lkbJiAARIAJEIGgIPJO84A1spdcIhbCHd1BlXdVu4Q+ES4iN910Pf8eN6nDDBp2Bd3Z7tEkpDVR3+46qZjFDMdwDoHJ5uvUjj58EESACRIAIEIErEuDA3mWez/6zB897vH4XQ3oO9Nnbnd1+owrcjEHXZ7eP62F23qgCN3vd9kpHtMxDY+x16e9mkqpLBIgAESAC10kAAN6Sl5yrrfSOZctIP8keEdYRwEBfk/5i6ZI7b6ToGzLoXy2omYmFye52NjbWPB7Dfj9qHFpFo8q9M+s15c9+V4IKJAJEgAgQgZAkkDNp4Uecs1qhPHa7J5yvqwxYt7stwlou9BCOM35D3e43ZNAVpupdAhEGKAszQIe8+k1U5HpcyYVmfds8xtnmFfMsB67nekrbTgKUjAgQASLQRQkAY/oLvPafORKwbvdBcQlmH8T+M+jAQTfoQ2JMAZtRXl7tkGvg0Z6zlT4wyEsEiAARIAJE4JoEgMEKmQhb6AHrdh8Y128c6uFZLQYjXtj++/4Yvq7julvo87/gVgZsiixlTA9TP+n3p6xz8XMOlQkA7mJVs1kfC3FH0FeoECA9iQARIAIBI/BMyoLPsPCL6Fggu91NiinKbDDvEHoIB6rpXiGvx123QVeMNfpgPTBW2SfCOOJ6CuyotNsuNO/FvFAF/GasZOXsyONuH30RASJABIgAEbgeApy/LZMHsts93trbp8f7+sfRr9ugg+adUh8XbhBGVXLwq9xf5YjRC+TeMRA9jjxEQBAgRwSIABG4FgHwznYPZLf78J4DvD3enN12LbXbnr9ug86A3y0zGWUzG6Tfn7LJyasaVT5Blukym9+UfpJEgAgQASJABK6HQE7ywlWY3qfb/YL+whSM99thi4odAQDu134DsPDFJUvTr6fw6zLo84vrxmEfdy9PATwp1jTG4/er2H6xeRcW6H6Y4Ixvp+52pEFHIAhQmUSACHQRApyxf8uqHK485vPCFBnrH2mJiPFZrXV93e7XZdANLpc+ux3b5rvCFLD6p4qtS9ljd8id4Rjjir7koHUqChEBIkAEiAARaB8B4PCxTHmm5nxP6fe3HNqjv9FbJp/j9V/bd10GHbsAdIM+MMrsu/fstUvqoBSqxli9y9vdzo2KPpmhg4qgbIhAcBAgLYgAEfAbAS3KLLrd3eW5VHWMU3X4TFBzR/vlKyE23jvRHGDqSydeimhvwddl0DHTWejcx5gepoA8wZRXO7egAp4F+PzkitSYgE3MQz3oIAJEgAgQgS5A4NmkR2uxy3e1pypw7OLpgOwaF2YMiwOAYx49mOtc+GTpv5Zst0F/qLB6GmYmu7qb+kUax2LY78fu6uYGWShn8IH0kyQCROC6CFBiIkAE2hDgjH0io45dPOHZ5EXG+E/GhEWf0EsDLrZa14NX87TboCucz5YZRRhgjwFkyL/ybIM2UpbImSI2BJBBkkSACBABIkAEbpwAsE/lxfaG2iTp97eMt/XW9DI5dLxB54zr3e0JUSb3O2T1Av3kqWrWjmqc95XFmZ0x+piHjCNJBIhAEBAgFYhACBJYNCl7G9q68x7Ve9nrq3xmnHti/SASbPH6enRg7Z8Y1+4WOtZBXw+XaDEGZHb7zgsOfVwBxzqK37gd6lEvOogAESACRIAIdAwBzj6SGR26ePK09PtTxkZYhmN5LQ1nAMuLW19tV29Buwx6VkHtGGAQjQWIwzUo2jRKePztDtU6IvUyOehdI3oceYgAEegOBKiORKAzCei2pcJ+ztKZBV0t7whz2D55niuudnW7t8ugc67q4+dhCttrNDA5OU6W1+ny0uVqnMbPO506FUAEiAAR6F4ENG7UDXqzqzlZ1bSmQBDoHd3LZwI4m9EeHdpl0Bkw3aD3jTIGZP35oRpnCVbIvVyNM3Z+eWpsGYbpIAJEgAh0LAHKrVsT+NHkJ6pxSFcsj3ZzOFNzNiDbwPaz9Yl1KyC+2jkxrn0GnfM0kadwiRazt9tbRPjJHah21PoU9YWPn7xEgAgQASJABDqOAId1MrOT9oqWsWwZ4SfZ19JLvK/EKYoDYCNxHL2n8F/NXdOgz1/TMBAA5Iw7bajFOPpqGXbWudMNWg+ZNwCTi/9lFEkiQASIQCgQIB1DgAAHWCvVPF97MUb6/SkVUJjJYPSOo4NrOrvG55oG3eh03CLzMAAcNiv65DgZ3enSpbImh6aNlwW5VMMa6SdJBIgAESACRKAjCZg0Zb3Mr9nl0Pc+kXH+ktYIq/sNcKI8fMiYJOTV3DUNOmcsRWYQa4Yz0u9PebzBqW/vyjm7uHJeTEDGNPxZZyqLCBABInDdBOiCDiHwg8lPVKDtO+rJLPpCvV1vKXvi/CJ6R/fQbTQwPu5aheqJr5QQGEuW5/pEGV3S70950O6q1ssDTq1zHQZ5iAARIAJEoDMIoO3TW+knqyrOdkYZ18qzZ0xcnEzDOdy8Qeeciz3c3XkOjAzMhjIn6p36WkB8aqLxc/fdoC8iQASIgF8JdKvCALg+Me5M7TlTICrfI8om5qy5t4EFYNfs+r9qCz2zuGEAAOi7wvWPMQ71d6VUtOCNKheVailaUaiF3kKCvokAESACRKCTCKAV1Vvo9U0NQzqpmKtmawCFoZNd/yx3+8t6j/nlLryqQQetWR8/V4CdClO8xv1ymXVG3Ol61y7M172RDfYWNKxIs+rrAzGeDiJABIgAEegKBIKsDmJfd8Z5o1CLMx5f19xwSvj97SJM4Xp3v6IpV+12v6pB59w7fh5pVE76uyKivCP1zkohhcPeAv2JSYTJEQEiQASIABHoNAIAerd7RfVZvaXcaeVdJmNblLVZRqNN1ld7yThfeVWDjgn15n2fcMX9pIJxfj1O1aoGWSD2vlPrXMIgSQSIABEgAu0lcEPp0OZslBeerTnv3uRFhv0l+8T0dPdQi/Kwl3qskFdyVzXowEFfgz7QYtIzvVJmnRFf7dR6yXzx6YS2e5UwSBIBIkAEiEAnE4BtsgB7Y7U+OVvG+UP2jI6VG7sxYFef6X5Fgz6/sK4vXt1bKjwg0pgg/f6SGj4euTQ+wqe8Uh8/eYkAESACRIAIdBoBg6LulJk3uRwDpP8S2YkR0WHRAzH7enQMbXL8S7v/1INd4XNFg27UXN6Z5YxVW8yK3ytztsklFvO7deSMN67IsB26Qj0omggQASJABIhAhxL44cQnD8gMsXXcq1l1VsmwP6XJYDwsy1MdziuOo7uNpUzoKzXmXfNmVtgJ33P+8p+ocZ2XZQFnNH4uYZAkAkSACBAB/xDgTLzp013W+dpK3bC6I/zzxWLCo/QHCRxHH3elYq9o0BXG9UXsFpPBfqUMOjP+VKMLnyv0Emj8XEdBHiJABIgAEfAHAewd1rvd0aDX+aPMtmXYImw4AO2J5d7GtidGF1c06JyBPnYdF2YIyJavF5q5TWoKoND4uYRBkggQASJABPxCAAB0g36xrvqKNrMzlYmNtHgnpQO/4iY3V1QOfLrc46MMYb7K+svf5NL0hwquGfTZhv4qn8ohAkSACBCB7k0AG5O6Qa9zNvQMBA1beHSsLBcYDJb+tvKKBp0B07d57R2u+L0S1Q5NbGQTIRVeNi96h/STJAJEgAgQASLgDwKayTvT3aW6hmEXvD+KbVVGTITFOymdX2cLff6qWt8Z7qxnhDGxVe6dGmjJ/FyDerbFh9+c78FvOogAESACRIAI+JXAorHZZ7DAi+jEYa5urPP7aiuDYhCN25aJcQARv935Wh+hTFt32Ra6AVz6hDgF2DF0ba/r9HBFg6pPPuAM9nd6gVQAESACRIAIEIHLEOCcb5fR5+sunJN+f0qjwSgeLNxFOrXmy3a7X9agAwPdoEcYICDKn2/yzsMDxjrMoLtp0BcRIAJEgAgQgXYSAGD6evTqhprmdl7WocnCDWbvajPVcNmJcZc16Dh+rk9Giw03tOxQ06GqXTszu0OLkalwzIIMuoRBkggQASJABPxMAI7IAmubay9vN2WCTpIRYZHeB4krzHS/rGKcMd369w4zXDZNJ+msZ9uksngZAIMhRAy61JgkESACRIAIdBUC2OWuv2mt0dEsxrP9XjVreAx2VrcUyzXW/i53xlh/dO4DW+je9W/umM7/cmmMYatcN+guMyeD3vnYqQQiQASIABG4DAEwct2gN7scV9xL/TKXdlhUbKTF+yBxPS0r9JWLAAAQAElEQVR0fAwYLrWIDQOL9PtLnm927ZVloWGvWznDelGGu7OkuhMBIkAEiEAgCBj0LneNa/rbz/ypSUxElM9adKb3ovvqcEl3+vz11a2ePiwmg9/XoJ+p01qm5wtNOaP154IDOSJABIgAEQgIgZwJC84xzhs9hUc0uZr094x44jpdWMJi9J5zxkBvdDOfzyUGnTkNvq9JdUUawe8G/aJDdUgdAdhB6SfZmQQobyJABIgAEbgiAfBOjKtprPX76i+xFh0A9N7q32x9VR+WljpfYtCNmqobdAXYKZnQn9LuVLHXv6VEziAgOrSUTt9EgAgQASJABNzzuvRx9OrG+upAMAEGeu+1y6TFtdXhEoPONK43682K9+K2F3ZmuN7JvXvHAxn0zmTtr7ypHCJABIhAKBMAznwMeo3ei8z8+DEYvMvIucqvbdC5AnoLPdIAAVmD3qRx7xp0DmJPdz8io6KIABEgAkSACLQmwBWmT4wL1Fp0E5gapFYKb4dBB58WerRZccqL/SldKtOfPAA06nL3J/yQLIuUJgJEgAh0LgEAflyWEKi16GaTUbfJGoNL5rdd0uXOGdNb6DaTAWQF/CWxfOz15/rG80aDiQy6v+BTOUSACBABInB5AtygT4RzaS6/788ilAo3hqlCCgeKt+ErwsJdYtCBca9BD1fMIpE/Xa1DO43l6Q8S/5gTVYFhOohAwAhQwUSACBABprBKSUHV1Bjp96cMN3ufI3h7utw5MH3xusUIEf5UVpRV49QuCCkcZ/yEkOSIABEgAkSACASSgNGp6LZJ49waCF0ijeEGvVzenhY6Z/rGMhEBMOgXm7U6qTBwoNa5hEGyixKgahEBIhAKBKrjzPqSMdTXig1OFP49Iszheq85QDsMOgOIkiqGGxXdL+M6W9Y5NX3QnwMng97ZwCl/IkAEiAARuCaB54Z8u4lxXuNJqDhcDr0L3hPX6SLCHOHTaw765HFZcKsx9KzCmlaz5iKN4Pd93BtdXJPKMa74PhHp0eQhAkSgfQQoFREgAh1HgDPQjXiTyyGNe8cVcI2cIk3maG8S3spei/hWBh0Uro+f40luUvxv0BtUrz0HxuyMPkSACBABIkAEgoEAeCfGNTmb9eFhf6lmMobpY/ecX6vL3cW8Bh1YQIxpk5N7HzKAUQud0YcIBCsB0osIdDcCXG+hNzga5Mta/AYh3Bimd7MDXKPLnQHTDTpaVb93JwgqzZwbhRSOUwtdYCBHBIgAESACQUAAGOgz3ZsczQHZ/pVxVitRvLDvz62Wz6HdlqcYU30NOkCD94z/fA6Ve/dx54xa6P5DTyURgaAiQMoQgWAjwMGnhe5q0jd58aeeqEOTLM9c5/IZU2eslUEHjdtkQhMwv3cniLKdGgsXUjhgEJBuf1E2OSJABIgAESACrQhwr01qdjW3OuWvgMIU3aA7DfwqBt2nhW42QEC0VTXuXSqnUAvdX38kVA4R6F4EqLZE4PoJcMb1F5Y5XU64/hxu/goFQDfo2K/utZeYdasWOmNcbx2bAALSnaAx5l0qx4G63PEm0UEEiAARIAKBJ2Bg3jeQujS1jf30j34AikOWpAC7cgud4+OHTMiAcd3vX49JFsfBpT8NyTiSRIAIEIFgJ0D6dVUCXoPucKn6BG5/1lbxMeiaehWD7qtUQPoSWhTQHyRUBQKoRosy9E0EiAARIAJEQBDARm+dkMJp3KU3PkXYX86gGJyyLOVqLXSmKLox1T3ySv9JvWiTE/sJ/FculUQEiAARCAECpGKgCHCDpvcaq5qq76vuT30MPsPh2tUMOvh2uftTw9Zl6Qa9dTSFiAARIAJEgAgEkABXdIOuce+cM39qZFSMLlkeaFfpckdLiocnqdfnifC/UIFa6P6nTiUSASLQnQlQ3a9GwNtC1zQt4mopO+scdrlrMm9+tRa6TCSkYgjQpDifyXiaQmPo4l6QIwJEgAgQgcATMGpMH0NHbQJi0I0Go97cRgt55VnuaML1hKhswA+TQi30gN8EUoAIEAEi0GEEQjsj4Ea9yx1HqFsZU3/VzGQw6EXxq3W5g8J1g4598/pFfvUgJVme6sTnDxkgSQSIABEgAkQggASaGfPdEl3ft8WfKhkUn8n1AFfeWAbNuW7Q/amgb1nAsJ/AE6FRC91DggQRIAJEgAhci0Bnn//R5CeqfctwaqreYveN71x/qz3f9AlyokxFfEnna0xb7/IuU/hF6goaGRj9UiIVQgSIABEgAkTgGgTavt3M0KaFfI3LO+S0qulz4nBMmuu7xonMWxl0bKE7RaRweA3ad+Hzr8NOdl1Bjath/i2dSiMCRIAIEAEicDkCjKm8sdXacwVamdDLX9TBsS40zjJL7FLXbbaIa60NgG5MVY23PidS+8GhQddb6IpBIYPuB+ZUBBEgAkSACFybQES9ydeg6/by2ld2XArO0Yx7sgPmtdkiqpXRBuA45i+iGUOr2upcS2znf6OC3icODXzhdX7hVAIRIAJEgAgQgSsQQAPpMyONdahBv0KRl0Sr3AUyEk27115iZGujrXn74zXOWp/DxH46vCP+Adpaz0/1pGKIABEgAkQghAiYweXTyOTY7vW/8irnukEH7rXZQpNWRltTvK9l0zTuXewmUvrJKeCFpBmoy91P2KkYIkAEiAARuAYBDQy6QW/bOr7GpR12mnNNN+iMXa3LnXm73DljgTHoDLwtdB6Yze8ZfYgAESACRIAItCGggdcmAUCr7u42STstqGm+Bp210qFVC51xbwtdZTwwBh2Y16CDoj8NdRodypgIEAEiQASIQDsI8FY2CQLS5a4xptttUK7S5Q7gcxKgMw36FdGBj0FXGNAs9yuSohNEgAgQASLgTwKKyvTtXtE+Of1ZtiyLc1XR/exqLXTfSXEqC8imLgbm3XSWaxq10OWdI0kEiAARIAIBJQBMs0kFDIoSgF3iGHOpqj7TXmu9Fa236S6UVEFpFlI4jXP9IhH2l8NHD9TRU5pyg8vWPJeTIAJEgAgQASLQUQQ0UHSDblRMTR2V7/Xko2qavoc8aEqrrWgV34yMnOtdCJyxgBh0o9HbQgfOLb76kZ8IEAEiQASIQKAIAONeg2406vbSn/qonEfq5SmsSvejR0GnHyoY9BY6QGD2UY80eCcacM566MoFj4c0IQJEgAgQgW5JwGvQzQZjQCbFMa7FSPQKhysbdI1peheCqvk8Bcir/SCjjL7PGNDTD0VSEUSACBABIkAE2kMgViYKN5q49PtTcsbjZHkG7SoGnRnhokwIwGKwhSyDfpNRJu9u98A0XXG/KRDogqh8IkAEiAARCE4CHPQud7NRH8r2m65OzVmHhQE698H71NvdHs+Xb3OYrZwTc94TL4TSqPJK4fGnizH7rj2nFro/2VNZRIAIEAEicFUCegs9whhmuGrKTjjpdLlqfbN9esDTjb7hVgbdc0K3+I0uXuOJ85uIVCBCFob9GdRClzA6RlIuRIAIEAEicIMEODCfFrrZ7xPHm9Vm0UJn4sM5PyOkr7vEoKMRvSAT1Lk0/WIZ19ky2mSIkmVgvwIZdAmDJBEgAkSACASaQG+pQIQ5wu997k0OR4Msn0HrGe4i/hKDDpzpBr3BpbVqzosLOttFGsGqlwGMDLoOIwQ8pCIRIAJEoAsTwEZmoqxedFiE11bJyE6WTa5m70o0Bq1muIuiLzHoaPX1cfN6l+YQifzp0KD38i3v/lU1ZNR9gZCfCBABIkAE/E7g+a2vtjLgUebIvv5WotnZrNtkzrg+PC71uMSgY7+83kKvbubeF6XIKzpZAj4CYRH67jdmRq105EEHY8SACBABIhA4AkZnf2/h3G5QDBHesH98dc0N+tp3NJUVbUu9xKADU3SD3qBqLBAfBZj+5IEGntaiM/oQASJABIhAIAkoDBJk+QbFdE76/SnrHPVox1tK5AxOtfi834rX2+LjwPS16I0qv+R8S6rO/TaCorfQucIHdm5plDsRYIwRBCJABIjA1Qhoit5CNxkMfl8BJlRrdDSFCykcAD8ppK+7xGBjl7s+ht7k5Njj7ZvcP/5oI9PX2gHjg/xTKpVCBIgAESACRODyBIBpegs9zBTm9wnjQiuny6Fv+4pj6NduoeNFukF3aFx/GsB4vx22MMW76b3GBjP6EIHQJkDaEwEiEPoEdIMeY470+/wygc/JNX0IGjTl2i10bLLrY+gujetPAyIzf7m4CIO+Aw+OoQ/xV7lUDhEgAkSACBCByxHg3DuGHhMejabycqk6L07jGmOc66vAnJFaO1roinJaquTirJ/0+1P2CPNuLoPlUgsdIdBBBK5IgE4QASLQ6QSAMd0WxYRFRzI/fxocTcKAoxrCrrOmn4x6Um98S1UuecpwhcUckydRRjQ6+UWUfj3izAbftecj/Vo4FUYEiAARIAJEoC0BYGNlVGyURd8xTsZ1tqx3NPgacGHcLynyEoO+cgY0csb0PWIvOlXdf8nVnRRhDVPERDhUo6WAR1bXx7f46JsIEAE/E6DiiEC3J/DSjiVDfSA0R4dF+331VU1jnb4VOwBvn0EXSgNnR4QU7kKTpi8hE2F/OAN2KgAD/UFC1VS9q8Mf5VMZRIAIEAEiQAQkAZeTj5B+AxhOSL8/ZV1zrXeyOINLJsQJXS5poYtIdEfRuY/KRlXfO9Yd4acvkwL6q1y5xmlinJ+4UzFEwK8EqDAiEAoEFKYP/YaZwnXb5E/Vqxv0BjrjjB+/XNmXNegcmLeF7lAvm+ZymXVknO9adMY4tdA7Ei7lRQSIABEgAu0nwEE36NbIqIA0cuscdd5VZ8D2X075yxpr3y73Wqfm99l8QlFbuHctOjA2XMSRIwJEgAhcBwFKSgQ6hADaRN2gx0XYjB2S6XVm0qw69ZfBGBg7cLnLL2vQsU2ud7k3qbzH5S7s7LiEKKNJlsG5d3ahjCNJBIgAESACRMAvBMDb5d4j2hbrlzJ9ClG5ih3VTF9G3hzOr6OFrnm73DWNDeQ+GfvLGx9u0JcFALBb/FUulUMEiAARaBcBStQtCLyw78+iqztBVjY20iZWYcmgX2R1Q62vAb94uTXoQpHLttBXZNgOiZMeZ6x3aJe8ps1zrtNErwhjImbuQOc+5hdWU7e7mwR9EQEiQASIgL8IGBubxsmygMEZo2KMlmF/yQv1dp/9YC7fOhe6XNagixOccX1q/oVmze+z+rBVzowKHBa6CGfQNB2qCJMjAkSACHRhAlS1ICGgajBJqhJuDr/s7HJ5vrNkVUOVPhEPh6B9W+utiryiQWec6ePo55tdNSwAH6sZvDvjKMr4AKhARRIBIkAEiEA3JgDAdYMeF2ltCASKmsY6o14uXH6Guzh/ZYMOUC4SCFfRoLqE9LfrHW70LqTXuL7tnr/1oPKIABEgAl2KAFWm/QQ4JMvEfSy9wqXfn7Le2WCT5SmcXXaGuzh/RYMOnO8UCYSrbFIDsnRtYIx3rAKAUZe7uBnkt1R4twAAEABJREFUiAARIAJEwH8EgOkt9J7RcQP8V7C3JJeq6nuxcKNy/QadA+gGvcHJ+nuz9p8vPtLoC09fB+g/DagkIkAEiAARuE4CXSb5r7ct1Y05Vqo6OixSn+2OYb8cjY4msQ26PhEvZ8KCXVcq+Iot9OYwg27QOeP9HCqvv1ImnRUfbYQ+2DKvkvk/lG/Xuz5kHEkiQASIABEgAp1BQNW8rfMwo/lgZ5RxrTzP113QJ+Jxn57zy113RYP+zsyYc3hBJTr3careFZDKhCugT85TFIW63d13g76IABEgAt2UgB+rDUzTW+g9Iq21fixaL+pMzbkGGQCAUum/nLyiQReJOWPbhRTuVINqF9Lfrme4QZ9hzzVtmr/Lp/KIABEgAkSg2xJIkTXvbellln5/yosNdp+JeDdh0IF7x9FPN7rAn5WQZQ23mcKknwGfpfvJQwSIABEgAkSgYwnouT135C9oSGG6jIi39Bko/f6UDY5mfQ4bB1ZytbKv3kIHTR9Htzerft+/Vig+JNokdowTXgYMxn5pLRfb8LnD9EUEiAARIAJEoDMIRFY1TpX5Ylf3uaiwCN2wyvjOlg7VWc25ppdr7Nl4E13uiqIbdIfKhna28pfLP9IIcfjUoY+jRzpq5lwuHcURASJABIgAEehAArNlXtHmaH1fFhl3Q/I6LzpfW6lvw84Z3/v0gKcbr5YF2sorn16RZt3iczbK7tCO+YT95u0RbtC3oQVO3e5+A08FEQEiQAS6KwHOdYMeb+0dkM3VztRW1uj4Obtq61yku6pBFwk4Y/rs9tMNLr+/pEXoMCTau+sdjaMLIuSIABEgAkSgcwmA3hs8wNY7vnPLunzuF2rtJp8zVx0/Z4yxaxp0xpne7X6sVm3yydxv3qFWcz9vYUAT47wwyEcEiAARIAIdTOCF0lcmA7BwT7Z1tqjYER6/X0WDo15/kFCAd4BBV0Bfunam0RmQLWB7hSvDgDH9RS1fLaiZ6VeqVBgRIAJEgAh0GwLAVb27PcIUsScQFXdprjqVa/rcNTUyouxaelyzhc41vkFmUu/kSdLfHtmRaaJNit71r4BGrfSOhEt5EQEiQASIgE4AG5C6Qe8dE6dv7KIn8IPnZFXFbp9itj+b9Og1N7a5pkFvDLPqBh0zt1Q2afqsOwz77egfZfTO7vOZrOA3BaggIkAEiAAR6BYEOIN0WdEEW9+ALNlGg+4zxM3XSH2uJq9p0N+fBbWM8x0yk0O1jtPS7085wmqKk+UBZ2mMMfoQASJABIgAEehQAi+ULJkGwKyeTBv6WnpN8Pj9Ki42VOs2j3O2tj2FX9Ogi0zwaWW9kMIdqQnI7H3WP9o4DitVLXRgAFFZ+Xb9CcodR19EgAgQASJABG6SgKLA7TKLqLCIHQDYAS8j/CRVTWtyqk7vEHcYK25P0e0z6AroTwf2ZtVnxnl7iuiYNAKpLUzRJydowHToHVNC61woRASIABEgAt2PANf4HbLW/WP7OaTfn/JMzVlh69zrtbEhe3jR2GzxCtVrqtAug64pXG+huzgb1qxy72L3axbRcQlGWEx694DC+Z0dlzPlRASIABEgAt2dwPNbX7Vig1x/CdjQuIEBWa6G4+e6jUV92jV+Lu5duwz6ylTbEUxcic59HKl17XN7/Pw1rkeYtwsCYNz81bW9/KxCBxVH2RABIkAEiECwETAYnXrPrwEMByPNEX0DoeP52otyDB+Lb9+EOEzYjo1lRCp02OwvQuE+DlY7AjKNP9IEvQwA+vI1g6p+ya0QfREBIkAEiAARuEkCXPOOn/eIjj15k9nd0OUa11iz6hglL1aUTjDoDLzd7meaVJ+nB1msf2R8lMELWWP6WId/Sg+NUkhLIkAEiAARuCEC98qrhvYcYJF+f8rzdRfE7qxyl7qLP5z45IH2lt+uLneRmcKVdUIK1+TiSdhiF16/u7GxZv31qcBoHN3vN4AKJAJEgAh0QQK/Ln1lAjCQw7gNCda+yYGo5tELJ/RdUTljhdejQ7sN+psZ1s2ccbm5S8TpRpeYhXc9ZXVI2uEWUwpm1LLgXixfK6yhXeMQiP8OKokIEAEi0PUIaFy9X9YKx853AoAM+lWeqTnfUxYIwD+T/vbIdhv0lsxgU4tkbF+V85z0+1tGmUDf6IZpGnW7+/sGUHlEgAgQgS5GgAP7iqzS0LgBTun3p3SozmqXqo6RZRpA+Vj62yOvz6AD+1RmeqTOFZDt8ET5wyxm2VMggl8VX+S6BgGqBREgAkTA3wRyy15JBAbSkKpDew8OyO5wxy6cEvu3g7v+nO97euKCU25/O7+uy6CrilF/WmhyaWMdKq9vZzkdmiy5Z5g+A5ABS5xfXDeuQwugzIgAESACRKD7EODaQ7Ky4aawMpNi1OdqyXh/yONVJ1RZDo6fX1d3u7juugz6ytTonVjIeXEhOsOBaqe36xsj/HVEG6F3mOJ9T7vR5dJvhr90oHJCkQDpTASIABG4lAA2ifXu9kFx/QOyLFtoVd1QpzdWFYDONeiiQHTvonMfuy469J3b3BF+/BrZw+wzE5B/3Y9FU1FEgAgQASLQRQg8v/XVgVgV2cXOE3sPDUiPr72+6gBnXJ8Q90zywk9Qr+s6rquFLnIG4Hq3+4VmVX+aEOf86ZLjwkdjedhhwBgADHwo3x6QJQaMPkTAQ4AEESACoUdAUVwPS63NBvO2MIMpIPPDDl08eVrqgYb9C+m/HnndBt3osOkFoTXtebbR1e5F79ej2LXSim53s8Hb7Y5dJjQ57lrQ6DwRIAJEgAi0IgAc9O72gT0S9D3UWyXyQ+C0/Yy+YRva1uvubhcqXrdBf+N2EBPhCsTFwu266NSfKkTYn26kJazKWx7P8vrJRwS6GgGqDxEgAh1N4NfbXh7BgIm9TdxZj+g9eITb4+cvp+aqdbick2SxikHxj0F3F+jT7X6k1mlzxwXgK6W3e7Y7Psww5u52L6q+hdGHCBABIkAEiEA7CGiq8phMZjaayiLMEfEy7E95tPK47wTzUzkTFuy6kfKvu4UuCtF8l6+pfFyglq+5u90VRex7K9RiispptrubBH0RgesjQKmJQDcl8G1Z7xG9hojeZxn0qzxUedygF8jZSt1/nZ4bMugrUmP2cs6Pe8oK2PI1Uf5Iq0nvdueMZ4o4ckSACBABIkAErkYgt2TpPQyYnFVeP7z30MlXS99Z51RNbaxvbpCz7JmicP8adHfFAD5yS/zaddGhL4bHoF+P5F5mfcwDu90TslbZb/WrAlQYESAC1yBAp4lA8BEA0PTWuS3SUmpQFPmGM78qe+TCiTIsMAIdw0bp2R9Oyl4v/DfibqiFLgoCjb0jpHCVzeoEVRM+/7sYkxIfbYYtsmSusEelnyQRIAJEgAgQgbYEXtz6KrbM4QEZP7rviGjp97c8VHlMLxI4LNMDN+C5YYO+bJ7tC87ZRU+ZMQeqnZs9fr+LKb3C9R4CYOyh+wqrAjZRz++VpwKJQDcnQNUnAtdLQDO4viavAQZn4q299RnmMt4fUnS31zXVe8sG7a2bKfeGDbq7UGD/ckv8KqtscqIIyDHKap4GjJ2VhYdz5RvST5IIEAEiQASIQCsCmrcnN8HWZ1+rc34MHLtwchsWJ7vbT+YkP7kBwzd83JxBZ0x/mrjo0MYHqtsd0JoPiTHulRSA8QXST5IIEAEicOME6MquRmBx6cvTAUDf3nVMvxHDAlXHg+ePewer4cZnt0v9b8qgL0+35ft2u++1O27q6UIqdSNyTr9IsQ2thJOUWWgPyIzFG9GdriECRIAIEAF/EVCelCWFGc0l0WHRA2TYn1LjGqttrtW3LAd+47Pbpd43ZdDdmQBb4Zb4te1is3uTF/T6/Yg2Qp8oE2zVC+bsO7qfPESACBCBICRAKvmXwEu7/9QDS9T3bh/bb2TAXjB2pPK4aADL7vazN9vdjvViHWDQ+VsiI+Hszdokl8YbhT8QblrvcP2BAp92vvGtQh4eCD2oTCJABIgAEQg+Aq5mx0KpFTCoGBw3YKoM+1vuP3fEu5kMsL91RPk3bdCXz40t8ul2j9hV5SzrCMVuJI8kq3kqyMlxAFHNrOYrN5IPXUMEiAARCH0CVINLCXC9u31wzwH7Lz3vnxin6qhudDTqw8KKavxLR5R80wa9RQn+ZotkbMfF5g7KU+bYfglozYf6TI5jXHui/VdTSiJABIgAEeiqBHJLlz4IDPp46tc8LiEpxeP3u9hdUS5mt3tsJd/yzOQnOmSmvSfDm6uPxoz6VnU1Dm2aQ+O1N5fjjV89Kz5ipPdqmPVQYfU0b5h8RIAIEAEi0BEEQi4PrmVLnWOjrJtMijFGhv0tj1081VuWiQ3Rv0r/zcoOMehvZcSsZpzp68C3X2jefrOK3ej1Yue4HmZlnbwex9JzpJ8kESACRIAIdD8Cz297eQwAzJU1Tx4wLkH6/S2rG2sPu1SXWJXlLtrAHHoPtzviJr46xKC3lA/6lnXbLzoD9uQjdMlIiOgppHDA2AMP5dsDts5Q6ECOCBABIkAErodAx6ZVVHhG5mg2mMtsEZaA2YRdp/fJF5uhSvxfP5j0Azt6OuToMIPuMhpelxo1ubQJF5q0IzLsb9kn0jgywgD65DwF2NP+1oHKIwJEgAgQgcAT+M3WV+MB4FtSkwn9RwVsV1Ohw9mayrFCuh1Ah3W3i/w6zKCvTI3eyRnbJDIVbs3ZRu+O8yLCz25m3wjfm7bw4TX2WD+rQMURASJABIhAgAk4FfXHUgUDGA4O7JEwRYb9LU/YT23ljMse5HM5kxZ+1JE6dJhBF0oBZ38SUrhTda5xGlp44Q+EG2kzTTECOyTL1pygL1eQcSSJABEgAkSg6xIQb1UDxr4vazim38jz0h8IuafioEOWi4b9DenvKNmhBt3osi5jnNcL5dCWx+2satYnp4k4fzq8iWxiz7BTskxg/AfST5IIEAEiQAS6PgENVP13XwE4Orz3oOmdX+vLl9Dkajpf11Q/RZ7lnP1Z+jtKdqhBf+N2QGPunRy39VxzZEcpeiP5TO4ZPgeAVXmujX2owP64x0+CCBABIkAEujCBvF150QD8KVnFkX2HnwAGMuh3ue3Ent1YqBEdwwZv8bMp2foLxURcR7gONehCIQ6gd7s3qnxSjUM7KeID4YxYu2ExZn0JHd7KRYHQg8okAkSACBAB/xJocEA2YxDN8AMAZ5P6DJuN3oAc4kUsp+xnJsjCFcZflv7rlVdLjybvaqev/9zydOsm7Eo4IK8sPtN4UPoDIefEh4vX5Ln3l0eDPuzhgupvBEIPKpMIEAEiQAT8Q+C5I38R7/HQVzcl9hq8T4EON3ftrkz52cNrMbF7YjaOnZ9+Jjn7Xxju8KNTasgVWCI1PV4b2MlxkUaI6x9t1Gffa0z7hdSNJBEgAkSACHQ9ApFVDf+JtXLvxgYMKscljErFcMCOfecOx+mFc8jT/R3suXmDfhmFtDCmz97DsYK43VbMwq8AABAASURBVFUO8Zq4y6T0T9RtCZE+rXQYQGPp/uFOpRABIkAE/E3g+a2vWhmHH8lyh/YaKMauZdDv8mxt5Q7fneGM4eZXOkuJTjHoK2dYLzLO9J3jtlQ2mTurAu3JV7TSB8UY9VY6MPaz9lxHaYgAESACRCC0CCiK60cAzCq0BgYV4xMC2zrfdnJPndBFOOxu//vTYx67KPyd4TrFoAtFVc5fE1K4BidPOd+k6WvCRVw7XYcly+jnbqW7wQJjfTMLqvXZjx1WCGVEBIgAESACASOQuyuvL+Pwn1KBkX2HHwzk2HnLUrU671I1ZviD1K0zZKcZ9LfmxRZyzvRp+fknG053RgXam6dopQ+ONm6V6YHz//lWIRcTJ2QUSSJABIgAEQhlAg74H2ydu3/XAeDYmPjEgM1sFxhLj+0S3f2epWp827PJ39NtkDjf0a7TDHqLojy3RTJW2axOaXJyuSZcRvtVzusfOQkLdLfSGbC4Zk6tdORBBxEgAkQg5Ankbn11GDC2QFZkXL+kgC2ZFjq4NFddRc25ycIvHAf2opCd6TrVoC/PiP0r875WNazoTJO+JrwzK3WlvMMNYB0W422lc85/8vXPeNSV0lM8ESACRIAIhAYBUNSfS02xm/1IYu8hM2U4EHL7qb2iNR4tysax89PPTsr+p/B3putUg+5WXGH6mMHBGscYl+aODdhXRv/IyZyzaqEAdslYXSb7IuHvBEdZEgEiQASIgB8I5JblTcRiHkbnPiYNGHPO7QnQl8o1drTyhFhd1aIB7/zWuSio0w26KwyWYku4QRSGrlfp+aY1KAN2mBWITrSa9VerMgb/88jq+nhGHyJABIgAEQhJAqAxfSmYQTHsGRw3YGogK7Knonw1lu9ee44NyFpj72ZdP4zvtKPTDbp7CRuwv8galF5o7if9gZIZ/cKn4FhLpSxfdTpfkv6QkaQoESACRIAIsBdL877CAHQDPnv4FEMgsWD3Ois/d2So1AEU/vunBzzt3q1UxnWW7HSDLhTnHH4jpHAuzoYdrHGWCH+gnMkAkVP7hOkz8BmwzMz8mhmB0ofKJQJEgAgQgRsjoHH4tbzSGh6zNi4qdqQMB0KWnzu2nnOtvyzbydXfSX9nS78Y9BUZtkOcs3dkZdZUNAZ4JJ2xyT3DZ5sA9kmdALQ86SfJCAERIAJEIOgJ5JbmiU1kBnoUbZiVOCXJ4w+Y2HN6v3vLWaEAZ+yVnyQ/dV74/eH8YtBFRTRQ9KeoehefHOiNZoROdw2KdAnpcRMzC+2PevwkiAARIAJEIIgJ/Hbna31w6PS/pIqDevTbHG4M6ynDgZDHL57eonJ1uF62Zuj0pWp6Wejxm0F/K92yDsvbhk4cUBDgjWaEEgOijGOtZsW7zzxnv/rSWh4jzpHrRAKUNREgAkTgJgk4nM5fMAbuZccAcHLyoIlpLMCfbSd3hUsVsHW+ctHkJ/y6Q6rfDLqopMbZL4UU7nyzOt3erJ0S/kC6Lw+KGoDlN6PDoXTWK6q5+n+FnxwRIAJEgAgEJwGxTA1b549J7SYmjD4h/YGSJ+yntjpV1zi9fIP2vO73k8evBh3H0ldiveS4tfHTkw2HMRzQw2JW+g+ONnpb6cB+OL+w2ttlElDtqPAbIECXEAEi0MUJgAavyyqajebtQ3sNmi7DgZIlx3a5XwgjyueMf7xowpOlwu9P51eD7q4Y8B+7JX5VNqkzq5q0Y+gN6HF7/8hWy9gMnOub4QRUMSqcCBABIkAEWhFYXLr0KexOFdt4i3jXnMRpuiEVEYFwh88f26BqaqIsWzNq+utbZZw/pN8N+rK5se/i04vcAlb55ER9QPfbFZDbLmPDrpw7sgrsXxXnyBGBVgQoQASIQMAIvLRtaQJjmj5029/Wd601PHpwwBTCgtGese2n9vZFr/vA8LIfjf/+TnfAz19+N+iifgCK/vRy0aFNP9+o+XXigNChrRPL2MwGpt8Eztjv5hfy6LbpKEwEiAARIAKBIeBS+SvMMxFOATh6y+DAT4Tbe+bgWo1rQ5jnAwbtpx6v30VADPqyudZPGWcbPLVVPj1ZH9B9dz16sAcGxQgD7l7Khq30vgZerb8tTqYhSQQ6kQBlTQSIwBUILC57+csA7B7PaT5z2OR6BQJiwjwqMMY5Z/sqDg6TEdgQXJoz4ftHZNjfMmA0VGbQW+nVDm1aMLTSe0YoQ4bGGNfKm4BGfcHDBfYUGSZJBIgAESAC/ieQtysvmmuArfOWsntEWdf0juk1piUUuO9dp/cVYxe7+10gaNubmJnrb3wLhFYBM+hvZcSsxlb6F55Kw8cn6vW91T1xARG39Y9KU4DpT1ga438NiCJUKBHoaAKUHxEIUQINDvZ/AOAep0YDen728KnJga6KqmlN+88dHi31AGC/WTQ2+4wMB0IGzKCLynKF/URI4Wqd2tSKRpdc0iaiAuKMSOTegVF1snBgMDarwL5IhkkSASJABIiA/wi8ULJkGmPwFPN8Jg+ceMSoGMXwqCcmMKLsxK6NaB96idKxdV6taoYXhD+QDs1X4IpfPte2FZ+23pcafHKsQTekMi4QckC0cVzvSIN4/Z27eNTxua8VNuib7bsj6YsIEAFfAuQnAh1O4IV9f44B4GL/Enfe0eaoDYPjEqa4AwH8anI1nz928eRkrwr8lz+a/ES1NxwYX0ANuqgyZ6b/EVK4BpVPPlLjlEvaRFTA3JcGRk0AxtyT9YBBhMYdfwqYMlQwESACRKAbElDqm3+Hv7/uxhTKyrlJM0YFA4YNh7eKt3W6ewmwdX58UUp2UEygDrhBX5EejQac/1PepE9PNkRrXIYCJ8MNYJ3VN+Kgjwa3Z+VXfdsnTF4iQAT8RYDK6XYEFpfk3cuA6b+5twyacNRsMNkCDaKqsebQxfrq2boeCntG9wfYE3CDLurPzWZ9jFrlbNjqisZiER9oNyHOPCPaCFt89PjDw6vsQ33C5CUCRIAIEIEOJvDL0t/34gB/k9lawqPXDujRz6eLW57xv1xbvrkWSwV0Yt3apkWTFupDAu64AH4FhUFfPivqNOf8F5LDripHcoOLB8Ws968OixmKd+6CWzeAKA1Y0Nw8t070RQSIwM0SoOuDjICRG/6Bv7uxQi0AOJs2Yvp44Q+0O37x9BaH6pgo9eAK+570B4MMCoMuQJhctuexp11O+Y95/2i9GKMQpwLqIo0Qd9uASH2/eQCWnFlQFdC1hgEFQoUTASJABDqRQG5Z3rcA4DZZxLQhKRUmg8kiw4GS2OhkW49v7+1T/t8WTcre5hMOuDdoDPobt0M99l/oW+ZVNquzzja49gecECqQaDElJ0QZ9WEAYPDfDxVWT8NTdBABIkAErk6AzrabwItbX01iGuTJC2IjbKv7WXvrLWIZHwi5q2L/ajTqg9xlc95o1Az6i8bccUHwFTQGXbBYnh77OuN8j/Cjg/eONrhQBsXxpYFRqQYFyqUywLW3vraRB/ypUepDkggQASIQygSe2/pqJFdcHwCwSFEPbDidmDNialCMmzs1V2352SP6JjI4vv/LH0x+okLoGUwuqAy6GwwYF7olfjk4H7PlfLO+FStGBewwIKmvDok2ogJN6Bj+sQ1Q66tpKZuAQY4IEIFAEegy5UYprr8xBsNZy6d57ohpTUbF4DbuLVGB+15/aEspZ7ynWwPOKhYlL9TnfLnjguQLzVSQaOJRY1l6jNgb9z1PkG0+15TkVHmDDAdSxoUrQ5J7hm2WOuCT5PzMguqHZZgkESACRIAIXD+BxaV5jzIGX2GeT1LfYZtjo2ITPcGAigv19n2VdVVzpBJo2H8g/cEmg86gC0AqKPq6Ps5Yz09ONuhGVJwPpJvRJ3xOtM9SNmDaKw8XVwfFH14guVDZRIAIdEECfqjSCyV5oxgDvbczJixm3Zj4kd513ixwH41rbE35JtEzCy1a8NWLUrJXtPiD7zsoDfrKudaDnMFvJK7jda5ZlY2a/sIUGR8o+dCwmES8u+5d5BiDGK7y9+cXcveuQYw+RIAIEAEi0C4C4i1qCjB9+2+DYijPGDVjZrsu9kOirce2F6lclcMAzAXKN/1Q7A0XEZQGXdSmCTSxNKxK+NEZ/32sto6jJxiOCCPYvjQ4Shh01aNPkoHb9d3uPHEkiAARIAJE4MoEWEMz+zvzjpvXzUuaHWkAAwuGT3VT3dETVRUzpC7Y1f7jH09acFSGg1EGrUF/d26sHRj8p4TmUNm49Web9KVjMj5QckCUcez4uDB9wh4w+FJmYfX/BkofKpcIEAEiEEoEckuX/BcDuF/qPHnQ+L3RYZEJMhxoWXRgfT3qYEbH0JjvXpSc/bzwB7MLWoMuoL2Zbv0741x/61lZZXNKnYuLlrE4HXA3p294ao9wZZ1UBDh/LrOg+m4ZJkkEiAARIAKXElhcsvR+YOz/yTN9Lb2LBvXof4sMd4i8iUx2nt6/2qW6xsgsFJ895WVcMMqgNugCGFfYN/HpqFH40UX/+3DdYZRBc3x1SMxMA3jXpzOmLc8qrEkKGgVJESJABIhAEBF4sfSV0fg7qQ9RhhnDSmcMS0kLFhWbXE3nD5w9lCz1waHepc9MyvZ9p4c8FXQy6A368rmxRxHof0lyNU5t2l67Y5MMB1oakWDWsOhIAOYe7wcG0ZxrH87/glsDrRuVTwSIABEIJgLipSsa1z7BrvYIoZcCcOy20XOG4e+mCAaFK9y3XoyTuyc5c87P8MiwZy+jWFBGoTkKSr1aKbUiPfYlzlmZjCw41TjEofE6GQ60tIUpCXf1jzyOemjoGDA2zGio/pfwkyMCRIAIEIEWAiZm+AgbPwNbQqwuPWmmZjaYgqbxs7ti/5oGZ5O361+Bp55NelS8Xc2jcnCLkDDoAiGA4etCCoct9t4fHK8vEf5gcUMspgmjbGZ9vB/1mpeZb1+Mkg4iQASIQLcnsLhkyRuMgTSWfPKgCfus4ZYhLEg+dc0Np/ed8Xa1M8bfWxSoV6PeIJOQMejL0mN2oyH/laxnRb0651S9KyjeyCZ1ykiISLOYlY0yjE+iz6BR/64MkyQCRIAIdEcCi0uXPMuAPSLrnhDbr2hQj4Sg2Kdd6MQZZ/n711xEfxQ6DPHzLiN8W/hDyYWMQRdQl6fbfoJGXYxviCC8f7zBqGKECASLe3hY9ASjAgekPgDsj1kFtakyTJIIEAEi0J0ILC5ZKpam6Uu+wk1hW6cNnjiXBdFny9FtRS5VHStVUrjy9R+PX+ieFyXjQkG206AHT1U0btB36lE1nvjJ8fqi4NGOMTTmEY8kxtiAgfdNPNz1/kPFtaOCSU/ShQgQASLQ2QReKFkyjQH/tyzHAEr5baPnBNVvYVV9VfmJqopZUkdsnv/lmZQFn+nhEPIoIaSrW9W3MmJWY6P8j+4Afh2tc805Ue/ahd6gOaKN0Purw6LFC2Vq3EoBWBSX65P5q2t7ucP0RQSIABHo4gReKskbrgD/RFYTGzln7hj2ZEopAAAQAElEQVSbZjMpJne3towPpFQ1ramoZa92o1sPzk6EWVz6hmbuuBD6CgqDfr28TE7r02jU5d7uyvtHG3o0q7zFeF5vZp2Uvle4MuzuAZFizXzL9rAAgwwu9eNOKo6yJQJEgAgEDYFf7VgSqwJbxRjYGH7w97o6Y9TMxnBjeFA1atYe2rRJ45p3Yp4C33gq8amgsiWIr91HSBr0N26HembgD8pacsb7vXWkbrcMB4scYjFNnNIrbIPUBxibnFVgp+VsEghJIkAEuiQBg5Nh4wUGycrNGj7lWDDNaBd6Hbt4amtlXZU+v4lz/rucSQuCaghX6Hk9LiQNuqjg8tTYMhyb0V+zWt2sTd9a2bRGnGvtAhua0jt81qAYo+8fyYNZ+fZfBFYrKp0IEAEi0DkEFpfmvQ3Apnly5ykDx27uG9NzvCccFELsBldyfMdQrzL8QEOPyB95w6HpC1mDLnAvmxv7a5TYrYPfeGw825xc5dDEBi8YCp7j3oFRaVaTdzkbA/bTh/KrnwweDUkTIkAEiMDNE1jcstb8AZnT4J4DigfHDZwiw8Eiv9izpgJb5D2kPtzAs54b8u0mGQ5VGdIG3Q0dlCyUlejEEbXyUJ1fd/URhbbHfX1EzLQwA9sp0yrA/0Br1CUNkkSACIQ6gdySvH9gY0Vfa94jyrY6ZcC4oNmjXfLddLSsyKE6fXoM4D8WTXiyVJ4PZRnyBn3ZXEslA9B3kXNofMzHQbaUTf6BfHOEZbBRgf0yjN1Sf8wqrPmmDJMkAkSACIQigdzSvD8DwNek7jERMevmjpgxR4aDRZ6prdxxsqpC14sz/mlO8oLfB4t+N6tHyBt0AWDZXOunnMFvhF+4w7XBt5RN6GVWIOabiTG9DAqTM/QZ49pfswqr7hPnL3UUQwSIABEIbgKLS/LygMF3pJaR5ohNtybNminDwSKdqqN67cFN8aiPx+7xYyZwiB5ejOoah6dioV+Z5eliKRuX69GVD47VxzZrvDrYahZhhB5fT7REKsBO6rpxeOfhguq79DB5iAARIAIhQGBxyZLfYA/pQqlqpCl8y+2jU6eigZdRQSM/37umHPXSl80BsPk/mPQDe9Ao2AGKdBmDLlhwzSCWsrknNmicJfyzvPYgFyeCzEUboU/W8BiNATsvVcOun4++WmifJ8P+kFQGESACROBGCeSW5b2Ev2H6Jixmo3n7bWPSblEg+MzK9pN7ipqczb57x//wmUnZW2607sF6XfCRvwlSK+ZZDjBQviezaHDxlE+DdDw91qwM/OqQ6GrOmd6LoHD+fmZRzWypP0kiQASIQDASWFya9wfg8AOpm9Fg2HXHmNThhiA05udrK3cdPH9Un5yHjSccN1/4ktS9K8kuZdDFjVk21/I3xtmfhF+4Q7Wu1AN2Z1C9alXoJVzvCMPw+wdFnQLGxDaxDBhEME39OLOwSv/jE+lC05HWRIAIdEUCOGb+R8ZAX3ZrUAwH7hyTPiCYtnRlnk+9o6FizcEtfT1BIU51tXFzUSnpupxBFxVblmH7LuN8h/Cjg89ONgyvcWjeMWuMDJajf4xx9J0DIg+gPu6hAjTq0fjkW5i1yn4rxtFBBIgAEQgaArmlS5YwAP2V0EaDce/dY9P7mg0ma9Ao6VFE1dTGVXvX1GCLvKcnimkKPPCDST/oUuPmsm5CdkmDLioGLPxLKN03DoBZ3zxYV4/hoDyGWkwTb0uIbL11rcI+z8yvEq8dDEqdA60UlU8EiIB/CeSW5v0NGFsgSxXd7HeNnTvQZDBZZFwwyU/3rt7p0tSRUifO4CvPTlywWYa7ouyyBv3NjIhjGmcPyZvm4nzkm+W162Q42OQImynl3gGR21Ev/cEDAP79UGF1JsbRQQSIABEIGIEWYw7fkAqICXD3jJ03LBi72YWOm46UFjU5Gn12qOP/b1HygrfFua7suqxBFzdtRYbtc87Yr4RfuIsObeb6s02rhT8Y3SCLacL9g6OOt5kotyyzoEpf4xmMenc9nahGRIAISAK5JXn/AOY15mHGsFJsmU/AsfMImSaY5NELxzeftJ/xmYfE/52TnP0/waRjZ+nSpQ26gLY83fYTxpn+xrPSyubpp+pde8W5YHQJUcZRmcNiKpnPkjb8Z/rzQ7T3ezDeLtKJCHRZAs9vfdW6uCRvDfYU6jvAhZvCtqIxTzaAISjrfaG+an/J8V3jdOU422Ho1axvR6vHd1FPlzfo7vvGjfejUT/r9jNmevdog63BxSs94aATvSKUYY8Mi2lCQ35aKufZ+/0ZGSYZugRIcyIQ7ATQmA80KK7NDGCW1DXaHLXh7rEZk4NxnbnQsdHZdK74wEYxnu/uOeCcn+Fh/PanBzzdKM53B6d0h0oumxd9lhkUfYIZZzz+jYO1510aD9obbQtTBnwjMVpRgB1lng8AW5xVYM/1BEkQASJABDqcwOKSJeMNoJYwBiOY5yNetHL7mNTpnmDQCVVTGz/bU1wtftvdynHeiA2i2xeNzT7jDneTr25h0MW9XJZm2YA3+2nhF86p8lFvlNfuwvFqEQxKF2NW+n57hMViVEAsa5M65mTl29+UAZJEoDUBChGBGyeQW/byXZzhECUwfanX4B79i4LxRSuylvi7zj7fU7wLjXqiHgfK13NSFsqlyzK6y8tuY9DFnVyeHvsblH9B5z7qXfyWfx2tC9pJckJJsff7t0fG9Ak3KmIGvIhiDFhWVkFV0ZfW8hhGHyJABIhABxBYXJb3XeDKR9gTGOnJTh2fkLQuZdB4nwlmnjNBJAoObFjT4Gy6RarEged0hxntsr6+slsZdFHxZem27zDGi4VfuLMN6pziisYi4Q9WF6aA9TsjYiZYwxR9ch9jkBrlsG/4WmFDf0YfIuAnAlRM1ySwuDTvD4zDH31q1zB1yKTtib2HBt1b03x0ZNtO7Cmy19t9tsvmf140KftF3zTdyd/tDLq4uUqk7UuM8z3CL9zOi45UdBuFP1idAow9Mjxm+uAYo8/DB4zRNMfWhwprxwar3qQXESACwUvg9+W/t+SWLsHfFNC3cgUGlWkjpp/ob4tPDl7NGTt28fSWQ5VH50gdsev905zk7MdkuDvKbmnQ/zkNahQl7Ha84ZXoxAHYSk8+Ue/aJQLB6gAVu2dgVNotvcPWoFdFx7D7vY/CXeuzCmpTGX2IQEgTIOX9SeBXZUsHN9cYNuHviv7boYBy6LbRqc1xUbH6Dmv+1Km9ZZ2vu7hn67FtoiHjtmFozLc2aMYH23t9V03nhtFVK3e1ev1zbuRJDuxO/ENo9KQzv3e0vn9Vk3bMEw5aMbVX+OzbB0Rux39E90tdGAMcS1eLaFc5Rh8iQATaQeDXZXkzDJyXMoAkmTzcHLH5nvEZfaPDIhNkXDDK+ub6k6vLN/ZB3TzL09hxVwS/47nJT3h+D/FMNz26rUEX93v5XNtWDoavCr/H2ZYdrjU0uPgFTzhoRaLFlPyVIVEn0Kifk0oqnC/LzLcvlmGSRIAIeAmQr4XA4tK8RzUO6/C3I7YlhrHBPfsX3z1m7hSTYoqSccEom13NFz7fu9aJusWhE8dFI+MZPxn1ZND/ZgtlO9t1a4Mu4K6Ya/kQW+n6cjaNs/7/KK894wriNepCb+H6RBpHfmNEjGoAOCjCwgGwZzLzq1bfv6pG/sGLaHJEgAgQAYbG/HeMwZ+Y91M1a/gtO1MGjNe73b2ngsvXrDqrPt5VaNe4OsSrmXbP0ynZ+u+fN757+rq9QRe3XSxn44wtFX7hHBof89f9tftVTYSC28WYlPhHR8bERxuVzVJTAJgdrqjbHi6wp8g4kkSACHQmgeDO+1c4Xo7GHH8j4CmpqUEx7LtrzNymPjG9xsm4YJUO1Vn9ya6C8xrXhuk6cv6lnOQnfVb+6Ge6rYcMuufWL0+3LcSW+keeIGvS+MS/H6zZjC12GRW00myAqG+NjJkyymYWy/FaJssx6I8PKVuxC/57Qas4KUYEiECnE3ihbMl9Rq7tZAz0tdqxkbY19024PSnCHBHPgvzj0lx1n+wuPK1qqr5zHec8Mycl+4MgV93v6pFB90EeDrav4B+KmEHujq138inLDtWuD+bd5NyKer4yEiJS7x0UtQfHxuTsfQbAlmYV2F/3JCFBBIhACBK4EZWfO/KX8NzSJa8pnL3DGESzlk/j2IRR69JHzvBZu91yIhi/XZra8NGu/KMu1TVK1w/444tSslfoYfLoBMig6ygY++tcaKq32u7AqBJ07qOqWZux4lDdWncgBL4GRRvHfXOkRQszMHwi1xX+Nhr1rbQJjc6DPESgSxNYvH3p2KiLDWX4cK+vy1YAjmYkzTo9sveQmaFQeVXTmrBlXu5SVbE8za0yNriezpmU/Zo7QF+XECCD3gbJB5OhwaVaMxjn+j7Alc3qrHeO1ovu7DapgzMYbYTe3xlpHdc/yuirc4rGHTsfKqh6IDi1Jq2IABHoCAIvluUtZCrfid1z+pI08aa0e8bP62WLsHjHoPXCgs+jco2hMd/jcDkmSO1wCPHn2DIX23fLKJJtCJBBbwNEBFfeCtVN3JCO/n3o3Mepelfqx8fri9yBEPgy4KP5fYOjUuf2i9iM6tajE4dNYfB2Vn7VG/O/4FYRQY4IEIGuQeA3Zb+x5ZbmfcI55PnWaESfwatvH5M6PdiXpPnq/Onuwq3Nrmafner4y4uSF/6vbxryX0pAuTSKYgSBd+ZZLriMhjn4VHhEhIU7XOtKKzrd6NvqFdFB7cbEmqdkDY85bwLQH07wyf0Rg2Lf/dX8Wn3bxKCuBClHBIjAVQm8WPryHKdm3gsMxJChOy12sZ9KGzFj37h+owP6f+5Wpp1fqqY2frBz1fYmZ/Nkn0veyEnO/r5PmLxXIEAG/QpgRPTKOTHnmcGcyhk/IcLC7apypK490xTUb2gTevq6uDBl8GNJlqQBLV3w+IzC0KZDggHUYhxbz2X0IQJEIGQJLC5d8mvOlGIA6CsrERUWufGecfNi4qJsere7PBes0qk6az7ctepQq252zlbkJC/8RrDqHGx6kUG/xh1Znhp5QjUAGnV2RibddqF59qbzTWtkOBSkAe/0l7EL/s4BkdtQ3/Po5JGTWVC18yF6wYvkQZIIhASB3LJXEnNL8sRcH31jLFS8Rsxiv2N02jSTwWTBcEgcTtVR/dGugjO+E+BQ8eWLUhZmorzKQad8CeDPvG+Q/JcjsDLVdkRlSho2baUhhC3nmmeHWve7qNswi2nSd0ZalGgjbBFh4bCbbqzC1Z1ZBfYcESZHBIhAcBPILVmSDVw7gK1yfVMYo8G4864xc+tDZRa7JNzkaj7/4c6CSuxu964zZ/x1bJlnyTQk20eADHr7OLGV6Zb9qsGYwTjT9wwW3e8fhtBEOVnVSCPEfWuk5ZYJcWFi6KCZeT+5mQX2jQ8V13rXfHrPkY8IEIEAE3ix9JXR2CovAWAv+6jiHNyjf9GXxt86LhQ2ivHRmzU4Gs98AAVP2wAAEABJREFUvLOgqc0OcK8tSs5+1DddoPyhVi4Z9Ou4YytTo3e6QJmJRv2svOxorStt5ZG61dh6l1EhI2f3DZ/z1aHRJwy+e8EzNlVR1T1ZBVU/C5mKkKJEoIsTEJvELC5ZspgzbTcA6LO/FYCj6SOmH00ZND4Ne9pCikJdc92Jz/YUqZzxAbrinL+Wk5L9uB4mz3URIIN+XbiYu6UOnM1gnOuvWT3boM5Zfqh23XVmFRTJe0cYhi8YbRk+OMbYZkke/E9Wvv1AZqHdd7ZpUOhMShCB7kTgxZKlt0ddbDzAgD3jU2813tILW+W3942Nik30iQ8Jb3Vj7eHP9qwO1zhP8CrMX+5extxb847ykUG/AZJvzrMdVpSwWdgq15e0XWjSZv7tQO0mfNy8gRwDf8k9A6PS5g+LKjcC7Ne1AZaIDy9bMguqfvf1z3hQv1ZR15k8RKCLEMjdldd3cWneSg78UzTmeivWoBjKsVV+eMawW9IMihIeatU9X1e5+4t9a+JQ717oWg7OXsyhpWktLG7imwz6DcL759zIk0ajaSZerq/vrnVqU/9eXrPVpWFsCB59wo2Jj4+yjBwbaxZr7eVmNPhbAk85Tfa9Wavst4ZgtUhlIhByBBaXLfkxa4ZDjMFXmPfjGNQyVp4Yiq1yUY3j9tMlq8s3DwXGvBtbcf6znJSFNCFXALpJ52vQbzKr7nf5P+ZEVYjNZ7D7XSwdcQOod/LJfy2v3e5QuW4Q3SdC5EvB/7S0fhGp30iMqYk0gr6nPTAYwBT2OXbDv/m1wob+IVIdUpMIhBSBxSVL788tWXKIcfZLABYplTcphj3zRs05PRnHyhUIzZ/t8nNH1285sk1s5Roh64Xj59/MScl+ToZJ3hyB0PzLuLk6d+jVYvMZMEMaZroNnftocmkTXt9fe7LOxc+5I0Lwy2JW4r8z0pIys3fEemDemf3YXM9SefOBzPyq/0fd8CF4Y0nloCTw/LaXx+SW5q1iwP+Nhnyoj5L1w3oNLv7ShNtHW8OjB/vEh5R3x8k9q3ec2jMDlTaiw4PXAyi3LUrO/jsG6OggAv4z6B2kcDBm8+ZsW5USaU3lnK+X+rk4H/m3/bWuykZNH2eX50JJTuplnoGG3dAzzKC/cQ4YRADAf7lM9nI07N8KpfqQrkQgmAi8tPtPPXJLlyw1aMou/L/K8NFNi420rbl7XHrDxP6jU33iQ8676UhZUfn5o/r2s5zxs8AMU56Z9L0vGH06lAAZ9A7C+c9pUKNG2OZxxvJllviH22/54doeJ+pcO2VcKMoII9gyh0fPun9w1F6jAt5Jcwzi0bD/JSu/antWQW1I/+iE4n0hnUOXwEsnXorILclbpDY3HwLGvudbkzCDuSx9xPRD4p3l4cZw78Qx30Qh4i88sH71SXuF6MFs0ZizXdygTn4m+Xt7WiLouyMJdBWD3pFMbjivlTOgcXm626i/7pOJ9b1j9SN2XHBs8IkLSW9ClHHUE0mWkZN7hq3BHyF9gx0GMJ4xtSizwP72w6vsvt2FIVlPUpoIdCYBHCPPVs+FH8KH4RcYAxvzfBSAoykDx22+Z/y8SbFRobcUzVMNt3CKfdl35pderLd7W+acF4ZZXDOfnfDUSXci+upwAmTQOxwpY2jUH2XA/ssn67DVZxqnF5xubLPW2ydFiHgBGJvWJ3z2o0kWY0KUQcyGV6XqeOoBrrBD2GL/bVZhTU8ZT5IIEAHGcIw8C435Qfwfehl/H+J9mFQP6zWo+MsTbh88OG7AFJ/4kPTWNNUd+2DnqqrmVq8/ZW8sSslOfyrxqZqQrFSIKE0GvT036gbSLJtr+z/G4WHfS/dUOVp2lcN+ed/4UPSHG8B6/+Do1KxhMcfQr08IdNcF4D84V49nFlT9/Gsbeci8IMKtO32FBIHcsrwXFpe+PD0UlF1cknfv4pIl24HBm2jMh/no3NDX0rvoS+PnsYn9x6QqITp73ac+7HT12W1f7F0dyzkfJOM5Zz/NoTemSRydKsmgdyLeZRnWZYwZ0vCPu1oWI3aV+6tYq66yJhkXyjIuXBn6WJJl4pz4iA3AoELWBf0R6P5bra8+klVgXzR/PdeXqsg0JInAjRAQBhI4LGIM5rEg/uSWLL1ncUneRgbwPgOGw1K6so6e0XHFd4/LqJ85bHKayWD2rsnWk4SeZ9vJPcUbDpeMQ80t6Bga8gZg7K5FKQt/KcLkOp8AGfROZrwsPaZYBcNU/OvWt4oVa9VfL6853ODk4u1tnayBf7If38M8PXuMJV688AX/iStlqdgi6YH+F4xN9kNZBdUL0U8HEbhhAr8qWzqYM3ijJQNIb5HB9f1C2ZL7sEVeCsA/YABTfbRziZnrt49Oq0xNnJoabgwL6Qlvsl4a19iq/WvWHjp/NBXjDOjw544d4kaW/Ezywk9EmJx/CJBB9wNn8aY2l8l4C2dsqyzOofLRfzlQo52qd+2VcV1Bihe+fDfJEjHSZi7CJ3S9Z4IxwDFDnpdZYD+cmV/9dUYfInADBIwafw8fEmWL1jt7+gby6uhLXijL+xqOk+9SOHuHAZvkkz+PCYtZd+uoOafEzPXosMh+PudC2tvkar6I4+U7qxtqZ+kV4awg3OJKfnbCQp8VMfpZ8nQiATLonQjXN2uxAY0abp3DOHuXeT5o4Pu8c7R+2NozTas9UR0vApCj2QBRtyZEpD0+2sKGWYxiImCdVANb70Ow5fJ3NOzlWYX2J2Q8SSJwLQKLS/LyWOuua5a7Le+2a13X2edzS5d+J7dkySGFwz+AwRif8lzW8Ji185JmH7lt9OyZlvDoQT7nQt57pvrsjo93FThdqkt0s7vrw4Hn5qQszKDJb24cfv8ig+5H5GJZ27IM2/1oyH/lU6x524XmOcsO1a4L1T3gferSyhumgPXOAVFpj460OAa1vM2tUSYAxobjw80raNjPZRVU/8/Da+yx8hxJItCWwOKSpfczgEuHbDjz3Yyl7WWdFn6h9A/9Fpfm/XxxyZLTwPifsdfAd7lmU8/o2OI7RqeemTdq9ixrRIzvuU7TyV8Zc+x623i0rGjd4ZKxnPM+slzg/MFFk7KflWGS/idABt3/zMWytp9oHO5ijNfK4sXb2v68r2ZfjUM7LeNCQLZLxQgj9Lh3YFTat0ZY6jxL3fTr0LDjOCL/mebgJzMLql5+OL+xS7Vi9IqS54YJPL/11YGMaX+9XAaggV8Nem5J3h3YGn9HYYZTjMF/M2DxTH44q+0T01NMdqtNTZyeGhUW1V+e6iqy0dFY8eGu/O2nqirEcIfHfvAjigLJz6Rk/7ur1DNU6+G5IaGqfujqvSLD+onLABMY5ztlLZycJ/29vDb8ULWzTMZ1JRltgl5iqdt3RlouDLeYi9CY+0yeg0hgkM2h+WhWvn1ZZnGV7xhkV8JAdblOAgZwvcUA3DOn8dKmaUOS9ZcGMWApv9z7sngVJ57qnENsz7q4ZEkOGnKxGcwn2Bq/r01J5weLt6BNuJXPGj6ly0x2a1NHdvTCqc2f7C6McLgc4gUr7tPYWH9X1YyTfjhxQZf8zXJXMoS+yKAH8GatTLUdqbPapjHG/+mjRo9PTjZM6Aqb0PjUqZU30ghxdwyISHsiyRp9S8+wNQqw1vvdA8sEFUozC6rWPlxQ/Y1WF1OgWxHILc37FfOZKT6i95BNCba+KQoohyQIcyPMlf6OlC+WvjwHDfkbarPjAgOWC8BadZ0LHUbFJ669b+LtvVIGjU8zGUzyoaMj1Qh4XipXWXH5puKS49un4HChTVeIsx8sSll4/48mP+Ez+VU/S54AECCDHgDovkV+MBkalqXHPqJx+L5PvCI2ocHW+kZHiL6G1acuV/QaDSx8ap/w2QtGW4fcmhC5JdwIrZ7yscU+kzP+t6z8qurM/Ko/zF9VO/qKmdGJLkfghdKXM/Bv4EeyYpHmiE3jEkaJpVGsR5QFu7xbzqCRmdfiu/lv7N63ohH/z8WlS3ZzphSjIX+kba7h5ojNM4ZO3n7/xDuGje6bOMsAhrZJuky4uqnu6Ac7vthfWXfBzd1TsVOaAlNzUhb+1hMmESQEyKAHyY3ALviXgcNUzrn+Q4Xj6dP+dKDmQkWja1+QqNkpagDmOtJmuuWxkZZJDw6N2tfDrKzDKBe6lgO7WwHgSaOi7s7Mt29G9935hTy65eQNf9OFQUzgxa2v9gQGes8V+ivmJc1MkioP6jEgTPpR3vQ4+ovb8mahIX/doKh2NOK/wTxbPzzi+HjvmLji20annrx7zNwp8dbeerczpu2Sx+6KfWtW7V3dW9W0kbKC+ID9sSHMPP7ZiQs2yziSwUOADHrw3Av2ZoZ1sxqhjMcu+GKplqaxgW8frh/++YnGIg2bIjK+q8r4CGPSw4kxM7810nJxdKy5CP9A9Q15RJ0B2C3o/mjU7GcyC+x/yiyo9t24QyQh1wUIaIprORrxPrIqM4dPqTT57KiWYOs7Sp5jDIZj9/h1T6ZcvP0PQ9CI5ywuzdvPNViDhvzbrM3HbDRvT+o7dM2XJ95umD18ampMF5zo1qbKzKE6q3GsfNO+M4dn47lIdPL40aLk7LufHvPYRRlBMrgI4O9lcCnU3bVZOcN6Ebvg09B2/8qHhfFAjSPtT/tr9mCrvVu8qSjaCL3T+0WkLRxjHXTvgMjtnvex68veGEAUMPYoML4xK99+CN0vgmoinc/NI+/1ERBGFhhkyKsGxMYX9YmJGyfDQorxaqPBsEv4hdOYQU8vwldyoiWei+Py6HYx1XCYActlDEYwnw+WfaJ/bL+i20fPOXHvuHkTxsQnzTYqBl/D5pO6a3krqs9u/3DnquYGR6P+oMw5O64An5mTvPCFrlXbrlcbMuhBek+Xp9t+whRlBuNcb6HiePpoHFe3ba1sWhukaneKWoMspgmZw6NnfTfJ4kzuGbbGrMDuVgUBG4o/zD8F90Q6e3lmgf2XD+Xbk1uloUBIEHhh29IpeC/RyLaoazKadkwZPEkskWqJ8PnuFROnr5JgTJvnc0r3Lt7+9yj3VqylS/6aW7rkomiJo8H+ETrfDWBE+uoeUbbVs4ZP3fnApDsHTB08MS06LHoA6yYflWtszcFNxesPl4zHYb/ePtX+G48KG/vDSdnrfeLIG6QEyKAH6Y0Rai1Ls2yoD7ON44z5vl89euPZ5llvHKzd0KTyapGuu7gwA1hm9Amf/fgoy5ivDo0+mBBlKAbGLvjWH8PD0f1YAVaChv0guv/rgi133yp3Gf8L+/4cA5r2tk+FLtyaNKePT7iVd3CPAXILWIb3/E558rc7X+vzYumS72Er/BOm1tUpYitWxr6JaWJlGo+ss4bHrE0ZOHbzg5Puss4dMWNO254AT7ouLWqa6o59sOPz/edq3RPfEJOoLreLjWKwVf6tZ5Me1ffLEGfIBS8BMujBe2/cmr0/C2qxtf6oxpT7sOtLH7uqbtamv76/tuFIjXO7O2E3++odYRgu1rR/bzC8pigAABAASURBVLQ17tYBkVs9E+nqfTHgL9MwdD/xtNzRuFe/9HBB9V305jdfSsHjh4bmPwMDfTOWaUOSj0aYwq5o0PtZ+0xC7RvQ4QG2xaV5r6Db7HQ6z3DGlmJed+CJtke1LdKyZvKg8VvQiEeLndwGxw2c0jZRdwlvO7m7+Iu9q/u0mfj2hca0MbRRTOj9FZBBD5F7tiLd8l5zuGEU/lB9KlXWOI//6ETDhPeP1xfJuO4mDcDYSItpsphI970kq2FO34gNUSa4ZAYuJkPjzn/AGf/I2FTdgC33VVkF9kUPFdRN6G7MrlnfACRYXJb3XbxH82XRfWJ6FSXY+qbI8JVkuClsj/ccPMEY3MLafDBfe4sRn7D1/ol3WDNGzpo9qEf/S9K1uaxLB6vqq8rf3/7ZnkPnj4nlaOGyshrjzyxKzr7t2eTvd7kdK2Udu7Ikgx5Cd/edmTHnsLV+Jwd40lft47WutCV7qo90tTe3+daxPX6jgYWPjzNP//YIy5THRliqknuFrQ43KqIHA5+DWueAP/JiEtULCnNtQ8N+Pivf/uZDhdWZ96+qiWudkkKdTeDF0ldGM439TpZjVAz7ZwxLuey4uUwjZV9r7zrp95XA4IRYZjZ96ORt9028w9ZixBMmK9C9f/JUTW1cf2hrUcGBDUOdmuq7NG87NhBGP5uc/WtfjuQPLQLd+687tO6Vru3yudY8MMAI7ILXN2LROBvyztH6Ue8erdeXvOkXdENPuAliZ/QOn/PYyJgJ30iMqRDvabealY2I4nIGoCcDlqVwvixc0SqzCqp2oZHPQ/fV+atre+E1dHQcgVY5PXfkL+GcaSsZQIT7BGe16UmzotpreHEcva/7OsY0MYFuSM8BRfOSZh9+YNKdA8Qys37W3hPbm5cnny4rTlefLXt/xxfnK2rOiYcl7244nP8XjpVPfDYle2+XrXw3qRgZ9BC90W+mWsuXZ9iSGbD/8q3CyXpX6pLd1ceO17l2+MZ3Z7/FrPSb3Td8ztcTY6YtGG2NvndQ1M7hFmOR2cB2IhcVXZsDxAzohRi5wuhSz2XlV+3GLvolWYXVj8wvrJMGBE/TcbMEIqsaW23iMr7/6J3Xs9Y7LsqWNKbfyHX3jr+15kvjbh2fPGBcWld7u9nNMm5yNV9ctXfN2g2HSyZpXBso8+OMf2EwsmE5Kdn/J+NIhjYBMuihff/Ysrm2/3O31hkTrU93bTTGBr1/rH7cO0frih1deOtYd2Wv88sACCfaOO6OAVFpjydZx313lKUuNT5iY59Iw2oFmL5EsFW2AKPxsgWM8zeM3FWBxv0wuj9mFVQvzCqoTaVXv7ai1e7AiyV5DyDX78kLxDh3Yu/BM2S4vTKpz7CZZoPJ5k5PX60I7DtzcO3HuwpYdVPtLP0EZ5UM2NfEWPnT4xce1uPJE/IEyKCH/C1kzN1aT7dNR4PzA865Z9Yvg1P1auqf9tVUHa5xbusC1eyUKoQpYB3Xwzxt/pDoOQtHWwdh9/zpGX3C1/UJN1z60hiPBmiEhqD7LmM8jzG1iDvZxcwCuzD0qzILqn6XmW//bmZ+zYyvbeRd8mUdHgw3JV7Y/vv+GoO/ykwUgKNpiTO69UQ1yaIj5MV6+/73dny+e3fFgVn4m9BD5onDdH8Ms7iG5Uxa+KaMI9l1CJBB7zr3ki3LiP2taoSxWKUCdO5DY6z/xycaJq48UrfaoXFaT+qmcuUv0T2f3DNs5vxh0bPRwA/5zgjL+TnYghdr3o0A+/HKSybYYRw2eFhfYEy8TOQpsTUtgLZOa6gWL5U5lVVg/wIN/p+zCqr/B7vvv52Vb0+fX1g9XFzXXZ2iGt5CTjGe+jeljZzuMiiKPtvaEx9sIuj1we71yoL969cUHlg/wqW6xNCR1HmP2O1tUcrCJ55KfKpGRpLsWgTIoHet+8lWptqOLEu3ZeCT+OPYYtf/cc82qHP+tK+2rrSyWbz4pIvVuvOqE2mCXuOxBd+y5t0y8vFRlrp5/SK3Do4xFsWYlE0KsKPsKh8A6Ien56Gx/w626H/GAF5nwPKNnJdnFdg5GvoKNPCbsFX/FrrnsYX/g8yC6ocxLn3+qtrR89dX660rzKdLHItLl/ySMZjOPJ8RvYdtio2wdesHHA+KGxY4Ns7EmvKPduSHVTXYxR7s+CeH2XHeiC30Z3OSF46h3d6QRxc/lC5ev25bveUZtteawo2JnPH3JQSN8/j1Z5tm/nFPze7jta7dMp5k+wmYFYhJijVNvmdgVNo3R8RMxVb84O+NsjSKt8SJrnph6KONymb8xxLj8dhBcvW88Ve3Lxr4KQBsPrpngcFLwPg/MS5fvF3O2MQvtBj+quNo8DdjC//9zAL7H9Hw/zyr0P5TPJfzUGH1f2SJ8fx8+2MPF1R/A8OZWQX2B7Pya+7F8O2ZhVVpWTjWL6RwgZy5L16JikR+jM59RIVFbByXMDLVHejuXzdY/9PVZ7e9t+Ozw+415cBkrwfmxv+tgTZ8UUq2vpUuRtLRhQng704Xrl03r1rLuvXYLyOGhxhnZ1G6DwfnY94/Xj/mHwdr19ubtVPuSPq6YQJGBSLEW+JEV70w9N8aGTNFvFTmyTFWRRj6WX0jNoywmIt6RhjWinXxwLz3or2FAoMBaPBvYQD3AmPfBQb/jff0F3h9rsL5b7H1n8eAvYYPcH/D8DKM/xcD7X0MfwocChmO9QNK4QyqGhADKl6JqnBlOermPgDgdMbImT5vTXNH01c7CdQ1150Qb0XbcLhkoqbxofIyzthRxiEjJzn7QdoghnWrj9KtattNK4td8G8pUdYR2A3/oi8CNOYz0KgnfHi8vgjH1y+3Pts3OflvgIAw9BPjzNNvGxCRljk0epZYF589xtpHtupTcXxevCZWTMKLMEAZPhzsR2MtdunqcvdDvBIVHzp6ejC6Zg+/pcrk80pUTzyJaxCoa244nX9g/ZrP9qyOb/NWtCYG8Nyi5IVDclIW6PNoPNmR6AYEyKB3g5ssqvjPaVCD3fA5Yokbhj9Gpx9Ha11pr+2taV5/rmm1HkmeTiWAhtvdqhcz7NP7RaSJSXiPJlkmoaEfmT3G0g9b99Ho2LdGWM5nDYs5LNbOz0uI3DytT9jacXHm4uEWY5Ho3h8UbSxOiDIW94k0rO4ZbljTM8yw1hamrLeYlY3RJmVzpAm2hiuwDR/mAvoin7avRB3Uo9/aXtE9x3Qq5C6WeaOz6Vxx+abiz/YU9bTXu8fJjT5V/ERVYFTOpAU/84kjbzcjQAa9m91wscRtWbrtbo3DXdg1d1BWH/1xpeeb5yzdU3PwUI2zVMaTDCyBaBP0igtXhqLhHpdkM02Z3DN8VmrfiFSxjl5076OhT71/cFSqWHaXOSx6tnjN7CPDY2Z8IzFm2rdGxEz5zgjL5MdGWSZGGiFg641f2LZ0CgOmj+OajKYdkwdNFLuVBRZuiJTe7Gq+sO7glqKPdxXEVNa534hm9qrODwDj83OSF97140kLrjpB03tNJ/goy6AgQAY9KG6D/5VYkWH9ZHm6LVFj/Ie+s+FVzod/cqIh+c/7akpP1rp8Xnzhfx2pxNAn0PJKVL7CpyYXbk2a3dcnTN4rEHCqjur1R0qLPtyZH3am9rx4AGrZHhfT4wN4OQ7NfCMnOXvkM8nZ/8IoOogAI4Pezf8IVqTHvsQUwzD8gXjdF0WjypPfPV4/+m8Hajeda1T1lrxvGvITgWsRUOqb/gaMDWaezzT3K1HDe3uCJC5DwKE67RuPlBW9t2MVq7CfEYY8WibDoZPDHPi3cZx8xDPJC96Q8V1cUvXaSYAMejtBdeVky+ZaKrG1/qjGjBMZ42t961rr1Ka+dbhu6JvlteuqHNpx33PkJwJXI7C4NO9RBnC/TNPeV6LK9N1NNjoaK4oPbi7+YMcXYafsFWn4IGT1MuDHGGffWZSycNiiSdn6Dnve8+QjAoxa6PRH4CWwIj16+7L02Nnu8XXOSr1nmHLRoc38Z3ltvNhxrtahnfE5R94QIwAcTUMn65xb9koi5/CyLOZ6Xokqr+kusrqp7mj+/rVrPt5d2LOytjIV6613reOdOoFDYt/LSc4enJOy8C94jo6OJtCF8qMWehe6mR1VFff4eoYtBcfXH8QWu+8GNKazDeqcv5XXWt8/Xl/U6OIXO6pMyqfrEHjuyF/CGVffAWAtW7ny63slatchcfWaXKiv2v/F3tXrV+1dPdDeUCN2dzPJKzhnxzmDhWjEB+akZL8q40kSgasRIIN+NTrd/ByOr/8bW+xjNYBHOGO+4+gRx2tdaX/eX2P+5ERjUZOTV3VzVFR9HwLilajA3K+gdcdOHDBm9/W8EtV9URf+Ol19tgxb45uLDmwYWdNUNwOrqv8O4//ZUdEix671QYuSFyzFc3SENgG/aq//Ifm1VCospAismGv9J46xJ2L333ext/aEj/LRh2ocaX86UBO54lDdmrNNrnKfc+TthgQWlyy9Hxj7nqy6NdKyZlivQdNkuLtKVdOa9lSUr3ln26dHNhwumdToaJziy0IYcs7g0UXJYlMYapH7siF/+wmQQW8/q26fclmG7U/L02MH4g/Pf3DGzvsACTvfpM5eeag+USx32293bsHzPqfJG0wEODDoDH3EK1Hxge9vMm8F4Ojcbv5K1EZn81mx9Ozd7Z827j1TPlvj2hDJR0jO2SHuMeTYIn9dxJEjAu0m0CYhGfQ2QCh4bQLL062/V8OtgxiHpzjnrWa+i+VuX5xquGXp7upj6880rXaqvOHaOVKKrkBAcRn+hePmMZ66NKWNnO4yKErLOLonsruI83UX96zat2bdx7vye3iWnsW2qjtnuxh3z1ofToa8FRkK3AQBMug3Aa87X7pyBjQuy7D+YXlG7CANlHs5Y/m+PDTGBpVeaJ7z6r4axwfH64tqnVqF73nyB45AZ8xyzy1Z8n8MYKqs1Yg+Qzd3x1ei7jtzcO37O7/Ysbp84+jqxtqZyEOf6MYYr0f3ZwA+JSdl4Th0f8HzdBCBDiPQwQa9w/SijEKIwIq5lg+Xp9vmuZiShIZdvPGr0Ud927FaV9rfDtTG//Ng7foDdmeJzzny+okA75RO9hblcdw8HVvmP2kJMRYVFrFxXL+kOTLc1eWZ2sodBfvXr3m77OO63RUHZjldzvG+dcZhiL2cwcJIM+ubk5z92DOTsrf4nic/EegoAmTQO4ok5cNWplv2o2F/vFkzDOCM/RS748Vbw3QyVc3ajM9PNaQs2VNT8fGJ+iJ7s+Y7wU5PR56OJ4Ctcj1TNO4dZt7FK1Gx1alv7QoMKjKSZo/RC+uinrrmhtObj24r+nfZJyfWHdw8vqrB/bIUfUc3xnkjZ/zvCvCZi5KzR2O3+tLssdld7g16XfT2hmy1Qsqghyzlbqb4O/MsF9Cw/xK74xM0gCw07ht9EWicxx+ucaX942Bt/z/trykrrWxe51JZk28a8nceATTueEs6Jn8O6l8ZsJ6e3Fwj3MGrAAAOSElEQVSzE2+5aFKMchzdE901hKqpjeXnDq/7cGd+6Wd7iuJPVJ1OQ6M9oE3t9iDcp1RujEdD/s0fTspe3+Y8BYlApxEgg95paCljQWDFXOvy5em26S6DcTz+0P0RfwB9WynQ5OKT1p9tmvnKvupmsQvdqQYXvRBGgAsBl1u25DE05ndLVQf16N/lXomqco0dvXBi8+d7ite9u/0zbcepfTObXc3JWGdA5z44Z03YG/VXjbPpOckLxyxKXviHH01+IqCvq3UrRl/djgAZdP2Wk6czCaxMjd6Jhv0JFWzxaAS+hz+CZW3Ks55tUOe8c6R+9NI9NeVFpxuLG1y8sk0aCgYJgee3vjoQOP+trzrYYh2wp+LgGpWrvtEh59fQiJ+4eHrrqv1r1r677dOakuM7p9Q214sJblG+lcGH020APJtHhfVelJL97WdTFrbqifJNS34i4A8CZND9QZnK0AmsnAt1y+baXl2eYUvWFJjCGROtdt9JdEzlPHFXlSP19f01PcS69s3nmtY2q7xGz4Q8N0WgI8bQjQZXH8ZgA/P5oCEctvfMgdnvbfu8ctPRsiJsyV7wOR3UXjTO7HT12bLCA+tWv7vtU/vmY9smVzfUzkKlLeh8Dl6P4+Ov4d/u1EXJ2ZOemZS95NmkR2t9EpCXCASMABl0P6GnYi4lsCLNusXTau+N3ZUL8Ud1e5tUiljXvvl886zX9tWEvXGgduPOi46NLq1NKgpeF4GOGENHQ7YFu5dv1Tgfjb0tf0Snz4HA+9jzZFVFGo41xxXsX7+mpqnmyHUp6KfETs1Zf/TC8c3CiL+z7dNzYge3i/XVc/Ah03aJCpy/wznPrI+N7JmTkv34sxMXbL4kDUUQgQATIIMe4BtAxTMmWu0rMmxLl6fHTtQApiOTV9HZ0fkeYdVObVpxReO0V/ZWVy8/VLfmUI2zDA2Jbxryt4NAR7TQZTHPpmTvXZSy8AnVxPqhIfxfjD+HTj+qGuyzv9i7dsgnuwq2nLJXlOonAuQRDxdlJ3YX48NG6fvbvzCXHN81xW3EOe/tqxL+XTVhS/wdxiCrXjNEoRF/YFFK9ornhnxbf3Bh9CECQUaADHqQ3ZAbU6frXLVirnXjsnTb99DFaqDcyzhbji2jtrvNWSub1NmfnGiYtGRP9bn3jtYXC+PedSiEXk1+PH5h1aLkhT/HVnsfBvxxxvgB31o0OJtu2XikLPnd7Z+V7ztzcK2K49S+5zvLr2pa0/GLp7YWl28qFkvMxMPF4cpjqc0tE9tMl5bLP8C/ua+DMVq0xB/ISV6w/LnJT7T9+7v0MoohAkFAgAx6ENwEUuHyBFbMtXy4LMOWpUbYemLLPQtbTB+0TYmtwt4n6l2pwri/vLu6/q8HajevPdO0usqhtdqStu113TncEV3uV+OXMyn7tZzk7JE4MvJlbOmu8U2ramri7ooDs97b/tk5sY67ydXcqa/gPXrhRNmWY9snV9ZdSMWhgLZLzNB2syrG2T/w3MORZh6Den8pJ2XhP3ImfKPeV2/yE4FQIEAGPRTuUoB1DHTxK2dA44q51uXLMmK/BCbWA43E44yzwsvoFVXn1KZsu9A855/ltQOX7K4+9vaxumLxshjaU/4ytDo56tnkhe8vSlk4R1EgGe+ZvvmMKBZ7XXqfqDqd9tHO/IjCA+tXi65wEd/RbmCP+NGYJz734bfnQOO9FSN+zgzaNOxV6IEG/OuLkrOX0cYvHkAkQpYAGfSQvXXdU/E3Z9uqlmfYXluWYUt3gTEef5yfxh/n/MvRwBbioIo6NVW8LObVfTWRr++vKSk63Vhc0ejaf7n0XTmO66umsTMcGPizrj+cuKAMDXumqhkGoSH/HWrg2/qNuFhvn4Nd4YM/3l24+XT1uW0dqZvJYLaaFMNeb578MTTetyxKXvi/OROe3OSNJx8RCH0CZNBD/x6GeA1uXP2Vc6PPLE+P/c1ysY98uDVS43AXdsujwWD7Lpdrg4uniOVwbx+uH4nd8zWv76vZ+vmpxqIjNc5tLo23Wjp3uetDOQ672XX10Y/PQHrQb54fTX7i+KKU7P8Mi1H7oWF/Fgs+hU4e0OhonLLh8NaJ7nH2s4fWaR00zt4zusc5WQjjkKb7yUMEuhgBMuhd7IZ21+q4u+UzrJ8sy4j9z2XptlHcbEpgDLKxq/cdNPKXW8NuaVD55AN2R9pHJxomvrK3xvjq3updYoLdLrtjExr/StZFP9hah0BW7anEp2rQsOfmJC/sjz0s32Sc7fDVRxXj7Kf3z0TDfm7rsZ1FDtXZdsWDb/Jr+gfGDbDoiYDdpvvJQwS6GAEy6F3shlJ1WggsnxV1elm6dQl2zz+ARt6qMmUWtgp/gcaj1WYoLand3yanxsaKCXZFpxqnYvd8TxyDPyyWx60/07QaW/HbG128UydwubXoZl+LkrP/jmPYEwCU2/D+fO5bfQz3PnbxRNoHO74wF5evX13TVHfM93x7/fHWXsmYthmdOHov3r50rPCQIwJdjQAZ9K52R6k+lyXwVrpl3fKM2P9elmGbgS144Ioyh3H2Y2whfoSt+MsaahyDHyqWx5VeaJ7z0YmGCX/eX9Mjb3d15Z/21mz795G61R5Dvw1b8yGzI9r/Z+/cY5uq4jh+TltEHt3ajcF4iCwKEf4A1vGSV8etOKMmakgk0UQ0hlfHHz62ISYaE40BYkzwD0QZGBlpuy1BBCMOCK4j4z1gPLZBN7bZ1DEYhrVr6drbe/ydbZ1ts7kFyrZ792t6eu6r5/E5f3zP7/e7514OZ7Bc7rzu3lJO+oZjYLVnUaLib2r7mUR/Rre08Th72dQj1/8829TaHPsAouirY/bUVE1Gap64RsIfkb0Q3sQcCSiJAAq6kkYT+9JvArbMhJMg7lttgv5Vm0mX3PHyGEY2EsL2QYC5rreC4Nw4v8Tm/u0LLe8S+rlgzSdDTP7unhr3JX5X/Umw6G/eD1YM1aVzg+1y740tP55j2FCVazC/q5HUkxhl22PCJdQXeLDw1K2KOeCOr7lxp77fcfbUhPEeXn5XQkHvAoGZsgigoCtrPLE3D0mg4+UxJt0uq6BfYxN0z4oa9XiJsFVgxW+FdAyE/G4fRac8CLF0fld9JVj0R12+DL50DoRe/L66tf6nG+7zvzR47WGxv98uOSUotI8yZXY6fs39cN76prz07M1eppkIwv4BoGqILB3i7M9dc1UvOXi55PZF59XSYCjwv283ezp5yoTu/1OGN8Z1w8ANJRFAQVfSaGJf4kageLn2bqGgPwBW/BZIL4LIj+fL5CihL4GF+wmIvBVc9RHLoXqtWhOSSJpXZPNdXtEYFvv9tZ6ndla1Eh6n55Z9Qa3ndHFd28nDjV77UeeDUi78FS3t5TX3g+ca3cHKZr/ogEmAqz30cC+pgTZ3N3Aouty7GxezwZ/SBsK+I89gTiMqaTV4UM5HXgIhk9T6FmfmoSvHR9gdZ+1tfm+PDxRKGZs0kxHSJfp0zPaKncsiy8FtJKAEAijoShhF7MOAEODL5CxCYolthW4biPxb4KqfZRV0lDK6EMR9HbiHd4Dg2EFknP1tEI/Tc8u+tV16vtkfWtbYJhpvugOZXPhPN/uXHHf5FhyG+H1xnXc6TAIm765xJ4DVTyCW74N0DyYFrl1VrXU/VLur8294KvfedF8ocHjOWBye8mKYIHCvwG9/eUvbRTYu3CYQdxrellOeO3dTUa4hm7+hDyxsdiCm7RBnv2csqbZP+aOq9MxtT0vUnfP8Wu2TY67zvCNRgm73DhD4oyQCKOhKGk3sy6AQsJgSz4G477Z2LJnTZ9oE/dROoR85LcTURsboO5A+A6s+Hxp4HHIH5I/0BWtzNKRkcNtPFhl5JiixmX5RmuMLsnmtAWnRPwFpCZ8gcK9Ag0fMhGu7H3tKYcbxSJUP8p/BWreDsK9SMzadMfIjpMgXpqi87b5F5bXnZh+qLKly3Gk4FV7PPlmXKoabDjMaFPQwDMwVQ0ClmJ5gR5DAECNgMY1qLDJpy2ymxAJIX1lNurUg9CshnwE5VWtGTGKELpKI6nUQ+bWQthBCvwUrfx+I1BFI5xkhDaC/bSSOH7la6LEIPsrIrs3LMK8XR0tTCGFfAr+WyGuCUmjWFVfV4oOXS5ouOa/aQdAnRpxfvK1mj/a/fdxCAvInoJJ/F7AHSECeBPYvH9NkExLPFgoJv4LI50PaahUSP7byG/NMupfB6l9gE3RpNkGvtYJrXxNUT6BqOgOs8gwNTARCRFpK1WojCJkJjmVRQl8B8X+t42Y+QlYzIr1NQ2wNI+x9OL82nEIBUiFPYj23+tOZm+6Bxf55boY5hRKyESZBUR4Q6P/EWy1O44ma8khBJ9QbMPZcIh5FAvIkgIIuz3HDVg9DAgVZ2jsWY6Kj0KS7WAATgSIhqdxi1JbBROAEHDsK8f3fQfwPFQr6AzABKLIJSRbLSv0+OLYXzueHU3GWrl6p+HIM5l3gkp8hUfIGCHt5TD/HRu2rJCFq/zHuYNFIYCAIoKAPBGWsAwkggQElsDndfBCEfalEVPMZIcU9VU4laurpOB5DAnIlgIIu15HDdiMBJNAngc2GDRfyDOY3KZGmQWjiG8bCS9fgr5TM/vridymwJfMvNh8JdBJAQe/kgL9IAAkomECOYVMjxNhzfUmjUgll6xhjV3l3R6hUK3iOCQkogQAKuhJGEfuABJBAvwh8kfaePzc9e3deRvZssNqNjKnAI9+vvw7bi7Dj8iGAgi6fscKWIgEkEEcCYLWX5aWbe4yvx7EaLAoJDBgBFPQBQ40VIQEkgASQQDQB3IsnART0eNLEspAAEkACSAAJDBIBFPRBAo/VIgEkgASQwOMlMNxKR0EfbiOO/UUCSAAJIAFFEvgXAAD//3rX3m0AAAAGSURBVAMAtGdS1GDZRh0AAAAASUVORK5CYII="/>
          <p:cNvPicPr>
            <a:picLocks noChangeAspect="1"/>
          </p:cNvPicPr>
          <p:nvPr/>
        </p:nvPicPr>
        <p:blipFill>
          <a:blip r:embed="rId3"/>
          <a:srcRect/>
          <a:stretch/>
        </p:blipFill>
        <p:spPr>
          <a:xfrm>
            <a:off x="3587504" y="1890848"/>
            <a:ext cx="1968992" cy="2017356"/>
          </a:xfrm>
          <a:prstGeom prst="rect">
            <a:avLst/>
          </a:prstGeom>
        </p:spPr>
      </p:pic>
      <p:sp>
        <p:nvSpPr>
          <p:cNvPr id="3" name="Text 0"/>
          <p:cNvSpPr/>
          <p:nvPr/>
        </p:nvSpPr>
        <p:spPr>
          <a:xfrm>
            <a:off x="496186" y="1183364"/>
            <a:ext cx="8151628" cy="443023"/>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PRISMA Flow Chart: An Overview</a:t>
            </a:r>
            <a:endParaRPr lang="en-US" sz="2820" dirty="0"/>
          </a:p>
        </p:txBody>
      </p:sp>
      <p:sp>
        <p:nvSpPr>
          <p:cNvPr id="4" name="Text 1"/>
          <p:cNvSpPr/>
          <p:nvPr/>
        </p:nvSpPr>
        <p:spPr>
          <a:xfrm>
            <a:off x="637953" y="1839039"/>
            <a:ext cx="2595132" cy="221512"/>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What is PRISMA?</a:t>
            </a:r>
            <a:endParaRPr lang="en-US" sz="1410" dirty="0"/>
          </a:p>
        </p:txBody>
      </p:sp>
      <p:sp>
        <p:nvSpPr>
          <p:cNvPr id="5" name="Text 2"/>
          <p:cNvSpPr/>
          <p:nvPr/>
        </p:nvSpPr>
        <p:spPr>
          <a:xfrm>
            <a:off x="637953" y="2145586"/>
            <a:ext cx="2595132" cy="1814426"/>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PRISMA (Preferred Reporting Items for Systematic Reviews and Meta-Analyses) is an evidence-based minimum set of items for reporting in systematic reviews and meta-analyses. It helps authors report a complete and transparent account of their research.</a:t>
            </a:r>
            <a:endParaRPr lang="en-US" sz="1105" dirty="0"/>
          </a:p>
        </p:txBody>
      </p:sp>
      <p:sp>
        <p:nvSpPr>
          <p:cNvPr id="6" name="Text 3"/>
          <p:cNvSpPr/>
          <p:nvPr/>
        </p:nvSpPr>
        <p:spPr>
          <a:xfrm>
            <a:off x="5910915" y="1841623"/>
            <a:ext cx="2595132"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The PRISMA Flow Chart: Purpose and Structure</a:t>
            </a:r>
            <a:endParaRPr lang="en-US" sz="1410" dirty="0"/>
          </a:p>
        </p:txBody>
      </p:sp>
      <p:sp>
        <p:nvSpPr>
          <p:cNvPr id="7" name="Text 4"/>
          <p:cNvSpPr/>
          <p:nvPr/>
        </p:nvSpPr>
        <p:spPr>
          <a:xfrm>
            <a:off x="5910915" y="2369682"/>
            <a:ext cx="2595132" cy="158762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The PRISMA flow chart is a visual representation of the flow of information through the different phases of a systematic review. It maps out the number of records identified, included, and excluded, and the reasons for exclusions.</a:t>
            </a:r>
            <a:endParaRPr lang="en-US" sz="110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8744" r="8744"/>
          <a:stretch/>
        </p:blipFill>
        <p:spPr>
          <a:xfrm>
            <a:off x="5715000" y="0"/>
            <a:ext cx="3429000" cy="6076064"/>
          </a:xfrm>
          <a:prstGeom prst="rect">
            <a:avLst/>
          </a:prstGeom>
        </p:spPr>
      </p:pic>
      <p:sp>
        <p:nvSpPr>
          <p:cNvPr id="3" name="Shape 0"/>
          <p:cNvSpPr/>
          <p:nvPr/>
        </p:nvSpPr>
        <p:spPr>
          <a:xfrm>
            <a:off x="496186" y="1931581"/>
            <a:ext cx="318977" cy="318977"/>
          </a:xfrm>
          <a:prstGeom prst="roundRect">
            <a:avLst>
              <a:gd name="adj" fmla="val 14815"/>
            </a:avLst>
          </a:prstGeom>
          <a:solidFill>
            <a:srgbClr val="CEDEF0"/>
          </a:solidFill>
          <a:ln/>
        </p:spPr>
        <p:txBody>
          <a:bodyPr/>
          <a:lstStyle/>
          <a:p>
            <a:endParaRPr lang="en-US"/>
          </a:p>
        </p:txBody>
      </p:sp>
      <p:sp>
        <p:nvSpPr>
          <p:cNvPr id="4" name="Shape 1"/>
          <p:cNvSpPr/>
          <p:nvPr/>
        </p:nvSpPr>
        <p:spPr>
          <a:xfrm>
            <a:off x="2928384" y="1931581"/>
            <a:ext cx="318977" cy="318977"/>
          </a:xfrm>
          <a:prstGeom prst="roundRect">
            <a:avLst>
              <a:gd name="adj" fmla="val 14815"/>
            </a:avLst>
          </a:prstGeom>
          <a:solidFill>
            <a:srgbClr val="CEDEF0"/>
          </a:solidFill>
          <a:ln/>
        </p:spPr>
        <p:txBody>
          <a:bodyPr/>
          <a:lstStyle/>
          <a:p>
            <a:endParaRPr lang="en-US"/>
          </a:p>
        </p:txBody>
      </p:sp>
      <p:sp>
        <p:nvSpPr>
          <p:cNvPr id="5" name="Text 2"/>
          <p:cNvSpPr/>
          <p:nvPr/>
        </p:nvSpPr>
        <p:spPr>
          <a:xfrm>
            <a:off x="567070" y="1949302"/>
            <a:ext cx="177209" cy="283535"/>
          </a:xfrm>
          <a:prstGeom prst="rect">
            <a:avLst/>
          </a:prstGeom>
          <a:noFill/>
          <a:ln/>
        </p:spPr>
        <p:txBody>
          <a:bodyPr wrap="square" lIns="0" tIns="0" rIns="0" bIns="0" rtlCol="0" anchor="ctr"/>
          <a:lstStyle/>
          <a:p>
            <a:pPr marL="0" indent="0" algn="ctr">
              <a:lnSpc>
                <a:spcPts val="2256"/>
              </a:lnSpc>
              <a:buNone/>
            </a:pPr>
            <a:r>
              <a:rPr lang="en-US" sz="1410" dirty="0">
                <a:solidFill>
                  <a:srgbClr val="000000"/>
                </a:solidFill>
                <a:latin typeface="Rubik" pitchFamily="34" charset="0"/>
                <a:ea typeface="Rubik" pitchFamily="34" charset="-122"/>
                <a:cs typeface="Rubik" pitchFamily="34" charset="-120"/>
              </a:rPr>
              <a:t>1</a:t>
            </a:r>
            <a:endParaRPr lang="en-US" sz="1410" dirty="0"/>
          </a:p>
        </p:txBody>
      </p:sp>
      <p:sp>
        <p:nvSpPr>
          <p:cNvPr id="6" name="Text 3"/>
          <p:cNvSpPr/>
          <p:nvPr/>
        </p:nvSpPr>
        <p:spPr>
          <a:xfrm>
            <a:off x="2999267" y="1949302"/>
            <a:ext cx="177209" cy="283535"/>
          </a:xfrm>
          <a:prstGeom prst="rect">
            <a:avLst/>
          </a:prstGeom>
          <a:noFill/>
          <a:ln/>
        </p:spPr>
        <p:txBody>
          <a:bodyPr wrap="square" lIns="0" tIns="0" rIns="0" bIns="0" rtlCol="0" anchor="ctr"/>
          <a:lstStyle/>
          <a:p>
            <a:pPr marL="0" indent="0" algn="ctr">
              <a:lnSpc>
                <a:spcPts val="2256"/>
              </a:lnSpc>
              <a:buNone/>
            </a:pPr>
            <a:r>
              <a:rPr lang="en-US" sz="1410" dirty="0">
                <a:solidFill>
                  <a:srgbClr val="000000"/>
                </a:solidFill>
                <a:latin typeface="Rubik" pitchFamily="34" charset="0"/>
                <a:ea typeface="Rubik" pitchFamily="34" charset="-122"/>
                <a:cs typeface="Rubik" pitchFamily="34" charset="-120"/>
              </a:rPr>
              <a:t>2</a:t>
            </a:r>
            <a:endParaRPr lang="en-US" sz="1410" dirty="0"/>
          </a:p>
        </p:txBody>
      </p:sp>
      <p:sp>
        <p:nvSpPr>
          <p:cNvPr id="7" name="Text 4"/>
          <p:cNvSpPr/>
          <p:nvPr/>
        </p:nvSpPr>
        <p:spPr>
          <a:xfrm>
            <a:off x="496186" y="389860"/>
            <a:ext cx="4722628" cy="1329070"/>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Phase 1: Identification - Developing Search Strategies</a:t>
            </a:r>
            <a:endParaRPr lang="en-US" sz="2820" dirty="0"/>
          </a:p>
        </p:txBody>
      </p:sp>
      <p:sp>
        <p:nvSpPr>
          <p:cNvPr id="8" name="Text 5"/>
          <p:cNvSpPr/>
          <p:nvPr/>
        </p:nvSpPr>
        <p:spPr>
          <a:xfrm>
            <a:off x="956930" y="1988190"/>
            <a:ext cx="1829686" cy="221512"/>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Objective of Phase 1</a:t>
            </a:r>
            <a:endParaRPr lang="en-US" sz="1410" dirty="0"/>
          </a:p>
        </p:txBody>
      </p:sp>
      <p:sp>
        <p:nvSpPr>
          <p:cNvPr id="9" name="Text 6"/>
          <p:cNvSpPr/>
          <p:nvPr/>
        </p:nvSpPr>
        <p:spPr>
          <a:xfrm>
            <a:off x="956930" y="2294737"/>
            <a:ext cx="1829686" cy="226803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This initial phase focuses on identifying potential studies from various sources, primarily electronic databases (e.g., PubMed, Scopus, Web of Science). The goal is to cast a wide net to capture all potentially relevant literature.</a:t>
            </a:r>
            <a:endParaRPr lang="en-US" sz="1105" dirty="0"/>
          </a:p>
        </p:txBody>
      </p:sp>
      <p:sp>
        <p:nvSpPr>
          <p:cNvPr id="10" name="Text 7"/>
          <p:cNvSpPr/>
          <p:nvPr/>
        </p:nvSpPr>
        <p:spPr>
          <a:xfrm>
            <a:off x="3389128" y="1988190"/>
            <a:ext cx="1829686" cy="664535"/>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Strategy Development and Database Searching</a:t>
            </a:r>
            <a:endParaRPr lang="en-US" sz="1410" dirty="0"/>
          </a:p>
        </p:txBody>
      </p:sp>
      <p:sp>
        <p:nvSpPr>
          <p:cNvPr id="11" name="Text 8"/>
          <p:cNvSpPr/>
          <p:nvPr/>
        </p:nvSpPr>
        <p:spPr>
          <a:xfrm>
            <a:off x="3389128" y="2737761"/>
            <a:ext cx="1829686" cy="294844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Developing a comprehensive and sensitive search strategy involves selecting appropriate keywords (including MeSH terms and synonyms), Boolean operators (AND, OR, NOT), and applying filters (e.g., publication dates, study types). Iterative refinement of search terms is often necessary.</a:t>
            </a:r>
            <a:endParaRPr lang="en-US" sz="110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wQAAALQCAYAAAAuI7dvAAAQAElEQVR4Aezde3BV153o+d/vHKEHR8IIS1gKEiALBMUjAfzgYY10HTOpVKh2pkwMIjPOTbo76SSddCfdnZukk+64O+k4lsBuGyRu/khRFe4Mw2WYqfkzM0G6EAr7jyBMEruo8R+5M3hqZqiZcISNkwh09uzf0Vlbwrz0OI/9+J46W2utrXP2XuuzZLx/Z+/z2ynhgQACCCCAAAIIIIAAAokVICBI7NQz8OQJMGIEEEAAAQQQQOB2AQKC201YgwACCCCAQLQF6D0CCCAwCwECgllg8VIEEEAAAQQQQAABBMIkUIy+EBAUQ5FtIIAAAggggAACCCAQUQECgohOHN1OmgDjRQABBBBAAAEESiNAQFAaV7aKAAIIIIDA3AR4FwIIIFBmAQKCMoOzOwQQQAABBBBAAAEETCAsCwFBWGaCfiCAAAIIIIAAAgggUAEBAoIKoLPLpAkwXgQQQAABBBBAILwCBAThnRt6hgACCCAQNQH6iwACCERQgIAggpNGlxFAAAEEEEAAAQQqKxCnvRMQxGk2GQsCCCCAAAIIIIAAArMUICCYJRgvT5oA40UAAQQQQAABBOItQEAQ7/lldAgggAACMxXgdQgggEBCBQgIEjrxDBsBBBBAAAEEEEiqAOO+VYCA4FYPWggggAACCCCAAAIIJEqAgCBR0520wTJeBBBAAAEEEEAAgfsJEBDcT4jfI4AAAgiEX4AeIoAAAgjMWYCAYM50vBEBBBBAAAEEEECg3ALsr/gCBATFN2WLCCCAAAIIIIAAAghERoCAIDJTlbSOMl4EEEAAAQQQQACBcggQEJRDmX0ggAACCNxdgN8ggAACCFRUgICgovzsHAEEEEAAAQQQSI4AIw2nAAFBOOeFXiGAAAIIIIAAAgggUBYBAoKyMCdtJ4wXAQQQQAABBBBAICoCBARRmSn6iQACCIRRgD4hgAACCERegIAg8lPIABBAAAEEEEAAgdILsIf4ChAQxHduGRkCCCCAAAIIIIAAAvcVICC4L1HSXsB4EUAAAQQQQAABBJIkQECQpNlmrAgggMB0AeoIIIAAAgj4AgQEPgJPBBBAAAEEEEAgzgKMDYF7CRAQ3EuH3yGAAAIIIIAAAgggEHMBAoJYTTCDQQABBBBAAAEEEEBgdgIEBLPz4tUIIIBAOAToBQIIIIAAAkUSICAoEiSbQQABBBBAAAEESiHANhEotQABQamF2T4CCCCAAAIIIIAAAiEWICAIzeTQEQQQQAABBBBAAAEEyi9AQFB+c/aIAAJJF2D8CCCAAAIIhEiAgCBEk0FXEEAAAQQQQCBeAowGgSgIEBBEYZboIwIIIIAAAggggAACJRIgICgKLBtBAAEEEEAAAQQQQCCaAgQE0Zw3eo0AApUSYL8IIIAAAgjETICAIGYTynAQQAABBBBAoDgCbAWBpAgQECRlphknAggggAACCCCAAAJ3ECAgkDuosAoBBBBAAAEEEEAAgYQIEBAkZKIZJgIIiAgICCCAAAIIIHCbAAHBbSSsQAABBBBAAIGoC9B/BBCYuQABwcyteCUCCCCAAAIIIIAAArETiHhAELv5YEAIIIAAAggggAACCJRVgICgrNzsDAEE5izAGxFAAAEEEECgJAIEBCVhZaMIIIAAAgggMFcB3ocAAuUVICAorzd7QwABBBBAAAEEEEAgVAIVDAhC5UBnEEAAAQQQQAABBBBIpAABQSKnnUEjUGYBdocAAggggAACoRUgIAjt1NAxBBBAAAEEoidAjxFAIHoCBATRmzN6jAACCCCAAAIIIIBA0QTmGBAUbf9sCAEEEEAAAQQQQAABBCooQEBQQXx2jUAkBOgkAggggAACCMRagIAg1tPL4BBAAAEEEJi5AK9EAIFkChAQJHPeGTUCCCCAAAIIIIBAcgVuGTkBwS0cNBBAAAEEEEAAAQQQSJYAAUGy5pvRJk2A8SKAAAIIIIAAAvcRICC4DxC/RgABBBBAIAoC9BEBBBCYqwABwVzleB8CCCCAAAIIIIAAAuUXKPoeCQiKTsoGEUAAAQQQQAABBBCIjgABQXTmip4mTYDxIoAAAggggAACZRAgICgDMrtAAAEEEEDgXgL8DgEEEKikAAFBJfXZNwIIIIAAAggggECSBEI5VgKCUE4LnUIAAQQQQAABBBBAoDwCBATlcWYvSRNgvAgggAACCCCAQEQECAgiMlF0EwEEEEAgnAL0CgEEEIi6AAFB1GeQ/iOAAAIIIIAAAgiUQyC2+yAgiO3UMjAEEEAAAQQQQAABBO4vQEBwfyNekTQBxosAAggggAACCCRIgIAgQZPNUBFAAAEEbhWghQACCCAgQkDAXwECCCCAAAIIIIBA3AUY3z0ECAjugcOvEEAAAQQQQAABBBCIuwABQdxnOGnjY7wIIIAAAggggAACsxIgIJgVFy9GAAEEEAiLAP1AAAEEECiOAAFBcRzZCgIIIIAAAggggEBpBNhqiQUICEoMzOYRQAABBBBAAAEEEAizAAFBmGcnaX1jvAgggAACCCCAAAJlFyAgKDs5O0QAAQQQQAABBBBAIDwCBAThmQt6ggACCCCAAAIIxE2A8URAgIAgApNEFxFAAAEEEEAAAQQQKJUAAUGpZJO2XcaLAAIIIIAAAgggEEkBAoJIThudRgABBConwJ4RQAABBOIlQEAQr/lkNAgggAACCCCAQLEE2E5CBAgIEjLRDBMBBBBAAAEEEEAAgTsJEBDcSSVp6xgvAggggAACCCCAQGIFCAgSO/UMHAEEkijAmBFAAAEEEPigAAHBB0VoI4AAAgkT2Dv83kcSNmSGi0ASBBgjAjMWICCYMRUvRAABBOInsOfnV59Myc039v6nscfiNzpGhAACCCAwEwECgpkohfk19A0BBBCYo8C+n7/3UFr1hL1dJ3L/0381cnWx1VkQQAABBJIlQECQrPlmtAggEGGBYnfd0xsnROVB266qLqv15D9YnQUBBBBAIFkCBATJmm9GiwACCOQF+kbGvucHAf9FvlH4oaK79p26+rVCkwIBBConwJ4RKKsAAUFZudkZAgggUHmBPcPXnlDPe971JJ3St11dVF/mS8aBBhUEEEAgEQIEBJWcZvaNAAIIlFng6bNeQ0omjrnd1qV19PNdi9qrVd9069S7+R8/O+LVujYlAggggEC8BQgI4j2/jA4BBEIiEJZuZMbHjqhoe6E/2b2rGtqq0lK7p7N+kb/uur/4Jwmk64/e2L9anQUBBBBAIP4CBATxn2NGiAACCOQF9p26+jm/sttf8s+e1rpL9VW61BqLa1LtW5fWXLB6YfmLvuGxXYU6BQIIzFyAVyIQOQECgshNGR1GAAEEZi/w7Olsh/+ug/6Sfz60MH3mw0uqt+UbhR+PNdd2+4HBuUJTVLyjz4681+LalAgggAAC8RQgIJjrvPI+BBBAIEIC6ZtyUlQz1mX7EvEnl2cesfoHl90r69epyOXC+sa0dzP4vkFhHQUCCCCAQMwECAhiNqEMBwEEii8Q9S3uG872q8rmwjjGn+lYKNXpyeCgsC4o6qp08Z8sz1zzV+T8Rfzg4N/sO5X9ltVZEEAAAQTiKUBAEM95ZVQIIIBAXmDPSHanX/mGv+SfGx+sfu2h2qrV+cZdfixvqFrfuaj6TPBrlRf6Tl91AUWwmgoCMRRgSAgkUoCAIJHTzqARQCAJAvtGrjWlPQku+XlgQer13pa63pmM/eNtdT3V01KRyoSefO5nXv6So5m8n9cggAACCERHIJkBQXTmh54igAACcxfwchYMNNkGVOTKpx6uX2v1mSyqkiqkIs2K//Df33Gj6tohv8oTAQQQQCBmAgQEMZtQhoMAArcKJLW199TYV/yx2+VCfiG5j7UvfMe+H2CNmS6La1Lt3a11b7nXq3qf3TecDdKWuvWUCCCAAALRFiAgiPb80XsEEEDgNoG9I+9uSKkXpBhd0VB1ZvWiBVtue+EMVmxaUr2jqSZ9duql3pG+0++7G5tNraaGQOUF6AECCMxRgIBgjnC8DQEEEAijwGdHvFrNTZx0fbPvAXxiWWaHa8+lfKYjs1mDVKTaIBPjJ+ayHd6DAAIIIBBOgegFBOF0pFcIIIBAKAT+4I29pCpdhc5ct+8BpNNSLfN4WIrSQirScduMHxxs7RsZ+57VWRBAAAEEoi9AQBD9OWQECMRWgIHNTqBveGyXf7D+JfeurUtrLtj3AFx7PuXyhqr16xqrz7ltqOc97+9vq2tTIoAAAghEV4CAILpzR88RQACBQODZkfdaVLyjboUfCJx7rLm227WLUT7ZWtdTl9bRqW3lTjx91muYalNDYM4CvBEBBCooQEBQQXx2jQACCBRLoCp347i/rUZ/sbsLX969sn6d1Yu5qEpq76qGNhEppCLV9sz42BHhgQACCCAQaYHyBgSRpqLzCCCAQDgF+kay3xTVnkLvcna9/2xTjBbee9+ivkqX9rTWXZr2wt37Rq7922ltqggggAACERMgIIjYhNFdBKIiQD/LI9B3+upm9eRHbm+di6rP2PX+rl2K8sNLqrc9tDB9Jth2bmLw2dPZjqBNBQEEEEAgUgIEBJGaLjqLAAIITAk89zMvIxN6S4rRj7fVuTMFUy8sQe2TyzOPpFP6dn7Tqpn0TQn6kV/HjyQJMFYEEIi4AAFBxCeQ7iOAQHIFbi7IDqmI+2Q+aylG7Tr/cohYKtJnOhbariZTkaps7hvO/tBWsCCAAAIIREtg5gFBtMZFbxFAAIFYC+wbzu4W0c9I4dHdWvfW4ppUe6FZluKh2qrVGx+sfs3tzA9Ovr3n1LtlOUPh9kmJAAIIIDB/AQKC+RuyBQRiJ8CAwi3Qd/p9/8DfC7L7NNWkz25aUr2jEr3ubanrnZ6KNKUTxz/9i2w+21El+sM+EUAAAQRmL0BAMHsz3oEAAghUVmBi/ISI5vP/+5/KX36mI7NZKviwVKR+P65YF/yyJXdj6n4Ito4l1AJ0DgEEEBACAv4IEEAAgQgJ9J26+n3/oNvdIXjcUoza9fyVHIKlIv1Y+8J3XB9UdNfe4ewXXJsSAQQQQCAMAnfvAwHB3W34DQIIIBAqgT2n3u1R1e+6Ttn1+6VOMer2db9y9aIFW5bVV512r/P/5/LK3p9f63JtSgQQQACB8Ar4/2aHt3P0DAEEZi/AO+IpYNfl2/X5bnR23b5dv+/aYSifbstsD1KRitRqaoJUpGGYGPqAAAII3EeAgOA+QPwaAQQQCIOAXZevIi3WF7+8YtftWz1MSzot1c9MpiK9Lv5DRTf0DY+95Fd5lkaArSKAAAJFESAgKAojG0EAAQRKJ9B3Kvt5/+B6l9uDXa9v1+27dphKS0W6pbnmvOuTivf1PSPZna5NiQACCCAwF4HSvoeAoLS+bB0BBBCYl4Bdh68qr7qN2HX6dr2+a4ex3LG0tueBBanXXd/SnhzbN3KtybUpEUAAAQTCJUBAEK75oDcJF2D4CHxQoHAdfq2tUOG/sQAAEABJREFUt+vz7Tp9q4d9+dTD9WtVJJ+K1O9rk3i5Y37JEwEEEEAghAIEBCGcFLqEAAIImIBdf6+iG6zuL9ft+ny7Tt+vh/5ZV6WL7dImv6M5f7Hnzn2nxr5qFZa8AD8QQACB0AgQEIRmKugIAgggMCVg193b9fdujV2Xb9fnu3YUSru0aUVD1Zmgr+q9unfkXRfgBKupIIAAAvEWCP/oCAjCP0f0EAEEEiZg19vbdfdu2HY9vl2X79pRKj+xLLOjWvVN12fNTZz87IiXvwTKraNEAAEEEKisAAFBZf3Ze4wEGAoCRROYvN4+/yVcFbli1+MXbdtl3pBd4rSns36Rv9vJVKQqXX/0xg74bZ4IIIAAAiERICAIyUTQDQQQQMAE9p26+jW/dGk6c3Ydvl2P76+L7HNxTap969KaC9MG8OW+4bEgjeq09VGp0k8EEEAgVgIEBLGaTgaDAAJRFshfX6/6shuDXX9v1+G7dpTLx5pru/3A4Jwbg4p39NmR9/I3WnPrKBFAAIHwCSSjRwQEyZhnRokAAiEXsOvq7fp610277t6uv3ftOJS7V9avU5HLhbE0VuVuHC/UKRBAAAEEKihAQFBBfHYdHgF6gkClBf7gjb2iKl2Ffly36+7t+vtCOxaFXfr0J8sz1/zBTKYiVe3ZN5z9ht/miQACCCBQQQECggris2sEEEDABOx6ev+T8y9Y3Ra73n5xTard6nFbljdUre9cVD2VilSkv+/01c1lHCe7QgABBBD4gAABwQdAaCKAAALlFOg7/X67XU/v9ukHAufsenvXjmP58ba6HrskKhjbhJ587mdeJmhTQQABBIoiwEZmKkBAMFMpXocAAgiUQEBv/vE/+Jtt9BfxzxJctuvsrR7nRVVSdkmUiGTFf/jj7rixYOwVv8oTAQQQQKACAgQEFUBnl8UVYGsIRFVg30j2O6LaU+j/uF1fb9fZF9qxLvwzIe3drXVvuUH6QcGf7RvO7nZtSgQQQACB8gkQEJTPmj0hgAACgUDf8NhW8eQHbsW6xupzdn29ayeh3LSkeocfGASpSEW8I3YJ1T3Gzq8QQAABBEogQEBQAlQ2iQACCNxL4OmzXoNI7oR7TV1aR59srXNnCtzqRJR2iZR/dqCQilQbZGI8cEkEAINEAIG7CLC6nAIEBOXUZl8IIICAL5AZHzuioi6LUHbvqoY2u67e/1XinnaJlF0q5Q88n4pURbb2nRr7rt/miQACCCBQJgECgjJBs5s7C7AWgaQJ+Ae7z/ljDq6V72mtu1RfpUv9dYl92qVSndNSkap63++zS6oSK8LAEUAAgfIKEBCU15u9IYBAggWePZ3tUMkddgQPLUyf+fCS6m2uHfPynsO7LRWp5E5MXlp1z7fxSwQQQACBIggQEBQBkU0ggAACMxFI35SToprPt59O6dufXJ55ZCbvS8Jr7JKpW1ORartdWpWEsTNGBOInwIiiJkBAELUZo78IIBBJgX2nsi/4B72bC50ff6ZjoVSnJ4ODwrrEF4trUrekIvVBdu8bGftv/JInAggggEAJBQgISogb900zPgQQmJnAnlPv9ojKt9yrNz5Y/dpDtVWrXZtySsBSkTbVpM8Ga3K5f2+XWgVtKggggAACRRcgICg6KRtEAAEEpgQ+/YtsY0onjrs1lmK0t6Wu17UjUpa1m890ZDaryGQqUtVM/lKrsvaAnSGAAALJEiAgSNZ8M1oEECizQO6Gd9Q/uG2x3frlFUsxanWWuwvYpVSFVKTj9iq71Krv1NXvW50FAQRKLcD2kyhAQJDEWWfMCCBQFoG+U9kvqugut7OPtS98pz7hKUadxf3K5Q1V69c1Vp9zr1PV7+6xS6/cCkoEEEAAgaIJEBAUjTJaG6K3CCBQWoG9P7/WpSovu70sq686vXrRgi2uTXl/gSdb63rsEiv3Srv0yi7Bcm1KBBBAAIHiCBAQFMeRrSCAAAK3CGhq4qS/otZfxFKMPt2W2W71CiyR3aUfUKUKl1hlbRAq0mKXYFmdBQEEEECgeAIEBMWzZEsIIIBAXmDf8NVXVXRDviFy/ZmOhZJOS7XwmLWAXWJld3N2b/Rdd/WNZP/MtSkRQGC6AHUE5iZAQDA3N96FAAII3FGgb3hsl4h+VQqPLc0150kxWsCYY/HhJdXbHlqYPuPerp4cskuyXJsSAQQQQGB+AgQE8/OryLvZKQIIhFPg2ZH3WlS8o653DyxIvb5jaW2Pa1POXeCTyzOPpFP6dmELtYVLsgpNCgQQQACB+QgQEMxHj/cigAAC0wSqcjfsfgONtkpFLn/q4fq1Vp/HwlsLApaK1C698puTqUhFN/Sdyg74bZ4IIIAAAvMUICCYJyBvRwABBEzAPzj9O1F1ZwNylke/rkoX2+9YiiNgl17ZXZ7d1lTl7/aMZHe6NiUC0Rag9whUToCAoHL27BkBBGIi0Hf66mb/4DT4tLpzUfUZy6Mfk+GFahi9LXW901ORpj05tm/kWlOoOklnEEAAgYgJEBCUecLYHQIIxEvguZ95GZlQSzGaH1i16psfb6tzZwry6/hRXAFLRaoiVwpbbRIvd6xQp0AAAQQQmIMAAcEc0HgLAggg4ARuLBh71T847Si0s3s66xf5Zwvs39bCKopiC1gq0o+1L3xn2nZ37hse+/K0NlUEEEAAgVkI8D+tWWDxUgQQQGC6wL7h7G4/GPhTt667te6txTWpdtemLJ2A3fXZ7v48tQfvAKlIpzSolVuA/SEQbQECgmjPH71HAIEKCfSdft8/8PeOuN031aTPblpSvcO1KUsv8HRbZjupSEvvzB4QQCD+AgQEs5hjXooAAggEAhPjJ0S0QfyHf5bg8jMdmc1+lWcZBdJpqX6mY6H4j+v+Iiq6Yd/w1VetzoIAAgggMHMBAoKZW/FKBBBIjsA9R9o3MvY9FdlaeNG4pRi1PPmFNkUZBSwV6ZbmmvNTu9Svkop0SoMaAgggMBMBAoKZKPEaBBBAoCDQNzy2VT3v+UJT1jVWnyPFqNOoTGl3g7a7Qru9k4rUSVDOTIBXIYAAAQF/AwgggMAMBZ4+6zWI5E64l1s+/CdbSTHqPCpZfurh+rX+WRtSkVZyEtg3AghEViAxAUFkZ4iOI4BAaAQy42NHVLS90KFsPh++Cv+OSuUfdVW6uJCKNFfozc69w1f/plCnQAABBBC4hwD/I7sHDr9CAIFICpSk0/tOXf2cv+Hd/pJ/9rTWXbJ8+PkGP0IhYKlIVzRUnXGdSYke2Dvy7gbXpkQAAQQQuLNA6s6rWYsAAggg4ASePZ21G48ddO2HFqbPfHhJ9TbXpgyPwCeWZXZUq77peqS5iZOfHfFqXZsybgKMBwEEiiFAQFAMRbaBAAKxFkjflJOimrFBWt77Ty7PPGJ1lvAJWCrSPZ31i/yeTaYiVen6gzf2it/miQACCCBwF4FIBAR36TurEUAAgZIL7BvO9quKu8fAuOW9J8VoydnntYPFNan2rUtrLriNqMgX+obHdrk2JQIIIIDArQIEBLd60EIAgcoKhGrve0ayO/0OfcNf8s+ND1a/Znnv8w1+hFrgsebabj8wOOc6qeIdfXbkvRbXpkQAAQQQmBIgIJiyoIYAAggEAvtGrjVZPnu3wvLc97bU9bo2ZfgFdq+sX+efHbhc6GljVe7G8UKdIhQCdAIBBMIiQEAQlpmgHwggEC4BL3fM71CTv4h/UHnF8txbnSU6ApaK1O4i7fd4MhWpas++4ey3/TZPBBBAAIFpAiUPCKbtiyoCCCAQCYG9p8a+4nfULhfyC8lZfns7uLQGS7QEljdUre9cVB2kIvV7/8O+01fdd0L8Jk8EEEAAAQIC/gYQQKBYArHYzt6Rdzek1AtSjFpee8tvH4vBJXQQH2+r65meilQm9ORzP/PyWaMSSsKwEUAAgVsECAhu4aCBAAJJFrB89Za33hnYQaTltXdtymgKqEqqkIo0K/5DRTpuLsgO+VWecxbgjQggECcBAoI4zSZjQQCBeQn8wRt7yT947Cps5LodRFpe+0KbIsICi2tS7d2tdW9NDUE/s284G9x5emo9NQQQQCB5AvcMCJLHwYgRQCCpAn3DY7v8T46/5MZveeztINK1KaMvsGlJ9Y6mmvTZqZF4R/pOv98+1aaGAAIIJFOAgCCZ886oEfigQKLblp/e8tQ7BD8QOGd57F2bMj4Cz3RkNvuBXyEVqTbIxPiJ+IyOkSCAAAJzEyAgmJsb70IAgRgJFPLTN9qQ7GDR8tdbnSV+AnaX6UIq0nEbnT/fW/tOXX3e6slZGCkCCCBwqwABwa0etBBAIGEC+05lvyWqPYVh5+xgkRSjBY2YFssbqtava6yeuoux6vf6hse2xnS4DAsBBJIsMMOxExDMEIqXIYBA/ATy+ehVXnAj61xUfcYOFl2bMr4CT7bW9dSldXRqhLkTT5/1Gqba1BBAAIHkCBAQJGeuGWl8BRjZHATyeegn9KR7q6UYtXz1rk0ZbwFVSe1d1dAmIoVUpNqeGR87IjwQQACBBAoQECRw0hkyAgiIWB56FekoWGQtxagdJBbaFAkQqK/SpT2tdZemDXV336mrn53WDmGVLiGAAALFFyAgKL4pW0QAgZALTOaf18+4blp++sU1KdJPOpAElR9eUr3toYXpM27IfpB46NnTWRcoutWUCCCAQPkFyrhHAoIyYrMrBBCovMBk3nkvuDTE8tJbfvrK94weVErgk8szj6RT+nZ+/6qZ9E0JLiXLr+MHAgggEHMBAoKYTzDDC70AHSy3QD7vvOa/POp/GnzZ8tKXuwvsL1wClor0mY6F1qnJVKQqm/tOZX9kK1gQQACBJAgQECRhlhkjAgjkBfpOXf2+HwS49JLjlmLUDgbzv+RHogUeqq1avfHB6tccgqp8c8+pd106Wrd6niVvRwABBMIpQEAQznmhVwggUGQBO7hT1e+6zdrBHylGnQalCfS21PVOT0Wa0onjn/5FNn/DOvs9CwIIIDBjgYi9kIAgYhNGdxFAYPYCdlBnB3funXbQZwd/rk2JgBOwVKT+WaQr1vbLltwN76jVWRBAAIE4CxAQxHl2GVupBdh+RATsoM4O7qy7fnnFDvqszoLABwUsFenH2he+49ar6K59I9m/cG1KBBBAII4CBARxnFXGhAACgUDfqezn7aDOrbCDPTvoc21KBD4osHrRgi3L6qtOB+s9+de9P7/WFbSpIIAAAjETICCI2YQyHAQQmBLY+/NrXaryqltjB3l2sOfalAjcTeDptsz2IBWpSK2mJkhFejcs1iMQN4EEjoeAIIGTzpARSIpA4SCu1sZrB3d2kGd1FgTuJ5BOS3UhFel18R/+WaYN+06NvexXeSKAAAKxEyAgiN2UMqAZCvCymAv0DY+9ZAdxhWFet4M7O8grtCkQuK+ApSLd0lxzPnihel/bM5LdGbSpIIAAAjERICCIyUQyDAQQmBKwgzYV7+tujR3U2cGda1MmTZmn01EAABAASURBVGDu492xtLbngQWp190W0p4c2zdyrcm1KRFAAIE4CBAQxGEWGQMCCAQCdrBmB21uhR3M2UGda1MiMFuBTz1cv1ZF8qlI/fc2iZc75pc8EUAgjAL0aU4CBARzYuNNCCAQWoHJg7X8J7h2EGcHc6HtKx2LhEBdlS627FR+Z3P+Ys+de0fG/toqLAgggEAcBAgI4jCLyRsDI0bgjgL7Tl39mv8Ld413zg7i7GDOX8cTgXkJWHaqFQ1VZ9xGUp73r3tH3t3g2pQIIIBAlAUICKI8e/QdAQQCgfzBmWqQBcYO3uwgLngBlYgKhKfbn1iW2VGt+qbrkeYmTn52xMtnsXLrKBFAAIEoChAQRHHW6DMCCNwiYAdldnDmVtpBmx28uTYlAsUQsCxVezrrF/nbmkxFqtL1B2/sJb/NEwEEiiHANiomQEBQMXp2jAACxRLwD8peUf/grLC963bQZgdvhTYFAkUTWFyTat+6tOaC26CKfKlveGyXa1MigAACURQgIIjirEW7z/QegaIK2MGYf1D2BbdRO1izgzbXpkSg2AKPNdd2+39j59x2Vbyjz4681+LalAgggEDUBAgIojZj9BcBBAKBvtPvt9vBmFthB2l2sObalJUWiO/+d6+sX+cHopcLI2ysyt04XqhTIIAAApETICCI3JTRYQQQCAQmxk/49UZ/ETs4s4M0q7MgUGoBy171J8sz1/z9TKYiVe3ZN5z9d36bJwLJFGDUkRYgIIj09NF5BJIrsG8k+x0/CNhaEBi3gzM7SCu0KRAoucDyhqr1nYuqg1Sk/g5f7Dt9dbNf8kQAAQQiJUBAEKnpqnhn6QACoRDoGx7bKp78wHVmXWP1OTs4c21KBMol8PG2uh7LahXsb0JPPvczLxO0qSCAAAIRECAgiMAk0UUEEJgSePqs1yCSs0uF8ivr0jr6ZGtdT77BjyIKsKmZCKhKyrJaiUhW/Id/1qrj5oKxg36VJwIIIBAZAQKCyEwVHUUAARPIjI8dUdF2q/tLdu+qhjY7KPPrPBGoiMDimlR7d2vdW9N2/rl9w9nd09pUEQi3AL1LvAABQeL/BABAIDoCfafGnvN7Gxxo9bTWXaqv0qX+Op4IVFRg05LqHU016bNTnfCOWBasqTY1BBBAILwCBAThnZti94ztIRBpgWdPZztUcofdIB5amD7z4SXV21ybEoFKCzzTkdmsIoVUpNogk1mwKt0t9o8AAgjcV4CA4L5EvAABBMIgkL4pJ0U1/2XNdErf/uTyzCNh6Fc4+0CvKiFQndaMZbvy9z3uL+IHB1v7hsf+weosCCCAQJgFCAjCPDv0DQEE8gL7TmVfUBWXznH8mY6FYgdf+V/yA4EQCSxvqFpvWa9cl1S8f/aDApce162mRKB4AmwJgSIIEBAUAZFNIIBA6QT2nHq3R1S+5faw8cHq1x6qrVrt2pQIhE3Asl5Z9qupfuVOTGbHmlpDDQEEEAiTAAFBmGbj7n3hNwgkUuDTv8g2pnTiuBu8HWT1ttT1ujYlAmEU8M9mpSz7ld+3QipSbbfsWH6bJwIIIBBKAQKCUE4LnUIAARPI3fCOqkiL1f3ySuEgy5oxXhhaHAQs+5VlwZo2lt2FLFnTVlFFAAEEwiFAQBCOeaAXCCDwAYG9p7JfUtFdbvXH2he+U0+KUcdBGQEBy4Jl2bBcV1Vyhy1blmtTIiAQIBASAQKCkEwE3UAAgSmBvT+/1pVSecmtWVZfdXr1ogVbXJsSgagIWDYsy4qV769qJp8tK9/gBwIIIBAeAQKC0s8Fe0AAgVkKaGripP+WWn8RO5h6ui2z3eosCERNwLJhWVYsv9+TqUhVNvcNZ//Fb/NEAAEEQiNAQBCaqaAjCCBgAvuGr76qohus7i/X7WAqnZZqicSDTiJwu4BlxbLsWO43KvL3eyx7lltBiQACCFRYgICgwhPA7hFAYEqgb3hsl4h+VQqPLc015+1gqtCkQCCyApYdy7JkuQFY9izLouXalBEUoMsIxEiAgCBGk8lQEIiywLMj77WoeEfdGB5YkHp9x9LaHtemRCDqApYlyz87cMXG4ZctlkXL6iwIIIBApQUICO49A/wWAQTKJFCVu2H3G2i03fkHS5c/9XD9WquzIBAXAcuSZdmy3HhUdNe+U9k/d21KBBBAoFICBASVkme/CCAQCPSdyv6dqLqzAbk/WZ65Vleli4MXlKXCThAovYBly5qeilRUDlpWrdLvmT0ggAACdxcgILi7Db9BAIEyCPSdvrpZVQbcrjoXVZ9Z3lC13rUpEYibwC2pSEVqC1m14jbMcI+H3iGAwC0CBAS3cNBAAIFyCjz3My8jE2opRvO7rVZ98+Ntde5MQX4dPxCIm8BtqUhFN+w7ld0ft3EyHgQQiI5AnAOC6MwCPUUgoQI3Foy9qiIdheFn93TWL/LPFvDvUgGEIr4Clj1reipSUfnbPSPZnfEdMSNDAIEwC/A/3jDPDn1DIMYC+4azu/1g4E/dELtb695aXJNqd+3ZlbwagegJfDAVadqTY/tGrjVFbyT0GAEEoi5AQBD1GaT/CERQoO/0+/6Bv3fEdb2pJn1205LqHa5NiUBSBKanIvXH3CRe7phf8ryXAL9DAIGiCxAQFJ2UDSKAwH0FJsZPiGiD+A//LMHlZzoym/0qTwQSJ/DBVKQ+wM69p8a+4pc8EUAAgbIJhDUgKBsAO0IAgfIK9I2Mfc8PArYW9jpuKUbtS5aFNgUCiROwVKTL6qtOu4Gn1Du4d+TdDa5NiQACCJRagICg1MJsHwEEAoG+4bGt6nnPuxXrGqvPLW8gxajzoEyuwNNtme3plL7tBDQ3cfKzI16ta1MigAACpRQgICilLttGAIFA4OmzXoNI7oRbUZfW0SdbSTHqPCiTLZBOS/UzHQvFf1z3F1GVrj/kssH9OWxdLBYGgQACoRQgIAjltNApBOInkBkfO6Ki7YWRZfNfplTh3yDhgcCkgKUi3dJcc36yJX5QoF/xz6rtEh4IIIBAiQVK8T/jEneZzSOAQNQE9p26+jm/z7v9Jf/saa27ZF+mzDf4gQACgcCOpbU9DyxIve5WqHhHnx15r8W1KRFAAIFSCBAQlEKVbSKQGIH7D/TZ01m78dhB98qHFqbPfHhJ9TbXpkQAgVsFPvVw/VoVuVJY21iVu3G8UKdAAAEESiJAQFASVjaKAAJOIH1TTopqxtr2pclPLs88YnUWBBC4s0BdlS7+WPvCd/zf5vxF/P9+evaNXP1bqfSD/SOAQGwFCAhiO7UMDIHKC+wbzvarirvHwLh9aZIUo5WfF3oQfgFLRbqioepM0FNP9/edvur+WwpWU0EAAQSKIfDBgKAY22QbCCCAgOwZye70Gb7hL/nnxgerX7MvTeYb/EAAgfsKfGJZZke16pvBCyf05HM/8/Jn24J1VBBAAIEiCBAQFAGRTSAQTYHS9XrfyLWmtCfH3B7sS5K9LXW9rk2JAAL3F7BUpHs66xf5r5xMRSrScbNq7F/9Nk8EEECgqAIEBEXlZGMIIJAX8HIWDDRZ3b4caV+StDoLAgjMTmBxTap969KaC8G7VP5833A2yNgVrL9fhd8jgAAC9xAgILgHDr9CAIHZC+w9NfYV/112uZBfSM6+HGlfkrQGCwIIzF7gsebabj8wODf1Tu9I3+n33T09plZTQwABBERkLggEBHNR4z0IIHBHgb0j725IqRekGLUvRdqXI+/4YlYigMCMBXavrF/nn227PPkGbZCJ8ROTdX4igAAC8xcgIJi/IVtAoAIC4dvlZ0e8Ws1NnHQ9sy9D2pciXZsSAQTmLmBn2f5keeaav4V8KlI/ONjaN5z9e7/NEwEEEJi3AAHBvAnZAAIImMAfvLGXVKXL6v5y3b4MaV+K9Os8EUBgPgKF9y5vqFrfuag6SEXqBwX/QirSAg4FAgjMS4CAYF58vBkBBEygb3hsl39w8iWr22Jfglxck+IaZ8NgQaCIAh9vq+uxs2/BJklFGlBQQSAOApUaAwFBpeTZLwIxEXh25L0WFe+oG44fCJyzL0G6NiUCCBRPwD8Ll7Kzb/4Ws/4ifiDecaMqe9jqLAgggMBcBQgI5irH+xCYs0C83liVu3HcH1Gjv9jByWX78qPVWRBAoDQCftDd3t1a95bbuqo+RypSp0GJAAJzESAgmIsa70EAgbzAvlPZb4lqT74hkrMvPdqXHwttCgQQKJHApiXVO5pq0menNk8q0ikLagggMFsBAoLZivF6BBDIC/SdvrpZVF7IN/wfnYuqz9iXHv0qTwQQKIPAMx2ZzSpCKtIyWLMLBGYiEOXXEBBEefboOwIVEnjuZ15GJvSWFKP2ZccKdYfdIpBIgeq0ZuysnD/4cX/x43PZ2jd89Z+tzoIAAgjMRoCAYDZavBYBgcAEbi7IDvmfTHZY3V+y9iVHVeHfE+GBQHkF7Kzcusbqc26vKvoPfcNjW12bEgEEEJiJAP8Dn4kSr0EAgUBg8suL+hm3wr7caF9ydG1KBGIjEJGBPNla11OX1tGp7uZOPH3Wa5hqU0MAAQTuLUBAcG8ffosAAtME+k6/3y7iHXGr7EuN9uVG16ZEAIHyC9jZub2rGtr8PRdSkWp7Znws+O/UX88TAQTuI5D0XxMQJP0vgPEjMBuBifETIpr/5FFFLtuXGoUHAghUXKC+Spf2tNZdmtaR3ftOXf3ctDZVBBBA4K4CBAR3peEX8RNgRPMR6Dt19ft+EOCuTR63LzPalxrns03eiwACxRP48JLqbQ8tTJ+ZtsWDz57Ouu/6TFtNFQEEELhVgIDgVg9aCCBwB4E9p97tUdXvul9tfLD6Nfsyo2tTIhA6gYR26JPLM4+kU/p2fviqmfRNCbKB5dfxAwEEELiDAAHBHVBYhQACUwKf/kW2MaUTdjfi/Er78mJvS11vvsEPBBAIlYCdtXumY6H1aTIVqcrmvcPZF20FCwJxFWBc8xcgIJi/IVtAINYCuRveURVpsUH65ZXClxetyYIAAiEUeKi2arWdxXNd8/9H/+/sLJ9rUyKAAAIfFPD/nfjgKtoIhFGAPlVCoO9U9vMqusvt+2PtC9+pr9Klrk2JAALhFLCzeHY2z/XOzvLZ2T7XpkQAAQSmCxAQTNegjgACgcDen1/rUpVX3Ypl9VWnVy9asMW1KREomQAbLoqAnc1TkSu2Mb9ssbN9VmdBAAEEPihAQPBBEdoIIJAX0NSEfRmx1hr2JcWn2zLbrc6CAALRELCzeXZWz/VW/bN9e09lv+TalAiEQYA+hEOAgCAc80AvEAiVQN/w2Ev+wcOGQqeu25cU02mpFh4IIBApATurZ2f3XKdTKi/Z2T/XpkQAAQRMgIDAFFhKLMDmoySwZyS7U8X7uuvzluaa8/YlRdemRACBaAnY2T07y1fodW3h7F+hSYEAAgiIEBDwV4AAAoHAvpFrTWlPjrkVDyxIvb5jaW2Pa1MicF8BXhA6ATu7Z2f5/I77lIL4AAAQAElEQVRd9xdR0Q37Tl39V6uzIIAAAiZAQGAKLAggMCng5SwYaLKGilz51MP1a63OggAC0Raws3x2ti8Yhepf29nAoE0FgTkI8Jb4CBAQxGcuGQkC8xLwPzH8mr+Bnf5iz5x9GbGuShdbgwUBBKIvYGf77KyfG4mdDbSzgq5NiQACyRUgIEju3M9w5LwsCQJ7R97dIKovu7GuaKg6Y19GdG1KBBCIh4Cd9VP/7F9hNE0yeVaw0KRAAIGkChAQJHXmGTcCBYHPjni1msunGM2vqVZ98xPLMjvyDX4kS4DRxl7AzvrZ2T9/oDl/sefOwtlBq7MggEBCBQgIEjrxDBsBJ/AHb+xVVekqtK/v6axfZF9CLLQpEEAgZgJ29s/OAgbD8s8O5s8SBiuoJEGAMSIwXYCAYLoGdQQSJtA3PLZLRT7vhr11ac2FxTWpdtemRACBeArYWUA7G+hGZ2cJ7Wyha1MigECyBAgIYj3fDA6Buwv0nX6/XcU76l7hBwLnHmuu7XZtSgQQiK+AnQW0s4H+CCdTkfpnCf/ojZGK1AfhiUASBQgIkjjrjBkBE5gYP+EXjf4i/lmCy7tX1q+zOktEBeg2ArMU8D8EaLezgtPe9hd21nBamyoCCCREgIAgIRPNMBGYLrBvJPsdPwjYWlg3/ifLM9fsy4aFNgUCCCREwM4K+oHBOTdcO2v47Mh7La5NGU4BeoVAsQUICIotyvYQCLmA/wngVvHkB66b6xqrzy1vqFrv2pQIIJAsATs76H9AcLkw6saq3I3jhToFAggkRICAILQTTccQKL7A02e9BpGcXSqU33hdWkefbK3ryTf4gQACiRSws4N2ltAf/GQqUtWevpHsN/02TwQQSIgAAUFCJpphImACmfGxIyrqsghl965qaFMV/h2QCj/YPQIVFrCzhJ2Lqs+4bqgnP+o7fXWza1MigEC8BTgQiPf8MjoEAoG+U2PP+Y3d/pJ/9rTWXaqv0qX5Bj8QQCDxAh9vq+uZnopUJvTkcz/zMomHKTIAm0MgjAIEBGGcFfqEQJEFnj2d7VDJHXabfWhh+syHl1Rvc21KBBBAwM4WFlKRZk1DRTpuVF07ZHUWBBCItwABQUnml40iEC6B9E05Kar5T/rSKX37k8szj4Srh/QGAQTCILC4JtXe3Vr3luuLqvfZfcPZ4MyiW0+JAALxEiAgiNd8MhoEbhPYdyr7gv/Jn7sWePyZjoVSnZ4MDm57MStmL8A7EIiZwKYl1TuaatJnp4blHbEbGU61qSGAQNwECAjiNqOMB4FpAntOvdsjKt9yqzY+WP3aQ7VVq12bEgEEELiTwDMdmc0qUkhFqg0yeSPDO700UesYLAJxFSAgiOvMMq7EC3z6F9nGlE4E+cQtxWhvS11v4mEAQACB+wrYWcRCKtJxe7EfHGztGxn7ntVZEEAgfgIEBLfNKSsQiIdA7oZ31P+feIuNxi+vWIpRq7MggAACMxFY3lC13m5c6F6rnvd83/DYVtemRACB+AgQEMRnLhkJAoHA3lPZL6noLrfiY+0L36knxajjmCqpIYDAPQXsxoV2dnHqRbkTkzc4nFpDDQEEoi9AQBD9OWQECNwisPfn17pSKi+5lcvqq06vXrRgi2tTIoAAAjMVUJVU4exiIRWpttsNDiWCD7qMAAJ3FyAguLsNv0EgkgKamjjpd7zWX8RSjD7dltludRYEEEBgLgJ2dtFuZDjtvbs/PTz2mWltqgggEHGBmAUEEZ8Nuo/APAX2DV99VUU3FDZz/ZmOhZJOS7XwQAABBOYhYDcytBsauk14Xm7Ibnjo2pQIIBBtAQKCaM8fvUcgEOgbHtslol+VwmNLc835WKcYLYyTAgEEyiNgNzS0s475valm8jc8zDf4gQACURcgIIj6DNJ/BHyBZ0fea1HxjvrV/POBBanXdyyt7ck3+IEAAggUQcBSkdpZR39Tk6lIVTb3DWd/6LdL/mQHCCBQWgECgtL6snUEyiJQlbth9xtotJ2pyOVPPVy/1uosCCCAQDEF7Kyj3eDQbdP/9+bbe+wGiG4FJQIIRFIgRAFBJP3oNAIVF+g7lf07UXVnA3J2M6G6Kl1c8Y7RAQQQiKWA3eBweipSuwGi3QgxloNlUAgkRICAICETzTDjKdB3+upmVRlwo+tcVH3Gbibk2qEt6RgCCERawFKRqsgVG4RfttiNEK3OggAC0RQgIIjmvNFrBOS5n3kZmVBLMZrXqFZ98+Ntde5MQX4dPxBAAIFSCFgqUrvhodu2iu7aO5z9gmtPL6kjgED4BQgIwj9H9BCBOwrcWDD2qop0FH6Z3dNZv8g/W8B/0wUQCgQQKK2A3fDQbnzo9uL/4/OK3RjRtSkRQCA6Av5/v8XoLNtAAIFyCuwbzu72g4E/dfvsbq17a3FNqt21KRFAAIFyCNiND4NUpCK1hRsjlmPX7AMBBIooQEBQREw2hUA5BPpOv+8f+HtH3L6aatJnNy2p3uHaJS/ZAQIIIFAQsBsfFlKRXrdVKrph3/DYAauzIIBAdAQICKIzV/QUgUmBifETItog/kNFLj/TkdnsV3kigAACRReYyQYtFemW5przU6/1/mbPSHbnVJsaAgiEXYCAIOwzRP8QmCbQNzL2PT8I2FpYNW4pRu1mQYU2BQIIIFARAbsRot0Q0e087cmxfSPXmlybEgEEwi2QEgl3B+kdAghMCvQNj21Vz3t+siWyrrH6HClGnQYlAghUWsBuiOh/YJFPRer3pUm83DG/5IkAAhEQ4AxBBCaJLiLw9FmvQSR3wknYTYGebJ1DilG3AUoEEECgyAJ2Q8RCKtJcYdM7950a+2qhToEAAiEWICAI8eTQNQScQGZ87IiKthfa2fxNgVT471d4IIDA3QQqsd5Ska5oqDoT7Fu9V/eOvLshaFNBAIFQCnBAEcppoVMITAnsO3X1c35rt7/knz2tdZfspkD5Bj8QQACBkAl8YllmR7Xqm65bmps4+dkRr9a1KRFAoOgC894gAcG8CdkAAqUTePZ01m48dtDt4aGF6TMfXlK9zbUpEUAAgbAJWCpSu1Gi36/JVKQqXX/0xkhF6oPwRCCsAgQEYZ0Z+oWAL5C+KSdFNeNXJZ3Stz+5PPOI1VkQQACBMAvYjRK3Lq25MK2PX+4bHts1rU0VAQRCJEBAEKLJoCsITBfoO5UdUBV3j4HxZzoWCilGpwtRRyC+AnEY2WPNtd1+YHDOjUXFO/rsyHstrk2JAALhESAgCM9c0BMEAoE9I9mdfjDwd27FxgerX7Ob/7g2JQIIIBAFgd0r69epyOVCXxurcjeOF+oUCCAwKRCKnwQEoZgGOoHAlIDdzMdu6uPW2M1+elvqel2bEgEEEIiKgKUitRso+v2dTEWq2uOf/Qw+7PDX80QAgRAIEBCEYBLoQgIEZjPEyZv5NNlb/E/WrtjNfqzOggACCERRwG6gOD0VqX/2c6Dv9FV3OWQUh0SfEYidAAFB7KaUAUVZoHATn52FMeTsJj/2CVuhTYEAAhEQoIu3C3wwFalM6MnnfublEybc/mrWIIBAuQUICMotzv4QuIvAXrt5j3qvul/bJ2p2kx/XpkQAAQSiKnBbKlKRjhsLxl6J6njoNwIFgdgUBASxmUoGEmUBu2mP3bzHjcFu6mOfqLk2JQIIIBB1gcU1qfbpqUhV5M/2DWeDmy5GfXz0H4EoCxAQRHn26Ht5BMqwlz94Yy+pSldhV9ftpj72iVqhTYEAAgjEQuCDqUhFvCN9p99vj8XgGAQCERYgIIjw5NH1eAjYzXr8T8q+5EZjn6DZJ2muTYkAAuUTYE+lF7g1Fak2yMT4idLvlT0ggMC9BAgI7qXD7xAosYDdpMdu1uN24wcC5+wTNNemRAABBOImYIkSpqci9T8Q2dp3auy7cRsn4wm9AB2cJkBAMA2DKgLlFijcpKfR9uv/T/GyfXJmdRYEEEAgzgKWirRzUfUZN0ZV7/t9w2NbXZsSAQTKK0BAUF5v9lZugRDvb9+p7LdEtafQxZx9YmafnBXaFAgggECsBT7eVtdjCRSmBpk78fRZr2GqTQ0BBMolQEBQLmn2g8A0gfxNeVRecKs6/U/K7BMz16ZEAIHZC/COaAmoSsoSKIhIVvyHirZnxseO+FWeCCBQZgECgjKDszsE8jfjmdCTTsI+IbNPylybEgEEEEiKwOKaVHt3a91b08a7e+/I2H89rU0VgTsJsK7IAgQERQZlcwjcT+DmguyQinQUXpe1T8jsk7JCmwIBBBBIlMCmJdU7mmrSZ92gU7ncj589nXX/RrrVlAggUEIBAoIS4rLpeQrE8O2TN+HRz7ih2Sdj9gmZa1MigAACSRR4piOz2f+g5HJ+7KqZ9E0JzqLm1/EDAQRKKkBAUFJeNo7AlMDkzXe84PpY+0TMPhmbegU1BJIrwMiTLVCd1owlVvAVxv1F/LOmm/tOXf2+1VkQQKD0AgQEpTdmDwhMCuRvvqP5DBr2SZh9Ijb5C34igAACCCxvqFq/rrH6nJNQ1e/uOfWuy8TmVlNGX4ARhFCAgCCEk0KX4ifQ53/S5QcBLsf2uH0SZp+IxW+kjAgBBBCYu8CTrXU9dWkddVtI6cTxT/8im79Xi1tHiQACxRcgICi+KVs0AZZAYI//CZd90uVWbHyw+jX7JMy1KRFAAAEEJgVUJbV3VUObBKlIpSV3wzvqt3kigEAJBQgISojLphGwT7bsEy4nYZ989bbU9bo2JQJxEGAMCBRToL5Kl/a01l1y21TRXX0j2T9zbUoEECi+AAFB8U3ZIgKBgH2ypSIttsIvrxQ++bImCwIIIIDAXQQ+vKR620ML02fcr9WTQ3t/fq3LtSkrJsCOYypAQBDTiWVYlRfoO5X9vPqfbLmefKx94Tv1/idfrk2JAAIIIHB3gU8uzzySTunbhVfUamqCVKQFDAoEii1AQFBs0ThsjzHMW8A+yVKVV92GltVXnV69aMEW16ZEAAEEELi3gCVeeKZjob1oMhWp6IZ9w9l+W8GCAALFFSAgKK4nW0MgL1D4JKvWGvYJ19Ntme1WZ0EgbAL0B4EwCzxUW7XaEjFM6+M3LFHDtDZVBBAoggABQREQ2QQC0wX6hsdeUv+TrMK66/YJVzot1cIDAQQQQGDWApaIwRIyuDdaogZL2ODalDMW4IUI3FWAgOCuNPwCgdkL7BnJ7lTxvu7euaW55rx9wuXalAgggAACsxewhAwqcsXe6ZekIjUIFgSKKEBAUETMUGyKTlRMYN/Itaa0J8dcBx5YkHp9x9LaHtemRAABBBCYm4AlZLDEDO7dKrpr3/DYl12bEgEE5idAQDA/P96NwJSAl7NgoMlWqP9J1qcerl9rdRYESiXAdhFIkoAlZrAEDVNj9g5YAoepNjUEEJirAAHBXOV4HwLTBPaduvo1v7nTX+yZs0+y6qp0sTVYEEAAAQSKI2AJGixRQ2FrSUpFWhgyBQKlESAgKI0rW02Q6zLF0QAAEABJREFUwN6RdzeI6stuyCsaqs7YJ1muTYkAAgggUBwBS9BgiRr8rV33F1GxVKRXgxTPto4FAQRmL0BAMHuz0r2DLUdO4LMjXq3mpm6WU6365ieWZXZEbiB0GAEEEIiIgCVqsIQNU93Vr+4ZyboztFOrqSGAwIwFCAhmTMULEbhd4A/e2Kuq0lX4zfU9nfWL7BOsQpsCgbsK8AsEEJi7gCVssMQNbguW0MESO7g2JQIIzE6AgGB2XrwagUCgb3hsl4p83q3YurTmwuKaVLtrUyKAAAIIlE7AEjf4/wbnU5H6e2mSycQOfjV0TzqEQOgFCAhCP0V0MIwCfaffb1fxjrq++YHAuceaa7tdmxIBBBBAoLQClrjBEjj4e8n5iz139g1fDe4DYytYEEBgZgIEBDNzuv+reEWyBCbGT/gDbvQX8T+hurx7Zf06q7MggAACCJRPwBI4WCIHt0cVfWmvJXpwKygRQGBGAgQEM2LiRQhMCfSdGvuuimwtrBn/k+WZa/ZJVaFNkQABhogAAuERsEQOltDB9cgSPVjCB9emRACB+wsQENzfiFcgEAj0DY9tVfW+71asa6w+t7yhar1rUyKAAAIIlFfAEjlYQgd/r5OpSFW6/uCNveK3i/FkGwgkQoCAIBHTzCCLIfD0Wa9BJGeXCuU3V5fW0Sdb63ryDX4ggAACCFRMYHFNqt0SO7gO+Gdxv+B/gLPLtSkRQODeAgQE5sOCwAwEMuNjR1TUZRHK7l3V0KYq/DckPBBAAIHKC1hiBz8wOOd6Yokfnh15r8W1KRFA4O4CHMzc3YbfIBAIfHp47DN+Y7e/5J89rXWX6qt0ab7Bj0gJ0FkEEIivgCV4UJHLhRE2VuVuHC/UKRBA4B4CBAT3wOFXCJjAs6ezHZ6XG7K6LQ8tTJ/58JLqbVZnQQABBBAIj4AleLBED36PLBWpiGrPvuHst4UHAgjcU4CA4J48/BIBkfRNOen/TyVjFumUvv3J5ZlHrM6CAAIIIBA+AUv00Lmo+sy0nv2w7/TVzdPaVBFA4AMC0Q8IPjAgmggUU2DfqewLquL+RzL+TMdCqU5rPjgo5n7YFgIIIIBA8QQ+3lbXU636ZrDFCT353M88/u0OQKggcKsAAcGtHrQQCAT2nHq3R1S+5VZsfLD6tYdqq1a7NmX5BdgjAgggMBMB/4OcVCEVadZeryIdNxdkg0s/bR0LAghMCRAQTFlQQyAQ+PQvso0pnQi+jGYpRntb6nqDF1BBAAEEECilwLy3vbgm1d7dWvfW1Ib0M/uGs0FyiKn11BBAgICAvwEE7iCQu+Ed9T9Ryqer88srlmL0Di9jFQIIIIBAiAU2Lane0VSTPjvVRe9I3+n3XfroqdXUEEi4QGUDgoTjM/xwCuw9lf2SigY3tPlY+8J36kkxGs7JolcIIIDAfQSe6chs1iAVqTbIxHhwg8n7vJVfI5AYAQKCxEw1A52JwLM/f3ddSiW4znRZfdXp1YsWbJnJe3nNvQX4LQIIIFAJAUsEUUhFOm7794ODrX2nrj5vdRYEEJgUICCYdOAnAvLsOa+uKnXzPzoKSzH6dFtmu2tTIoAAAgjMSCB0L1reULV+XWP1OdcxVf3enuFrT7g2JQJJFyAgSPpfAOMPBNK/z/aL6HqZfFx/pmOhpNNSLTwQQAABBCIv8GRrXY8liHADScnEsafPeg2uTYlAkgXmHhAkWY2xx07gi79441v+J0ZfcQOrq/rD9Yv/7/+34H955//5zywY8DfA3wB/A9H/G/hf/8//5/94YMH1JvfvvIq2P3jzf59+AzP3K0oEEidAQJC4KWfAHxT46rnTm9+7+aEfTl//+5u1S/+3sdqVLJMGOODA3wB/A3H4G/i//7Bw+fR/6/+QW7zpy2dH//30ddQRSKIAAUESZ50x3yLw/o22kQmvWm9ZSQMBBBBIpkDiRj023v4XX3nttX+TuIEzYASmCRAQTMOgmjyB/l/++FurMiMPfHjR/yC2PPWh02f/y7azLBjwN8DfAH8DMf8b+Mji//E/27/7Gxb9z9JW/auB5P0fkBEjMCVAQDBlQS1hAgfeOLxZUxMvVKXGxZYVDz74nz665iPd/2b1BhYM+Bvgb4C/gZj/DfyXax+54f/bP+4vktaJRwcuDP4gYf8bZLgIBAIEBAEFlSQJDFz8aWZiwvsf3Jir0lVvbl25qce141QyFgQQQACB2wUa6x5Y3dm84rXgN55+Z//oIf4/EIBQSZIAAUGSZpuxTglMvHdYVR62FSqSfWrNjkUqyn8PBsKCAAJRFaDfsxTY1La+t6aqZtS9LSf6377wq6FG16ZEICkCHAAlZaYZZyDQP3p4t994zl/yz43L1r1VX1Pfnm/wAwEEEEAgUQJPrX2iTVWv2KD9D4baqm7IUauzIBBugeL2joCguJ5sLeQCB3492C6ed8R184HahrOrl67c4dqUCCCAAALJEqhbULv08ZWb3glGrbKr/8LQnwdtKggkQICAIAGTzBCnBHLjckJV8nem9D8Juty7Ztvmqd+Gr0aPEEAAAQRKL9C2uHVLU8ODp4M95eTggTcOdQVtKgjEXICAIOYTzPCmBPpHh74vqlsLa8a7Vz16bUFqQabQpkAAAQQqKcC+KyzwROej29Oaetu64X9wVJubSJ20OgsCSRAgIEjCLDNGscwRKvJdR7FySdu5pQ3N612bEgEEEEAg2QJVmq7uXbPdEK7bD1HZ0D86uD9f5wcCRRUI38YICMI3J/SoyAKWMSLn6XG3WcsosWXFxh7XpkQAAQQQQMAELBVp10Od561ui4r+7cDo0E6rsyAQZwECgjjPLmPLC1jGCFVtsYZailHLKCGlTzFq+2NBAAEEEIiWwMYPrenJ1NS9HvTak2P7f/njpqBNBYEYChAQxHBSGdKUQD5ThMout+YjbesvWUYJ16ZEAAEEiiDAJmIm8NE13Wu1kIpUVJq81MSxmA2R4SBwiwABwS0cNOIkkM8QkZODbkyWQaKzecU216ZEAAEEEEDgTgLV6QWLb0lFKrKz//zQX97ptaxLmkA8x0tAEM95ZVS+gGWIUJVavyqWOcIySFidBQEEEEAAgfsJfDAVqf//k0MDFw9vuN/7+D0CURQgIIjirNHn+wr0Xxh8yT/N6/7hvm6ZIyyDxH3fWHgBBQIIIIAAAvZBkn2gFEhM5E4+/9sj+Q+agnVUEIiBAAFBDCaRIdwqYBkh1NOvu7WWMcIyR7g2JQIIIDBNgCoCdxWwD5LsAyX/BZOpSEW7MlffH/DbPBGIlQABQaymk8HkM0F4Enz5yzJFWMYIZBBAAAEEEJiLgH2gZB8sTb1XvzJwYShIVjG1nlr4Bejh3QQICO4mw/pICuQzQajk08Op6hXLFBHJgdBpBBBAAIHQCNgHS/YBk+uQ58nR/t8M5tNZu3WUCERZgIAgyrNH328RGDg/9DV/xU5/sWfOMkRYpghrsCCAAAIIIDAfAfuAyT5osm2oSKOOS3DDS1vHgkCUBQgIojx79D0QyGd+UHnZrWhd1HzGMkS4NiUCCMRSgEEhUDYB+4DJPmjyd5jzF/+pPS+ODv6tX+GJQOQFCAgiP4UMIJ/xYSJ30klUpavefPzhLTtcmxIBBBBAAIFiCNgHTfaBk9tWSnR//gMpt4KyhAJsupQCqVJunG0jUA6Bhb/7/Ssi2iWTj+tPrdmxyDJDTDb5iQACCCCAQPEE7AMn++Ap2KL/gVT+g6lgBRUEoidAQBC9OYt1j2c7OMv0oCpfcO9b39p1ob6mvt21KRFAAAEEECimgH3gZB88+ducSkX6u/df9ds8EYisAAFBZKeOjluGB8v04CTqazPn1ras6nZtSgQQCLUAnUMgsgL2wZN9ABUMQPXz9gFV0KaCQMQECAgiNmF0d0rAMjxYpgdbo6KXn+zasc7qLAgggAACCJRawD6Asg+i3H7sAyr7oMq1KacLUA+7AAFB2GeI/t1RYOD84HdEtEcmH7nuVY9eswwQk01+IoAAAgggUHoB+yDKPpCyPSmpSI2BJaICBAQRnbgwdrtcfRq4eGirqP7A7W9ZY+uZpQ3N612bEgEEEEAAgXII2AdR9oGUv68gFWn/+aG/99s8EYiUAAFBpKaLzr546ScNcjN1wklYpoetKze5MwVuNSUCCJRWgK0jgEBBwD6Qsg+mCk3/8yr5lwNvHN7s2pQIREGAgCAKs0QfAwF9/49HRCWfRcg/PZu1TA8qyt9xIEQFAQQQQKDcAvbBlH1A5faby+VODlz8aca1o13S+yQIcCCVhFmOyRj3jx5+TkV2u+F8pG39Jcv04NqUCCCAAAIIVEJA/Q+mJj+gkqzkH9ohE+8dzlf5gUAEBAgIIjBJ5ehi2PcxcPFghye54B/XJZnFZzqbV2wLe7/pHwIIIIBAMgTsA6qNy9a9NW20z/WPHg4+xJq2nioCoRMgIAjdlNChOwrcTJ8U0fzp17Sm3u5e9dgjwgMBBOYiwHsQQKBEAquXrtzxQG3D2WDznnfkwK8H85e5BuuoIBBCAQKCEE4KXbpVYGB06Iei4r6gNd67ZrssSC3I3PoqWggggAACCFReoHfNts0qetl6oioNuXEJEmHYuvIu7A2BmQkQEMzMiVdVSGD/6CHLIPRtt/vO5hWvNdY9sNq1KRFAAAEEEAiTgH1g1b3q0Wt+n8b9RUR1a//o0D8JDwRCLEBAEOLJmWnX4vq6F3411Jjz9LgbX01VzeimtvW9rk2JAAIIIIBAGAUsFenKJW3nXN9U5B/z99BxKygRCJkAAUHIJoTuTAlU3ZCjqtpia/zyylNrn2izOgsCCRZg6AggEBGBLSs29tgHWUF3b6ZO5O+lE6yggkB4BAgIwjMX9GSawP7RoS+Kyi636vGVm96pW1C71LUpEUAAAQQQCLOAiqbsgywVmUxFqtKev5eOzPTB6xAonwABQfms2dMMBQ68cagr58nL7uVNDQ+eblvcusW1KRFAAAEEEIiCgH2QZffMcX31g4PdA+eHPufalAiERYCAoMIzwe5vF8hNpE6qSq39xlKMPtH56HarsyCAAAIIIBA1gc7mFdvs3jlBv9U7aPfWCdpUEAiBAAFBCCaBLkwJ9I8OvSoqGwprrveu2S5Vmq4utCkQiLIAfUcAgYQKdK967BH7gGty+JqR/L11Jlv8RCAMAgQEYZgF+pAXGBgd2umfTv1qvuH/6Hqo8zwpRn0InggggAACERO4tbuWitQ+4PLXFlKRyub+C4Mv+m2eCIRCgIAgFNNAJ/p/M9ginhxzEpmautc3fmiN3YPAraJEAAEEEEAgsgL2AVdn84rX3ADU039XuNeOW0WJQMUECAjmQc9biyeg43JcVJpsi6p65aNrutdanQUBBBBAAIG4CNi9dKanIs15etzuuROX8TGO6AoQEER37mLT8xdHB/9WRN3ZgJylGK1OL1gsPBAIjwA9QQABBIoikE9F6n/wZRvzPwBrsXvuWDSm68UAABAASURBVJ0FgUoKEBBUUp99y4E3Dm9Oie53FK2Lms+0kWLUcVAigAACCJRdoLQ7tFSk9sFXsBeVXfl77wQrqCBQfoFU+XfJHhGYFBi4+NNMLpc7OdkSqUpXvfn4w1t2uDYlAggggAACcRSwD77sHjtubDlPXj7wxqEu16ZEoNwCqXLvMCz7ox+VF/Am3n1VRDvEf6hI9qk1OxaRYtTH4IkAAgggEHsBu8eOS0WqKrV2D57YD5oBhlaAgCC0UxPvjvWPHt6ton/qRrlx2bq36mvq212bEoEiCrApBBBAIHQC9gFYIRXp9XznVDb0nx/813ydHwiUWYCAoMzg7E7kwK8H28XzjjiLB2obzq5eupJLhRwIJQIIIIDAHAWi9TZLRWr33HG9VtW/tnvyuDYlAuUSICAolzT7CQRy43JCVRpshX+W4HLvmm2brc6CAAIIIIBA0gTsnjt2751g3J4c2//LH+fTcAfrqCBQYoFIBgQlNmHzJRQYuHD4e6K6tbCL8e5Vj16zOzgW2hQIIIAAAggkTsDuvaOFVKSi0uSlJoIbdSYOgwFXRICAoCLsydzpwMVDW8XznnejX7mk7dzShub1rk2JwB0EWIUAAgjEXsDuvVNIRZorDHbnwPmhrxXqFAiUXICAoOTE7MAEXrz0kwa5mTphdVvsTo1bVmx0NyOzVSwIIIAAAokWSPbgLRWp3YsnUFB5eeDi4Q1BmwoCJRQgICghLpueEtD3/3jEPw2azyKklmJ07RNtKsrf3xQRNQQQQACBhAvYvXjsnjwBw0Tu5PO/PVIbtKkgUCKBsh+QlWgcbDbEAv5pz8+pyG7XxY+0rb9kd2p0bUoEEEAAAQQQELFUpHZPHt9iMhWpaNfCq79/2W/zRKCkAqmSbp2NJ15g4OLBDlHvoINYkll8prN5xTbXpoy1AINDAAEEEJilgN2TZ31r1wX3Nv8DtS8OXBja5dqUCJRCgICgFKpsc0rgZvqkiGbEf9gdGbtXPfaIX+WJAAIIIBArAQZTTIG1Lau662sz59w2PU+O9v9msMW1KREotgABQbFF2V4gMHB+qF9U3D0GxnvXbBdSjAY8VBBAAAEEELirwJNdO9ap6GV7gYo06rgctzoLAqUQmFVAUIoOsM14CuTvtKjyDTe6zuYVr9kdGV2bEgEEEEAAAQTuLmCpSLtXPXrNf0UhFan2+P9v/abf5olA0QUICIpOygbzd1j0JLipiqUY3dS2vheZSAnQWQQQQACBCgvYvXqWNbaemdaNHx1447A78z5tNVUE5idAQDA/P959B4H8HRZVmuxXqnrlqbVPtFmdBQEEEEAgjAL0KcwCW1du6pmeijSXy50cuPjTTJj7TN+iJ0BAEL05C3WPB84PfsXv4E5/yT/tzoukGM1T8AMBBBBAAIFZC6hoylKRqkhW8g/t8G6+eyhf5QcCsxW4y+sJCO4Cw+rZC+TvqKgapBhtanjwtN15cfZb4h0IIIAAAggg4AQsFenGZevecm1V/Wz/6OHg/j5uPSUCcxUgIJirHO+7RSB/J8WJ3Em30k5vPtH56HbXpiyrADtDAAEEEIiZwOqlK3c8UNtwNhiW5x058OvB9qBNBYF5CBAQzAOPt04JZH73/gER7ZLJx3U7vVml6erJJj8RQAABBEojwFaTJNC7ZttmdalIVRpy43IiSeNnrKUTICAonW1itpy/g6Lql92A7Q6LdnrTtSkRQAABBBBAYP4Cdi+fQirS8fzWVLf2jw79Y77Oj/gLlHCEBAQlxE3Cpu3OiXYHRTfW+trMObvDomtTIoAAAggggEDxBCwV6colbefcFlXknwYuHtrq2pQIzEWAgGAuarwnENBxOe7/Y9RoK9Q/jWl3VrQ6y5wFeCMCCCCAAAL3FNiyYmOP3eMneNHN1IkXL/2kIWhTQWCWAgQEswTj5VMCk3dM1J7CmpydxrQ7KxbaFAgggAAC9xTglwjMTcD/AC5l9/hRl4pUpV3f/+ORuW2NdyEgQkDAX8GcBA5M3inxR+7NdidFO43p2pQIIIAAAgggUDoBu8fPR9rWX3J7UJHd/aODn3FtypAJhLw7BAQhn6Awds/ukGh3SnR9sxSjdidF16ZEAAEEEEAAgdILdDav2LYks/iM25MfFAwNXDzY4dqUCMxUgIBgplK8LhDwJt4dEtH8Pzj+Pz5ZSzGqovwtiQgPBBBAAAEEyinQveqxR9Kaentyn5qRm+ngnkCT6/iJwP0FOIi7vxGvmCbQP3p4t3/wH5yStDsnkmJ0GhBVBBBIiADDRCAcApaKtHfNdutMIRWpbB4YHfqhrWBBYKYCBAQzleJ1kr8joucFX1p6oLbhrN05ERoEEEAAAQQQqJxAY90DqzubV7w2rQff3j96yCX9mLaa6pwEEvAmAoIETHKxhmh3RFSVfFoz/yzB5d412zYXa9tsBwEEEEAAAQTmLrCpbX3v9FSkOU+Pv/CroXxa8LlvlXcmRYCAICkzPc9xDowO/rOouhufjHevevSanaac52bD9Hb6ggACCCCAQKQF8qlIVa/YIFS1peqGHLU6CwL3EyAguJ8Qv5fJ0476D47C7pBIilGnQYkAAtEToMcIxFPAUpE+vnLTO8HoVHYNXBj8fNCmgsBdBAgI7gLD6kkBO91opx0nWyJ2OtLukOjalAgggAACCCAQHoG2xa1bmhoePO165OX01QNvHOpy7cSVDHhGAgQEM2JK7ovsdKOddjQBFcnmT0cKKUbNgwUBBBBAAIEwCjzR+eh2l4pUVWpzEylSkYZxokLUJwKCEE1G2LrSf2Hoz8U/3ej6ZXdEtNORrh2ikq4ggAACCCCAQEGgStPVvZOpSK/nV6lsGBgdOpCv8wOBOwgQENwBhVUi+dOLOTnoLOz0Y2fzim2uTYkAAghURoC9IoDATAQsFWnXQ53np732b/ygYOe0NlUEAgECgoCCynQBO71opxltnZ12tNOPVmdBAAEEEEAAgWgIbPzQmp5MTd3rQW89Obb/lz9uCtphr9C/sgkQEJSNOjo76r8w+JL4pxcLPb5upx3t9GOhTYEAAggggAACERH46JrutVpIRer/v73JS00ci0jX6WYZBQgIyogdhV3Z6UT19Ouur3a60U47unYJSjaJAAIIIIAAAiUSqE4vWFxIRZor7GJn/+jQVwt1CgTyAgQEeQZ+mED+NKJ/OtHqtthpRjvdaHUWBBBAYP4CbAEBBCohYKlIWxc1n3H7VpFXBy4e3uDalAgQEPA3EAjkTyOq5K8tVP/0op1mDH5JBQEEEEAAAQQiK/D4w1t2VKWr3gwGMJE7+fxvj9QG7WJX2F6kBAgIIjVdpevswPmhr/lbd9kHcnZ60U4z+ut4IoAAAggggEDEBey7gE+t2bHIH8ZkKlLRroW/+/1+v80TASEg4I9A8qcNVV52FHZa0U4vuvY9Sn6FAAIIIIAAAhERqK+pb1/f2nXBdVdV/nLgwtAu16ZMrgABQXLnPj/y/OlC/7RhvuH/sNOJdlrRr/JEAAEEpglQRQCBOAisbVnVXV+bOefG4nlytP83gy2uTZlMAQKCZM57MGr/dOEr4p82lMnHdTudaKcVJ5v8RAABBBBAAIG4CTzZtWOdil62calIo47LcasHC5XECRAQJG7KpwZspwn904VfcGvsNKKdTnRtSgQQQAABBBCIn4B9R7B71aPX/JEVUpFqT/+Fwb/z2zwTKkBAkNCJ7//NYIudJnTDt9OHdhrRtSkRQAABBBBAIL4CSxua1y9rbD3jRqieDhx44/Bm16ZMlgABQbLmOxitnR6004S2Qv3Thnb60OosCCAQRwHGhAACCNwusHXlph777qD7TS6XOzlw8acZ16ZMjgABQXLmOhjpwPnB74hoj0w+cnba0E4fTjb5iQACCCCAAAKRFZhFx/0PBFP23UEVyUr+oR0y8e4r+So/EiVAQJCo6RYZuHhoq6j+wA3bThfaaUPXpkQAAQQQQACB5AjYdwc3Llv31tSI9c/6Rw/vnmpTS4IAAUE0Z3lOvX7x0k8a5GbqhHuznSa004WuTYkAAggggAACyRNYvXTljgdqG84GI/e8Iwd+PdgetKnEXoCAIPZTPDVAff+PR0Ql/x+4nR6cPE2o/A1MEVFDIIQCdAkBBBAovUDvmm2bVQqpSFUacuMSfIBY+r2zh0oLcDBY6Rko0/73jx5+TkWCU4AfaVt/yU4Tlmn37AYBBBBAAAEE7idQwd8vSC3I2HcK/S5MpiJV3Tr5nUN/Dc/YCxAQxH6K7XsDBzs8yR12Q12SWXyms3nFNtemRAABBBBAAAEE7DuF9t3CQEL1B/nvHgYrqMRVgICg/DNb/j3eTJ8U0Yz4j7Sm3u5e9dgjfpUnAggggAACCCBwi4B9t9C+YxisvJk6kf8OYrCCShwFCAjiOKvTxjQwOvRDUXE3GhnvXbNd7LTgtJdQRQCBkgmwYQQQQCBaAip6aypSlfb8dxCjNQx6O0sBAoJZgkXp5ftHD9m9Br7t+tzZvOK1xroHVrs2JQIIIIAAAggUSSBGm7HvGE5PRaoiu1+8MPhfx2iIDOUDAgQEHwCJS/OFXw015jw97sZTU1Uzuqltfa9rUyKAAAIIIIAAAncT+GAq0pQnPx64eLDjbq9nfbQFCAhmN3+ReXXVDTmqqi3WYb+88tTaJ9qszoIAAggggAACCMxEoHdaKlKx7yLmv5MoPGIoQEAQw0ndPzr0RVHZ5Yb2+MpN79QtqF3q2pQIIDATAV6DAAIIJFvAvnPYverRa77CuL+If2yxuX906PvCI3YCBAQxm9IDbxzqynnyshtWU8ODp9sWt25xbUoEEEAAAQQQ+IAAzbsKWCrSlUvazrkXqMh3SUXqNOJTEhDEZy7zI8lNpE6qSq01LMXoE52Pbrc6CwIIIIAAAgggMBeBLSs29th3EYP3koo0oIhLJUkBQVzm7K7jGBgdfMU/nbeh8ILrvWu2S5WmqwttCgQQQAABBBBAYNYCKpqy7yKqSFbsQSpSU4jVQkAQk+kcGB3aKaJ/JYVH10Od50kxWsCgSKAAQ0YAAQQQKKaAfRfxI23rL7lt+sHB7v7Rw3/q2pTRFiAgiPb85Xvf/5vBFvHkWL7h/8jU1L2+8UNrevwqTwQQQAABBOItwOjKJtDZvGLbksziM26HKrlXSUXqNKJdEhBEe/7yvddxOS4qTdZQ1SsfXdO91uosCCCAAAIIIIBAMQW6Vz32iH1HcXKbmhFSkU5SRPxnVAKCiDOXrvsvjg7+rYi6swE5SzFanV6wWHgggAACCCCAAAJFFrBUpPYdRX+zQSrSgfND/X6bZ4QFCAgiPHkH3ji8OSW63w2hdVHzmTZSjDoOysgK0HEEEEAAgTAL2HcUO5tXvBb0UeUb+0cPuQ8ng9VUoiOQik5X6el0gYGLP83kcrmTbl1VuurNxx/essO1KRFAAAEEEAi9AB2MrMCmtvW901OR5jw9/sKvhhojO6AzUF2+AAAQAElEQVSEd5yAIKJ/AN7Eu6+KaIf4DxXJPrVmxyJSjPoYPBFAAAEEEECgLAL5VKSqV2xnqtpSdUOOWp0legLlCAiipxLyHvePHt6tokGqr43L1r1VX1PfHvJu0z0EEEAAAQQQiJGApSK17y4GQ1LZtf/C4JeDNpXICBAQRGaqJjt64NeD7eJ5RyZbIg/UNpxdvXQllwo5EMoKC7B7BBBAAIEkCdh3F5saHjztxpzL6YEDbxzqcm3KaAgQEERjnoJe5sblhKo02Ar/LMHl3jXbNludBQEEEEAAgbIKsDMECgJPdD663aUi9Y9RanMTqeA7joWXUIRcgIAg5BM0vXsDFw5/T1S3FtaNd6969Jql/yq0KRBAAAEEEEAAgbIL2HcYe9dst/1etx+ismFgdPCVfJ0fkRC4X0AQiUEkoZMDFw9tFc973o115ZK2c0sbmte7NiUCCCCAAAIIIFApAUtF2vVQ5/mp/etfDYwO7ZxqUwuzAAFBmGen0LcXL/2kQW6mThSaYmm+tqzYSL5fB0JZJAE2gwACCCCAwNwFNn5oTU+mpu71YAueHNv/yx83BW0qoRUgIAjt1Ex1TN//4xH/9Fs+i5BaitG1T7SpKHM3RUQNAQQQQGA2ArwWgRIJfHRN91otpCL1j12avNTEsRLtis0WUYCDyiJilmJTA+eHPqciu922P9K2/pKl+XJtSgQQQAABBBBAICwC1ekFiwupSHOFPu3sPz/49UKdogICM9klAcFMlCr0moGLBztEvYNu90syi890Nq/Y5tqUCCCAAAIIIIBA2AQsFWnrouYzrl/+GYOXBi4e3uDalOETICAI35xM9ehm+qSIZsR/WDqv7lWPPeJXeSJwBwFWIYAAAgggEB6Bxx/esqMqXfVm0KOJ3Mnnf3ukNmhTCZUAAUGopmOqMwPnh/pFxd1jYNzSeZFidMqHGgIIIJBYAQaOQAQEqjRd/dSaHYv8rk6mIhXtWvi735OK1AcJ45OAIISzkk/TpfIN17XO5hWvWTov16ZEAAEEEEAAAQTCLlBfU9++vrXrguunqnxh4MLQLtemvL9AuV5BQFAu6RnuJ5+ey5PgG/mWYnRT2/reGb6dlyGAAAIIIIAAAqERWNuyqru+NnPOdcjz5Gj/bwZbXJsyHAIEBOGYh6AX+fRcKvmcvap65am1T7QFv6QSUwGGhQACCCCAQHwFnuzasU5FL9sIVaRRx+W41VnCI0BAEJ65kIHzg1/xuxPc1c/SdpFi1BfhiQACCMRFgHEgkEABS0XaverRa/7QC6lItad/dPBbfptnSAQICEIyEfl0XKpBitGmhgdPW9qukHSPbiCAAAIIIIAAAnMWWNrQvH5ZY+sZtwEVfeHAG4dd8hS3OlZllAZDQBCC2cqn4ZrInXRdsTRdT3Q+ut21KRFAAAEEEEAAgagLbF25qceOcdw4crncyYGLP824NmXlBAgIKmcf7Dnzu/cPiGiXTD6uW5ouS9c12eRnuAXoHQIIIIAAAgjMRMA/K5CyYxwVyUr+oR0y8d5gvsqPigoQEFSUXySffkv1y64blp7L0nS5NiUCCCCAQEgE6AYCCMxbwI5xNi5b99a0Df3b/tHDu6e1qVZAgICgAuhul5Z2y9Jvubal5bL0XK5NiQACCCCAAAIIxE1g9dKVOx6obTgbjMvzjhz49WB70A5BJWldICCo4IzruBz3T5s1WhdU9LKl5bI6CwIIIIAAAgggEGeB3jXbNtuxj41RVRpy43LC6iyVESAgqIy7DIwOfVNEe2TykbN0XJaWa7LJz/IIsBcEEEAAAQQQqITAgtSCjB37+Pse9xcR1a0D5wefFx4VESAgqAB7Ic3Wj9yuLQ2XpeNybUoEEEAAgSILsDkEEAidgB37rFzSdi7omOr3Bi4e2hq0qZRNgICgbNSTO7L0WpZma7IlYum3LA2Xa1MigAACCCCAAAJJEdiyYmNPTVXNaDDem6kTL176SUPQnkOFt8xeIDX7t/COeQnk02tph21DRbKT6beUeTAQFgQQQAABBBBIlICKpp5a+0Sb+sdE+YGrtOv7fzySr/OjbAIciJaNWqSQVuvful1a2i1Lv+XalLMR4LUIIIAAAgggEAeBugW1Sz/Stv6SG4sfHOzef2EoOF5y6ylLJ0BAUDrbW7acT6fleUHEa+m2LO3WLS+igQACCCBwuwBrEEAg9gKdzSu2LcksPuMG6nne4MDFgx2uTVlaAQKC0voGW7d0WqqSvyZORS9buq3gl1QQQAABBBBAAIGEC3SveuyRtKbenmTQjNxMn5ys87PUAgQEpRb2tz8wOvjPlk7Lr9pzvHvVo9cs3ZY1WBBAAAEEEEAAAQRE7Niod812oyikIpXN/aODL9gKltIKpEq7eba+f/RQj4j+gxQell7L0mwVmgktGDYCCCCAAAIIIHC7QGPdA6s7m1e85n6jot+aPJZyayhLIUBAUArVwjZf+NVQY87T44WmWFotS6/l2pQIIIBA7AUYIAIIIDBLgU1t63vtmMm9zY6l7JjKtSmLL0BAUHzTYItVN+SoqrbYChXJTqbVIsWoebAggAACCCCAQLwEijma/DGT6hXbph1L2TGV1VlKI0BAUBpX6b8w9Oeisstt3tJpWVot16ZEAAEEEEAAAQQQuLOAHTM9vnLTO8Fv/WOqgfODfxG0qRRVgICgqJyTGzvwxqEuycnByZZIU8ODpzubV2xz7WiX9B4BBBBAAAEEECi9QNvi1i12DOX25In+a/4Yy62gLJoAAUHRKKc2lJtInVSVWluT1tTbT3Q+mv/KvLVZEEAAgcgI0FEEEECgwgJ2DGXHUtYNO7ayYyyrsxRXgICguJ7Sf2HwJVHZUNjsdUufVaXp6kKbAgEEEEAAAQQQCJ1AWDtkx1B2LOX377q/iB1j5Y+1hEcxBQgIiqg5MDq0Uz39uttk10Od5y19lmtTIoAAAggggAACCMxOwI6l7JjKvcuOteyYy7Up5y9AQDB/w/wW9v/yx03iybF8w/+Rqal7feOH1vT41RA96QoCCCCAAAIIIBA9ATumsmOroOf+MVf+2CtYQWU+AgQE89Gb9l4vNXHMP43VZKtU9cpH13SvtToLAgggUBEBdooAAgjETMCOrewYKz8slab8sVe+wY/5ChAQzFfQf//A+aGv+cVOf7FnztJkVacXLLYGCwIIIIAAAgggUEqBpGzbjq3sGMsfb85f7LlzYPTwX1mFZX4CBATz85OBi4c3+GcGXnabaV3UfKZtcesW16ZEAAEEEEAAAQQQKI6AHWPZsdbU1rxX8sdiUyuozUGAgGAOaO4tz//2SK1M5E66dlW66s3HH96yw7WLW7I1BBBAAAEEEEAAATvWsmOuQMI/FssfkwUrqMxWgIBgtmLTXr/wd79/RUS7ZPJx/ak1OxZZeqzJJj8RQACBOQrwNgQQQACBuwrYsZYdc/kvmExF6h+LLbz6+5f8Ns85ChAQzBFu4MLQLlX5gnv7+tauC/U19e2uTYkAAggggAACCNxPgN/PTcCOuezYy71bRb5kx2auTTk7AQKC2XnlX93/m8EWz5Oj+Yb/o742c25ty6puv8oTAQQQQAABBBBAoAwCduxlx2BuV3ZsZsdork05cwECgplbBa/UcTnuR6KNtkJFLz/ZtWOd1e++8BsEEEAAAQQQQACBYgvYMZgdi9l2VaTRjtGszjI7AQKC2XnJwPnB74iou+FYrnvVo9csDZbwQAABBEyABQEEEECgbAJ2DGbHYv4OC6lItWfg/NA3/DbPWQgQEMwCa+Dioa2i+gP3lmWNrWeWNjSvd21KBBBAAAEEEEiOACMNh4Adi9kxWdAblf4DbxzeHLSp3FeAgOC+RJMvePHSTxrkZurEZEvE0l1tXbnJnSlwqykRQAABBBBAAAEEyixgx2R2bOZ2m8vlTg5c/GnGtSnvLZC696/5rcikgb7/xyOiks8ipCJZS3elovhN8vATAQQQQAABBBComIAdk00em0lW8g/t8CbefTVf5cd9BTigvS+RyP7Rw8+pyG730o+0rb9k6a5cmxIBBGIiwDAQQAABBCIrYMdmG5ete8sNQEX/tH/0cHD85tZT3i5AQHC7yS1rBi4e7PAkd9itXJJZfKazecU216ZEAAEEEEAAgegJ0ON4CqxeunLHA7UNZ4PRed6RA78ezF/hEayjcpsAAcFtJB9YcTN9UkQz4j/Smnq7e9Vjj/hVnggggAACCCCAAAIhFOhds22zf3bgsnVNVRpy4xJ8B9TWsdwuEPOA4PYBz2bNwOjQD0XFfUt9vHfNdlmQWpAPDmazHV6LAAIIIIAAAgggUB4BO1brXvXoNX9v4/4iorp1YHTwH4THXQUICO5Cs3/0kGUQ+rb7dWfzitca6x5Y7dqUCCAQMgG6gwACCCCAQEHAUpGuXNJ2rtD0C/3nfPp4v8bzdgECgttN5IVfDTXmPD3uflVTVTO6qW19r2tTIoAAAggggEDlBNgzAjMR2LJiY48dwwWvvZk6kU8jH6yg4gQICJzEtLLqhhxV1RZb5ZdXnlr7RJvVWRBAAAEEEEAAAQSiIaCiKTuGU5HJVKQq7fk08sLjgwIhDgg+2NXytPePDn1RVHa5vT2+ctM7dQtql7o2JQIIIIAAAggggEA0BOwYztLFu976wcHugfND/41rU04KEBBMOuR/HnjjUFfOk5fzDf9HU8ODp9sWt27xqzwRQKCUAmwbAQQQQACBEgl0Nq/YZmnjg82r9+8trXzQpiIEBNP+CHITqZOqUmurLMXoE52Pbrc6CwIIIIAAAggUR4CtIFAJge5Vjz1ix3aT+9aM5NPKT7b4KQQE7o9gYHTwFVHZUGhftxSjVZquLrQpEEAAAQQQQAABBCIqYKlI7djO734hFalsHrgw+AO/zdMXKNEZAn/LEXoOjA7tFNG/ksKj66HO86QYLWBQIIAAAggggAACMRCwY7vO5hWvBUPx9DuFNPPBqqRWEh8Q9P9msEU8Oeb+ADI1da9v/NAauweBW0WJAAL3EuB3CCCAAAIIRETA0shPT0Wa8/S4pZuPSPdL1s3EBwQ6LsdFpcmEVfXKR9d0r7U6CwIIIIAAAgjcKkALgTgI5FOR+sd8Nhb/2K/F0s1bPclLogOCF0cH/1ZE3dmAnKUYrU4vWCw8EEAAAQQQQAABBGIpYKlI7ZgvGJzKrv4LQ38etBNYuUNAkAyFA28c3pwS3e9G27qo+UwbKUYdByUCCCCAAAIIIBBbATvms/TywQBzcvDAG4e6gnbCKqmEjTc/3IGLP83kcrmT+Yb/oypd9ebjD2/Z4Vd5IpAsAUaLAAIIIIBAQgUsvbxLRaoqtZZ+PqEUyUw76k28+6qIdoj/UJHsU2t2LCLFqI/BEwEEEEAgtgIMDAEEbhWwY78PpCLdMHB+aODWVyWjlbgzBP2jh3er6J+66d24bN1b9TX17a5NiQACCCCAAAIIIJAMgdtSkar83WQ6KdFm2gAAEABJREFU+kiPf9adT1RAcODXg+3ieUec0gO1DWdXL13JpUIOhBIBBBBAAAEEEEiYwAdTkVo6+v2//HE+A2VSKBIVEOTG5YSqNNjk+mcJLveu2bbZ6iwIRFKATiOAAAIIIIBAUQSmpyK1dPReaiK4R1VRdhDyjSQmIBi4cPh7orq1MB/j3asevbYgtSBTaFMggAACCCAQWgE6hgACpRW4LRWpyM7+80N/Wdq9hmfriQgIBi4e2iqe97xjX7mk7dzShub1rk2JAAIIIIAAAgggkGyBD6YiVZVDAxcPbyizSkV2F/uA4MVLP2mQm6kTTremqmZ0y4qN7mZkbjUlAggggAACCCCAQMIFpqcizVNM5E4+/9sjtfl6jH/EPiDQ9/94RFTyWYTUUoyufaJNRWM/7hj/zcZjaIwCAQQQQAABBEInMC0V6fXJzmlX5ur7sU9FGusD4/4Lg59Vkd2TEyrykbb1l+waMdemRAABBBBAoNQCbB8BBKIlYKlIux7qPD/Va/1K3FORxjYgGLh4sEM9OeQmc0lm8ZnO5hXbXJsSAQQQQAABBBBAAIE7CWz80JqeTE3d68HvPDk2g1SkwcujVoltQCA30ydFNJ9FKK2pt7tXPfaI8EAAAQQQQAABBBBAYAYCH13TvVZVr+RfqtIU51SksQwIBs4P9YuKu8fAeO+a7UKK0fyfMz+KIcA2EEAAAQQQQCD2AtXpBYsfX7npHX+gOX+x586B0aG/sUrcltgFBPtHD/WIyjfcRHU2r3jNrgVzbUoEEEAAAQRmKsDrEEAg2QKWirR1UfOZaQoH4piKNFYBgV3blfP0uJs0SzG6qW19r2tTIoAAAggggAACCCBwB4G7rnr84S07qtJVbwYviGEq0lgFBHZtl6q22IT55ZWn1j7RZnUWBBBAAAEEEEAAAQTmIlCl6eqn1uxY5L93KhXp795/1W/H5hmbgGDg/OBX/FnZ6S/5p13zRYrRPAU/pgtQRwABBBBAAAEEZilQX1Pfvr6160LwNtXPD1wY2hW0I16JRUCQv5ZL9aCbi6aGB0/bNV+uTYkAAgggkDwBRowAAggUU2Bty6ru+trMObdNz5Oj/b8ZzF+Z4tZFtYx8QPD8b4/UykTupJsAu8bric5Ht7s2JQIIIIAAAggggECsBco2uCe7dqxT0cu2QxVp1HEJvrtq66K6RD4gyPzu/QMi2iWTj+t2jZdd6zXZ5CcCCCCAAAIIIIAAAsURsFSk3aseveZvrZCKVHv6zw/9vd+O9DPSAUH+2i3VL7sZsGu77Bov16aMmQDDQQABBBBAAAEEKiywtKF5/bLG1iAVqar8y4E3Drv7X1W4d3PbfWQDArtmy67dcsO2a7rs2i7XpkQAAQQQiK4APUcAAQTCLLB15aYeu0zd9TGXy50cuPjTjGtHrYxsQKDjctyu3TJwFb1s13RZnQUBBBBAAAEEEEAgMgKR7Kh/7Jmyy9RVJCv5h3Z4E+8O5asR/BHJgGBgdOibItojk4+cXctl13RNNvmJAAIIIIAAAggggEBpBewy9Y3L1r3l9qKin+kfPbzbtaNURi4gKFyj9SOHbNdw2bVcrk0ZUgG6hQACCCCAAAIIxExg9dKVOx6obTgbDMvzjhz49WB70I5IJVIBgV2bZddoOVu7dsuu4XJtSgQQQACBygvQAwQQQCBJAr1rtm32zw5MpiJVaciNy4mojT9SAYFMvDcooh3iP1QkO3ntlkZrDH7feSKAAAIIIIAAAjEQYAi+wILUgoxdvu5Xx/1FRHVr/+jQP0mEHpE5mO6fvCbr3zpbu2bLrt1ybUoEEEAAAQQQQAABBCohYJevr1zSds7t2//g+h8HLh7a6tphLyMREOSvxfK8Iw7TrtWya7Zcm7LEAmweAQQQQAABBBBA4J4CW1Zs7KmpqhkNXnQzdeLFSz9pCNohrkQiILBrsVQlD6qil+1arRCb0jUEEEAgsgJ0HAEEEEBgbgL+MWrqqbVPtKnIZCpSlXZ9/4/BB9oS4kfoA4KB0cF/tmuxCobjdo2WXatVaFMggAACCCCAAAIIzF6Ad5RAoG5B7dKPtK2/5DbtBwe7B84Pfc61w1qGOiDYP3qoR0T/QQoPuzbLrtEqNCkQQAABBBBAAAEEEAiVQGfzim1LMovPBJ1S7+DAxYMdQTuEldAGBC/8aqgx5+lxZ2bXZNm1Wa5NOUMBXoYAAggggAACCCBQVoHuVY89ktbU25M71YzcTJ+crIfzZ2gDgqobclRVW4zNP92SnbwmixSj5sGCAAII3EmAdQgggAAC4RCwy9t712y3zhRSkcrmgdGhH9mKMC6hDAj6Lwz9uajscmB2LZZdk+XalAgggAACCCCAQIIFGHoEBBrrHljd2bzitWld/ebk5fDT1oSkGrqA4MAbh7okJwedT1PDg6d9zG2uTYkAAggggAACCCCAQBQENrWt77XL3l1f7XJ4uyzetcNShi4gyE2kTqpKrQGlNfX2E52P5s+3WDtxCwNGAAEEEEAAAQQQiLRA/rJ31Ss2CFVtscvirR6mJVQBQf+FwZdEZUMB6Lpde1Wl6epCmwIBBBCIrQADQwABBBCIp4Bd9v74yk3vBKNT2bV/dOiLQTsEldAEBAOjQzvV0687k66HOs/btVeuTYkAAggggAACCMRAgCEkUKBtcesWuwzeDT3nycv5y+TdigqXoQgI9v/yx03iyTFnkampe33jh9b0uDYlAggggAACCCCAAAJRFrDL4O1yeBuDqtTaZfJWD8MSioDAS00cE5UmA1HVKx9d073W6pFe6DwCCCCAAAIIIIAAAgUBuwzeLof3m9f9Rfxj3w395wf/VULwqHhA0H9h8K99h53+Ys+cXWNVnV6w2BosCCCAQBQE6CMCCCCAAAIzEbDL4e2yePda/4Pwv7bL5l27UmVFA4KBi4c3qKdBZNS6qPlM2+LWLZXCYL8IIIAAAggggMA9BPgVAvMWsMvi7fL4YEOeHMtfPh+sKH+lYgHB8789UisTuZNuyFXpqjcff3jLDtemRAABBBBAAAEEEEAgjgJ2ebx/diCfilRUmvKXz1dwoBULCBb+7veviGiXTD6uP7VmxyK7tmqyWeGf7B4BBBBAAAEEEEAAgRIJ2OXxdpm8v/mcv9hzZ+EyequXfalIQDBwYWiXqnzBjXZ9a9eF+pr6dtemRAABBMolwH4QQAABBBCohIBdJm+Xy7t922X0djm9a5ezLHtA0P+bwRbPk6NukPW1mXNrW1Z1uzYlAggggAACCCBQAgE2iUDoBOxyebtsPujYRO5k/rL6YEV5KmUPCHRcjqtIow1PRS8/2bVjndVZEEAAAQQQQAABBBBIkoBdLm+XzftjnkxFKtq18OrvX/bbZX2WNSAYOD/4HRF1NxzLda969JpdQyXFfLAtBBBAAAEEEEAAAQQiImCXzdvl8667KvJFu7zetctRli0gGLh4aKuo/sANallj65mlDc3rXZsSAQQQmK0Ar0cAAQQQQCAOAnb5vF1G78Zil9fbZfauXeqyLAHBi5d+0iA3UyfcYOxaqa0rN7kzBW41JQIIIIAAAgggcCcB1iEQewG7jF5FL9tAVaTRLrO3ejmWsgQE+v4fj4hKPouQP8CsXSulomXZdzkQ2QcCCCCAAAIIIIAAAvMRsMvo7XJ6fxuFVKTaMzA69E2/XfJnyQ/K948efk5FdruRfKRt/SW7Vsq1bylpIIAAAggggAACCCCQUAG7nN4uq582/B8deOPw5mntklRLGhAMXDzY4UnusOv5ksziM53NK7a5NiUCCCRXgJEjgAACCCCAwO0Cdlm9XV7vfpPL5U4OXPxpxrVLUZY0IJCb6ZMimh9AWlNvd6967BHhgQACCCCAAAJJEmCsCCAwCwEVTU1eXi9ZyT+0Q26+dzBfLdGPkgUEA6NDPxQVd4pjvHfNdlmQWpAPDko0FjaLAAIIIIAAAggggEDkBezy+o3L1r0VDETlc/2jh4NL8IP1RaoULyCY1qH9o4csg9C33arO5hWvNdY9sNq1KRFAAAEEEEAAAQQQQODuAquXrtzxQG3D2eAVnnfkwK8H80l6gnVFqhQ9IHjhV0ONOU+Pu/7VVNWMbmpb3+valAggEH0BRoAAAggggAACpRfoXbNts7pUpCoNuXEJ0vgXc+9FDwiqbshRVW2xTvrllafWPtFmdRYEEEAAAQQQiJwAHUYAgQoK2OX23aseveZ3YdxfRFS39o8O/aMU+VHUgGD/6NAXRWWX6+PjKze9U7egdqlrUyKAAAIIIIAAAggggMDMBSwV6colbefcO1TknwYuHtrq2sUoJwOCImzpwBuHunKevOw21dTw4Om2xa1bXJsSAQQQQAABBBBAAAEEZi+wZcXGHrsMP3jnzdSJFy/9pCFoz7NStIAgN5E6qSq11h9LMfpE56Pbrc6CAALhEqA3CCCAAAIIIBAtARVN2WX4KjKZilSlXd//4xEp0qMoAcHA6OArorKh0KfrvWu2S5WmqwttCgQQQAABBBAovwB7RACBGAnYZfgfaVt/yQ3JDw52948Ofsa151POOyAYGB3aKaJ/JYVH10Od50kxWsCgQAABBBBAAAEEEECgSAKdzSu2LcksPuM25wcFQwMXD3aIuDVzK+cVEOz/5Y+bxJNjbteZmrrXN35ojd2DwK2iRAABBBBAAAEEEEAAgSIJdK967BG7PH9yc5qRm+mTk/W5/5xXQOClJo6JSpPtXlWvfHRN91qrsyCAQGkE2CoCCCCAAAIIJFvAUpHa5fm+QiEVqWzuPz/0L357zs85BwQvjg7+rb/Xnf5iz5ylGK1OL1hsDRYEEEAAAQQQmJcAb0YAAQTuKmCX53c2r3jNvUBV/n7/6KE5X6Uzp4DgwBuHN6dE97tOtC5qPtNGilHHQYkAAggggAACCCCAwAwF5vayTW3re6enIs15evyFXw01zmVrqdm+aeDiTzO5XC64VqkqXfXm4w9v2THb7fB6BBBAAAEEEEAAAQQQmLtAPhWp6hXbgqq2VN2Qo1af7TLrgMCbePdVEe0Q/6Ei2afW7FhEilEfgycC9xHg1wgggAACCCCAQDEFLBWpXbYfbFNl18CFwc8H7RlWZhUQ9I8e3q2if+q2vXHZurfqa+rbXZsSAQQQQAABBAQCBBBAoGwCdtl+U8ODp90OvZy+euCNQ12uPZNyxgHBgV8PtovnBXdEe6C24ezqpSu5VGgmyrwGAQQQQAABBBBAIIYC4RjSE52PbnepSFWlNjeRCi7vn0kPZxwQ5MblhL+DBtuof5bgcu+abZutzoIAAggggAACCCCAAAKVE7DL93vXbLcOXLcforJhYHToQL4+gx8zCgj6R4f+UVS3FrY33r3q0WuWA7XQpkAg9gIMEAEEEEAAAQQQCLOApSLteqjz/LQ+/o0fFLhbBExbfXv1vgHBwMVDW1Xkn9xbVy5pO7e0oXm9a1MigAACCCAQIwGGggACCERWYHAOUZgAAAp1SURBVOOH1vRkaupeDwbgybH9v/xxU9C+S+WeAcGLl37SIDdTJ9x7LdfplhUb53zTA7cdSgQQQAABBBBAAAEEKisQz71/dE33Wi2kIhWVJi81cex+I71nQKDv//GIv6F8FiH/LEE2n+tU9J7vud8O+T0CCCCAAAIIIIAAAgiURqA6vWBxIRVprrCHnQPnB79SqN+xuOvBff+Fwc/6QcBu966PtK2/ZLlOXZsSgagI0E8EEEAAAQQQQCBJApaKtHVR85lgzKoHBy4e3hC0P1C5Y0AwcPFgh3pyyL12SWbxmc7mFdtcmxIBBBBAAIEQCtAlBBBAAIGCwOMPb9lRla56s9AUmcidfP63R2qD9rTKHQMCuZk+KaIZ8R+W07R71WOP+FWeCCCAAAIIIIAAAgiEQIAu3E+gStPVT63Zsch/3WQqUtGuhb/7/X6/fdvztoBg4PxQv6i4ewyMW05TUoze5sYKBBBAAAEEEEAAAQRCLVBfU9++vrXrguukqvxl/4VDn3BtV94SELz4xuCTovIN98vO5hWvWU5T16ZEoNwC7A8BBBBAAAEEEEBg7gJrW1Z119dmzgVbyOlPX/7lj1uDtl8JAoIXfjXUqBPy3/nr8k9LMbqpbX1vvsEPBBBAAAEESivA1hFAAAEESiTwZNeOdSp62Tavqg/eTN38763uliAgSN/0/oP/ghb3i0xN3Xuv/+cL/4kFA/4G+Bvgb4C/Af4G+Bvgb4C/geL9DWBZbsvRy795o7a69v9yx/ki2jMwOvRNKTzyAYHlJvWjhluuJ/rd9WzP/3n1//o3LBjwN8DfAH8D/A3wN8DfAH8D/A3wNxDtv4Hfj//+8cLxvyt+dOCNw/nvDafyOUlVD7rfUCJQLAG2gwACCCCAAAIIIBBegVwu9x+f955PpWRCNojn/RMLBvwN8DfA30AC/wZUny/CvPP/EP4/yt8AfwP8DUTyb0D+W/lPzQtT39jypf/+G4/85fMsGPA3wN8AfwMJ/BvY/KV/Yt4TOO/8f5/jnjn/DfDfS9z+zXz+yb98L/8dgvCeyKBnCCCAAAIIIIAAAgggUEoBAoJS6kZ423QdAQQQQAABBBBAIBkCBATJmGdGiQACCNxNgPUIIIAAAgkXICBI+B8Aw0cAAQQQQACBpAgwTgTuLEBAcGcX1iKAAAIIIIAAAgggkAgBAoIYTjNDQgABBBBAAAEEEEBgpgIEBDOV4nUIIIBA+AToEQIIIIAAAvMWICCYNyEbQAABBBBAAAEESi3A9hEonQABQels2TICCCCAAAIIIIAAAqEXICAI2RTRHQQQQAABBBBAAAEEyilAQFBObfaFAAIITAlQQwABBBBAIBQCBAShmAY6gQACCCCAAALxFWBkCIRbgIAg3PND7xBAAAEEEEAAAQQQKKkAAUERedkUAggggAACCCCAAAJREyAgiNqM0V8EEAiDAH1AAAEEEEAgNgIEBLGZSgaCAAIIIIAAAsUXYIsIxF+AgCD+c8wIEUAAAQQQQAABBBC4qwABQYGGAgEEEEAAAQQQQACBJAoQECRx1hkzAskWYPQIIIAAAgggME2AgGAaBlUEEEAAAQQQiJMAY0EAgZkIEBDMRInXIIAAAggggAACCCAQU4FYBAQxnRuGhQACCCCAAAIIIIBAyQUICEpOzA4QQKCIAmwKAQQQQAABBIosQEBQZFA2hwACCCCAAALFEGAbCCBQLgECgnJJsx8EEEAAAQQQQAABBEIoUPGAIIQmdAkBBBBAAAEEEEAAgcQIEBAkZqoZKAIVF6ADCCCAAAIIIBBCAQKCEE4KXUIAAQQQQCDaAvQeAQSiJEBAEKXZoq8IIIAAAggggAACCBRZYF4BQZH7wuYQQAABBBBAAAEEEECgzAIEBGUGZ3cIRFSAbiOAAAIIIIBATAUICGI6sQwLAQQQQACBuQnwLgQQSJoAAUHSZpzxIoAAAggggAACCCBgAoWFgKAAQYEAAggggAACCCCAQBIFCAiSOOuMOWkCjBcBBBBAAAEEELirAAHBXWn4BQIIIIAAAlEToL8IIIDA7AUICGZvxjsQQAABBBBAAAEEEKisQBH3TkBQREw2hQACCCCAAAIIIIBA1AQICKI2Y/Q3aQKMFwEEEEAAAQQQKKkAAUFJedk4AggggAACMxXgdQgggEBlBAgIKuPOXhFAAAEEEEAAAQSSKhCycRMQhGxC6A4CCCCAAAIIIIAAAuUUICAopzb7SpoA40UAAQQQQAABBEIvQEAQ+imigwgggAAC4ReghwgggEB0BQgIojt39BwBBBBAAAEEEECg3AIx3B8BQQwnlSEhgAACCCCAAAIIIDBTAQKCmUrxuqQJMF4EEEAAAQQQQCARAgQEiZhmBokAAgggcHcBfoMAAggkW4CAINnzz+gRQAABBBBAAIHkCDDSOwoQENyRhZUIIIAAAggggAACCCRDgIAgGfOctFEyXgQQQAABBBBAAIEZChAQzBCKlyGAAAIIhFGAPiGAAAIIzFeAgGC+grwfAQQQQAABBBBAoPQC7KFkAgQEJaNlwwgggAACCCCAAAIIhF+AgCD8c5S0HjJeBBBAAAEEEEAAgTIKEBCUEZtdIYAAAghMF6COAAIIIBAGAQKCMMwCfUAAAQQQQAABBOIswNhCLUBAEOrpoXMIIIAAAggggAACCJRWgICgtL5J2zrjRQABBBBAAAEEEIiYAAFBxCaM7iKAAALhEKAXCCCAAAJxESAgiMtMMg4EEEAAAQQQQKAUAmwz9gIEBLGfYgaIAAIIIIAAAggggMDdBQgI7m6TtN8wXgQQQAABBBBAAIEEChAQJHDSGTICCCRdgPEjgAACCCAwJUBAMGVBDQEEEEAAAQQQiJcAo0FgBgIEBDNA4iUIIIAAAggggAACCMRVgIAgHjPLKBBAAAEEEEAAAQQQmJMAAcGc2HgTAgggUCkB9osAAggggEBxBQgIiuvJ1hBAAAEEEEAAgeIIsBUEyiRAQFAmaHaDAAIIIIAAAggggEAYBQgIKj8r9AABBBBAAAEEEEAAgYoJEBBUjJ4dI4BA8gQYMQIIIIAAAuETICAI35zQIwQQQAABBBCIugD9RyBCAgQEEZosuooAAggggAACCCCAQLEFCAjmJ8q7EUAAAQQQQAABBBCItAABQaSnj84jgED5BNgTAggggAAC8RQgIIjnvDIqBBBAAAEEEJirAO9DIGECBAQJm3CGiwACCCCAAAIIIIDAdIEkBwTTHagjgAACCCCAAAIIIJBIAQKCRE47g0YgaQKMFwEEEEAAAQTuJkBAcDcZ1iOAAAIIIIBA9AToMQIIzFqAgGDWZLwBAQQQQAABBBBAAIH4CEQ1IIjPDDASBBBAAAEEEEAAAQQqKEBAUEF8do0AAjMR4DUIIIAAAgggUEoBAoJS6rJtBBBAAAEEEJi5AK9EAIGKCBAQVISdnSKAAAIIIIAAAgggEA6BSgQE4Rg5vUAAAQQQQAABBBBAAAEhIOCPAAEESijAphFAAAEEEEAg7AIEBGGfIfqHAAIIIIBAFAToIwIIRFaAgCCyU0fHEUAAAQQQQAABBBCYv8D/DwAA//85ra9PAAAABklEQVQDAAoKMkPW7UqHAAAAAElFTkSuQmCC"/>
          <p:cNvPicPr>
            <a:picLocks noChangeAspect="1"/>
          </p:cNvPicPr>
          <p:nvPr/>
        </p:nvPicPr>
        <p:blipFill>
          <a:blip r:embed="rId3"/>
          <a:srcRect/>
          <a:stretch/>
        </p:blipFill>
        <p:spPr>
          <a:xfrm>
            <a:off x="496186" y="1705270"/>
            <a:ext cx="3039386" cy="2831534"/>
          </a:xfrm>
          <a:prstGeom prst="rect">
            <a:avLst/>
          </a:prstGeom>
        </p:spPr>
      </p:pic>
      <p:sp>
        <p:nvSpPr>
          <p:cNvPr id="3" name="Text 0"/>
          <p:cNvSpPr/>
          <p:nvPr/>
        </p:nvSpPr>
        <p:spPr>
          <a:xfrm>
            <a:off x="496186" y="606573"/>
            <a:ext cx="8151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Phase 2: Screening - Eligibility Criteria and Selection</a:t>
            </a:r>
            <a:endParaRPr lang="en-US" sz="2820" dirty="0"/>
          </a:p>
        </p:txBody>
      </p:sp>
      <p:sp>
        <p:nvSpPr>
          <p:cNvPr id="4" name="Text 1"/>
          <p:cNvSpPr/>
          <p:nvPr/>
        </p:nvSpPr>
        <p:spPr>
          <a:xfrm>
            <a:off x="3748223" y="1705270"/>
            <a:ext cx="4899591" cy="221512"/>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Purpose of Screening</a:t>
            </a:r>
            <a:endParaRPr lang="en-US" sz="1410" dirty="0"/>
          </a:p>
        </p:txBody>
      </p:sp>
      <p:sp>
        <p:nvSpPr>
          <p:cNvPr id="5" name="Text 2"/>
          <p:cNvSpPr/>
          <p:nvPr/>
        </p:nvSpPr>
        <p:spPr>
          <a:xfrm>
            <a:off x="3748223" y="2011818"/>
            <a:ext cx="4899591" cy="90721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Screening involves reviewing the titles and abstracts of identified studies against predefined inclusion and exclusion criteria. This step aims to quickly filter out irrelevant studies while retaining all potentially relevant ones for further assessment.</a:t>
            </a:r>
            <a:endParaRPr lang="en-US" sz="1105" dirty="0"/>
          </a:p>
        </p:txBody>
      </p:sp>
      <p:sp>
        <p:nvSpPr>
          <p:cNvPr id="6" name="Text 3"/>
          <p:cNvSpPr/>
          <p:nvPr/>
        </p:nvSpPr>
        <p:spPr>
          <a:xfrm>
            <a:off x="3748223" y="3096240"/>
            <a:ext cx="4899591" cy="221512"/>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Establishing and Applying Eligibility Criteria</a:t>
            </a:r>
            <a:endParaRPr lang="en-US" sz="1410" dirty="0"/>
          </a:p>
        </p:txBody>
      </p:sp>
      <p:sp>
        <p:nvSpPr>
          <p:cNvPr id="7" name="Text 4"/>
          <p:cNvSpPr/>
          <p:nvPr/>
        </p:nvSpPr>
        <p:spPr>
          <a:xfrm>
            <a:off x="3748223" y="3402788"/>
            <a:ext cx="4899591" cy="1134016"/>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Inclusion criteria specify the characteristics studies must possess to be included (e.g., specific study design, population, intervention, outcome). Exclusion criteria define characteristics that would make a study ineligible. Decisions are typically made by two independent reviewers to reduce bias.</a:t>
            </a:r>
            <a:endParaRPr lang="en-US" sz="110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2551" r="12551"/>
          <a:stretch/>
        </p:blipFill>
        <p:spPr>
          <a:xfrm>
            <a:off x="0" y="0"/>
            <a:ext cx="3429000" cy="6693712"/>
          </a:xfrm>
          <a:prstGeom prst="rect">
            <a:avLst/>
          </a:prstGeom>
        </p:spPr>
      </p:pic>
      <p:pic>
        <p:nvPicPr>
          <p:cNvPr id="3" name="Image 1" descr="preencoded.png"/>
          <p:cNvPicPr>
            <a:picLocks noChangeAspect="1"/>
          </p:cNvPicPr>
          <p:nvPr/>
        </p:nvPicPr>
        <p:blipFill>
          <a:blip r:embed="rId4"/>
          <a:srcRect t="4908" b="4908"/>
          <a:stretch/>
        </p:blipFill>
        <p:spPr>
          <a:xfrm>
            <a:off x="3925186" y="1488558"/>
            <a:ext cx="2254988" cy="1393677"/>
          </a:xfrm>
          <a:prstGeom prst="rect">
            <a:avLst/>
          </a:prstGeom>
        </p:spPr>
      </p:pic>
      <p:pic>
        <p:nvPicPr>
          <p:cNvPr id="4" name="Image 2" descr="preencoded.png"/>
          <p:cNvPicPr>
            <a:picLocks noChangeAspect="1"/>
          </p:cNvPicPr>
          <p:nvPr/>
        </p:nvPicPr>
        <p:blipFill>
          <a:blip r:embed="rId5"/>
          <a:srcRect t="4908" b="4908"/>
          <a:stretch/>
        </p:blipFill>
        <p:spPr>
          <a:xfrm>
            <a:off x="6392826" y="1488558"/>
            <a:ext cx="2254988" cy="1393677"/>
          </a:xfrm>
          <a:prstGeom prst="rect">
            <a:avLst/>
          </a:prstGeom>
        </p:spPr>
      </p:pic>
      <p:sp>
        <p:nvSpPr>
          <p:cNvPr id="5" name="Text 0"/>
          <p:cNvSpPr/>
          <p:nvPr/>
        </p:nvSpPr>
        <p:spPr>
          <a:xfrm>
            <a:off x="3925186" y="389860"/>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Phase 3: Eligibility - Full-Text Review and Inclusion</a:t>
            </a:r>
            <a:endParaRPr lang="en-US" sz="2820" dirty="0"/>
          </a:p>
        </p:txBody>
      </p:sp>
      <p:sp>
        <p:nvSpPr>
          <p:cNvPr id="6" name="Text 1"/>
          <p:cNvSpPr/>
          <p:nvPr/>
        </p:nvSpPr>
        <p:spPr>
          <a:xfrm>
            <a:off x="3925186" y="3059445"/>
            <a:ext cx="2254988" cy="443023"/>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Objective of Full-Text Review</a:t>
            </a:r>
            <a:endParaRPr lang="en-US" sz="1410" dirty="0"/>
          </a:p>
        </p:txBody>
      </p:sp>
      <p:sp>
        <p:nvSpPr>
          <p:cNvPr id="7" name="Text 2"/>
          <p:cNvSpPr/>
          <p:nvPr/>
        </p:nvSpPr>
        <p:spPr>
          <a:xfrm>
            <a:off x="3925186" y="3587504"/>
            <a:ext cx="2254988" cy="2041230"/>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In this phase, full-text articles of all studies that passed the initial screening are retrieved and thoroughly assessed for eligibility against the detailed inclusion and exclusion criteria. This is a critical step where methodological quality and relevance are closely scrutinized.</a:t>
            </a:r>
            <a:endParaRPr lang="en-US" sz="1105" dirty="0"/>
          </a:p>
        </p:txBody>
      </p:sp>
      <p:sp>
        <p:nvSpPr>
          <p:cNvPr id="8" name="Text 3"/>
          <p:cNvSpPr/>
          <p:nvPr/>
        </p:nvSpPr>
        <p:spPr>
          <a:xfrm>
            <a:off x="6392826" y="3059445"/>
            <a:ext cx="2254988" cy="664535"/>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Rigorous Application of Inclusion/Exclusion Criteria</a:t>
            </a:r>
            <a:endParaRPr lang="en-US" sz="1410" dirty="0"/>
          </a:p>
        </p:txBody>
      </p:sp>
      <p:sp>
        <p:nvSpPr>
          <p:cNvPr id="9" name="Text 4"/>
          <p:cNvSpPr/>
          <p:nvPr/>
        </p:nvSpPr>
        <p:spPr>
          <a:xfrm>
            <a:off x="6392826" y="3809016"/>
            <a:ext cx="2254988" cy="2494836"/>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The detailed eligibility criteria, established during the protocol development, are rigorously applied. Any discrepancies or uncertainties during this phase are resolved through discussion among reviewers or by consulting a third party. Documenting reasons for exclusion at this stage is crucial for the PRISMA flow diagram.</a:t>
            </a:r>
            <a:endParaRPr lang="en-US" sz="110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eAAAALCCAYAAAAGWAA1AAAQAElEQVR4AeydB3wcxdnG37k79ereu40b7samuNtAANNDsIEQwkc1JAGCDUkgoaSATQtgA4FACB2HEHp1Lxh3bDDuvYCbetfdfvOsNKuzLFntJF159Nu5Kbs7O/Pf0z077V2X8I8ESIAESIAESKDBCVCAGxw5LxipBC5bmNXisi+z+kyemzV60rz0n06emzFl0tyMeyfPTZ+u3cxJczJemjQn/e1Jc9M+nDQ3fd7kOelfT56b9q0Ob9fhH3V6lj7OMu7aBTus6atm5cxYNeuQ9ndNXz1zgw6v1OGFOvzJjNUz35mxeta/tf/s9DUzH9P+A9NXzbx9xqpZVz2y6pmzp3/z9OBH18/sEKn3g/UmgcYmENkC3Nj0ef2wIHD+Siv+irnpQybPyZg8aU7GPVogtZhCSCGiad9pAT2o0yxPsfegx+X9TsQ7X1kyW8SaqcR6QEOYqt0UpaxrlJLLlKjzlMgYUTJMRPXV4S463FKJSpRyf/r4eL2vufY76v29dXiIDo/U4Z+IqEtE5Oci6kZlqdu1f69S6jF9zCuWsj5VXtcqX5HarUXa0uKcpd326atnfa0F+sPpq2a+pNP/OmP1M79+ePWsC2asmtX/4Y3/TBL+kQAJBIwABThgKJlRuBNA6/XyuZkXajGdOnlO+vOT56QtmDw3bX9iZkaOJbJSlPW6FtEHNQctphBS0SKq+iiRFhL0fxB31UWXdZgW6POUUtfoIv9OPyT8Xf9IvKfTvnHlFmTOWD3ryPRVM1fNKGldPzp99axfzVg18/yH1j3VjwKtiXEjgRoQ0P9bNTiah4YTAdalEgJXfJneVYvspZPmpD04aU76x7oFu0PHLbReXeL7nz5tuhak60SpUSKqjVT/L0P/w+2Kccv6pCjX161i3Ys6J3nm92kSPX9gs5gFw1rELB7RJm7phHbxy89pH7/mgo4J313WLWHLlT2Sdl9zUvKhG3onZ5/fUdLM5dyu2JwLB5ydO7Hf+CM/6TN67/heI7aN6nHqhtO7DvlmaKcBKwe277usb5uTFp/UquvCrs07LGjXpM385onNFiTGJiyN8cSsdrvcW7TQHjT5VdNvqs8ZLGK3ru9QIk9qDu+7i93rINDTV8/cM2P1zPenr551/8NrZl30yOqnOwn/SIAEKiSgfw8qTGciCUQEAbtVOy/jyslzMx7Vrdq5k+emp1ku2aYr/x8tNPcoJedokems4yfc9D/SrkSPWtE+wbPg5CbRC05rFbvk7A7xKy/tmrDxFyclHbi1b4polzKlb0qn63ul9NNpwy/rljhyYseEMePaxo0Z0Tp29LCWsSMGNo0+vVdq1LBuKVGDOiZ5+raK9fRoEu3qmBilWkS7VKK+ji5OSVGUbm57XO54LabNEmIS2qfGJXdrkdi0T5uUVgM6NW03tFuLTqf2at19RL+2vUYN6tBv9KmdB40Z3WP46LN7jz5di/bgiwac3eOSgee0vHTQuTKx/5lpE3qP2HFG1yHrINwnteq2EIKdGp+8SOe/2qXUrpKrnvhTiWovos5XIn90WfKuJa6dWoyP6lbz3BmrZz06Q48/P7T26b7CPxIgAdH/z6RAApFBYNK8tM5XzM24Wrdsn5o0N33ZpLlpuXar1rJe1V2td4iSsZpEqnaVbYdiPa5vWsS4F/VpEj1/fLu4ryd3S9p+c6+UQgjrNT2TT7moc8LoMW3jRg9pHnNGj+SooW3iPL2Solw1aSVXdu3j0i3L0jp3XHKtEmLcUU1SYpO7tE5p1R/C3a9tz1EQ7PE9R4yEWF888JxOWqy9Z/cZs++0rkPWomUNgU6JTVoc7Y5e61Jqn76wV7vjNl3IJkopsAXjV9w+17dajC0tzF9jctgjq2f+9K+rnwyBbvrjqsYEEqgTAQpwnfDx5GAmcBlmHM9Lv1F3Ib+JsVplqR2WWC8rpW7VojBciYqrpPz5US75tk28e+EpLWMWoSv4hl7JOboF2+K6nkkDLu+eOBKt1t6p0cObxbq6ut0SLQ3052ug61R0Gc3NnRgT365tSquBaFlDoCf0Hjni/P4TBmqBbnfRwLOLdRf4971ad13UNCF1ocft+U7nk6ddhZsSGabvye2WqNlR4jk43Z7FPfMfupX8y8dWzexe4UlMJIEwIkABDqObGelVmTQvfejkOWm36a7kd3VX8iG0bsWSZ/UP/eVS+Vhtdqxu1bbTXcentopZjDHXm/ukRN3YO+XkS7skjhreInYkuoKj3SpBguAvQP+w9VITt3LH6C7w3n3b9Bo59qTTR13Y/6y+utUcPa7XiG192/Zc0jKp2YJod9RaffEM7Y7blKjeotT1ouRFr1Jbpq+aeWDG6pmzp6+e9atH1z4z6LgTmEACIU4gmP+fQxwti1/fBCbPy2x++Zz0m7XYfqSFN1tZskKUelyUXCQizbU7btPjqBswTjuiTdzSyd2TdupWbSJatRfrruOhzWNHYMzVrcQt/AsIAbSam8Qld+vVqtsZI7sPH31+/zMH6jHnlLP6jN47qH2fr0pFeV1FF9PnthZRP1UiT/p81motxHosedabuqV8NbushX9hQIACHAY3MZKqcNmC9C5acH+nW7lLxfIdcimZpet/rqgKW6hFMW5Z3ynJM//MDvErb+idnKVdH4zTDmwafXqzGFdnfS63RiCQFJPQvmuLzqeVinJ/3X1dNKrH8A3dWnRekBibuFSJ2lO+WEpEjyXL5UrUy+iynrFq1kotyg/OWP30aeWPPWGcO0kgSAi4gqQcLAYJVEpg0tyM4Vpw/zZpTvoGj1e26wP/Kkoq+tEtiPWoNd2TPfPPaR+/5qbeycWYcXx+x4QxPZOjhurWb1gZktAtREuzCIvNrdxRLRKb9RnYvs/os3uPOv2SQed0mNhv/JEhHfstb5Paen6MO3rNcRVVMkSJ3CPiWjpj9awj2r0xffVMto6PA8WEYCVAAQ7WOxPh5Zr8ZfqZuqX77KQ5afuUWMu04N6tlPQuj8Wj1CaspZ3YKX6d7k6Oua5n8qCfdEgY0y0lapDHpeLKHx/qcf9JWIGcBR2MXGI8Mc06N+sw7PQug8dM7D9h0AX9J2RgLDkxOuErXd5c7fy3pjoySfm3jlfN+v1DK5/rqNO5lRFgKIgIUICD6GZEelF0K3fcpLnpz2nhPSQu+VzzuFEp1Vb7zqZEchM9ruWDm8csurpH0oGb+iT3xFrazolR/Z2Dwjjg/w+r2YRNC7g6tyzKHZ3SS48ln9139Gm6y9o9tFP/FanxyYv0uUe0O3ZD61jJX9wuL2xkr5i+ZuadD3/zZPtjD2KMBBqXgP//c+OWhFePSAKT52WO0K3cp7TwHtCt3DlaYG/QIJpr52wuJXvbJbgXwLDFDb1S3Nf0TBp2eqvYkcnR9bO+1rkwA0FLwK3cMZ2atj8F65R1d3WTM7oPW9cqqfkCpVx7yxdaiRqqLDXD5fXsmbFq5rKHV8/8LV9CUZ5ShMSDrJoU4CC7IZFQnMvnZ5wyeW7Go5Pmpu0Wy7dIt+RuVSKt/euux2u/g7ELGLqY0iel/cWdE0fDsEWUW2KEfyTgR0CJcrVOat5/RPdhoy8Z+JP243qdsaVdapv5LqWOt96l1HCXqEdKX0KxZMbqZ349/duZrf2yY5AEGoyAq8GuxAtFNIFJC3I76C7mP0N0XT5rOSxP6R/ODv5QPEq2nZQaPf/KHkm7buid3BfGLmDowv8YhssIhPsYcFlNaxZqEpfS49Qug8ZcPPCcTmNPOn1Tm+SWEGNY6iqf0en6e/h3VagOzFg168Ppa54+t/wBjJNAfRJoYAGuz6ow72AkcPmc9LO06L6nvIW7RckfyouuEtmDSVQwgHFTn5RuZ7WLG9Mk2kUD/tW4mUqpiBoDrgaS4w5pmpDa8/RuQyHG7bDMCeuOlagfjjtQyXnKcn00Y/XM7dNXzZz2yMrnjhkGOe54JpBAAAhQgAMAkVkcS+DKZVby5XPT7pg0J32TS8ln+gfvAv8jlMhBGMO4uFPCd7f0TemASVQwgOF/DMNVE2ALuGpG/kdgmRPWHesx41YYM26e2GSB3l9uApfqopR62HJ5D81YNeuVh1fNOlUfw40E6oUABbhesFacabin2raX56Y/68tJ3+8S9ahScpJ/nVOiXV+d0yF+tRbdljCG0S7R09d/P8M1I6DYAq4ZsLKjFcaMR/c4TY8Zn5M6pOOA5XHRcXpYRI59mYSSq/QD5FfTV89cM33NrOse2/NY2C1rK0PCUGMQcDXGRXnN8CIwaV765ZPmpC20bS+L3CiqzCqVUpKGLuareyTt/3mPpNO6JUcNDq/aszahTEAp5e7crN2wc/uOHXZO37GHOjRpO1+n7fevkxI1UHf2P198MPZH3UX998fWzerqv59hEqgtAQpwbclF+HnoZp48N32aFt69+sfpTf2jNdIfiUepTcNbxiy+sWdKHLqYk6Ndbf33M0wCwUYgPjqu9bDOA/V48U9aD+s0cGVCTNwyESnWzt6UkiQR9WtvsWzTQvzO9DXPnCH8I4E6EKAA1wFeJJ46aXFO20lzMx5DN7Ou/8NKqXbaN1tRkxjX0gs7Jay/qU9yz1NaxI7wuCXW7KQfWAIcAw4sT5ObEuXq0LTt0J/0GXvqef3GpXVu2n6+S7l2m/0lvrpEWdZirCuevmbWZSVp/CSBmhGgANeMV8QefdmC7H6T5qa/pgqLYBrydlHK//V8h7onR8+/pmdy2pXdk07vkOjpF7GgKql4fSQrjgHXB9Zj8oz1xLYY0qk/WsUdT+0yaLVuJX99zAFKDdc9QG9PXz1rx/Q1M38z89uZicfsZ4QETkCAAnwCONwlcvmcjHN0V/Mcj7d4nRK5wp+JyyW7hzaPWXRjr5Tkn3SIG5PoUS399zNMAuFEoF1qm8F6nHj4uF6nb02JT1qs61aknb3p/43OylJP5BSovTNWzZr+8OqnOORik+HHiQhQgE9EJ4L3TZ6XcdXkuWnfupT1scYwTjtni3apDaPbxC27uVdK+1NbxY6kdSoHTYMGQqcLukGx1PvFmsSldp/Qc+SIc08efxRGPvQFM7SzN6UkRZRMdYl73/RVM1+iyUsbCz8qIUABrgRMpCZfPif9sslz0jeLZb0iovpK2Z+V6HEtx1uHbuid3Kdf0+hT9Y8Nvz9lfBiKMAJxUTGtYOTjwgFnubu16LxAiTrgj0ApdQ1MXmohfuKvq59s4b+PYRIAAf6AggKd/Gxu5hl6jHeZS8nb+gm+hx+Sohax7kWXd0vajpcgRMpbh/zqH7RB/QNPS1hBcHc8Lk8i3mN88cCftOzfrs9St8u90b9Y+j79xmN5ts1YNfO+hzf+M8l/H8ORTcAV2dVn7S9fkNV70py0D9ziW6xEhvsRyeuY5Jl/zUnJ6Zd3SxzZItbVzW8fgyRAAuUIaKF192jZ+fSLBpzd65ROA1b6C7FSkiRK/Unl5m/DZK1ypzIaoQQowBF64+3lRHMyXnJ5weCo4gAAEABJREFUvRuUUhP9MBS1iXcvvKZncuYFHRPGJEYpdp35wWGQBKpDoGPTdkMhxIM7nvy1S7m2mXOUqBbKUk/MWD1z5/TVM6826eHrs2YnIkABPhGdMNx3xaL0JpPnpk9XhUXblLKu8auir3mMe/FV3ZN+uLRL4qhEj2rlt49BEiCBWhDo0qzjcN013RVd0/pB1+/1iKqTFuOXZ6ye9Z3umj6/FlnzlDAgQAEOg5tY3SpMmpt2u1UkeBqfqs8xBjKslGjXV5d3S9oxqXviiNQYVwe9j1sIEOAs6BC4SSVFVOiavnjAT9r3bXPSYpdS+0qS7c8+umv6/emrZ81/aO3T/pMe7Z38CG0CVZWeAlwVoTDYP2lu+njMbNZP3I/p6jTRzt7i3WrlpV0SNsJGM8d4bSQh9aFbVFZIFTjCC6vvl7tX6+4jLhhwVsuTWnVbqOM/GiRKZLTb5/pWC/Gsx757oalJpx/eBCjAYXx/r/gyvevkOWnv63/uL0VJD1PVGLesv6BTwrpreyUPbRPv6W3S6ZMACdQ/AbdyR/Vr23PUJQPPadW1eQe8EjHHXFX/r97sLSjgRC0DJMz98BbgML95lVXv559ZCZfPTX/YcunuZqWc8SX9z/3jGS3jll7fK6Vfx0RP/8rOZzoJkEDDEBjUod/oc08el5MSmwTLWqU9GipVWeqJ6atmbXxk9axzGqYkvEpjEKAANwb1erzm5HmZvyiOSt+ib+w0v8sU4ZWA1/dKThzUIvp0v3QGSYAEGplAXFRsywm9R44Y1ePUjW63+3tTHKWkp1bkj6evnvnl9DXPOj1YZj/90Cegf6dDvxKsgcgVc9OH6LHeZWL5/iWi2oiI4C/OrVZf2SPpwMSOCWOi3SoBaXThQYCTsMLjPppatEhs2vui/mf36tu25xKddkg7e1OixivLt3n6mpmPzfjm3/wftqmExwcFOMTvI7qbJ89Nn6mflFcqP0MaLpfsntA2fsX/9Uoe3CTa1THEq8niV0BAKaVvewU7mBTKBFSvVt3OuHDAWXFtklvM1xUp0s7elKVut7xZG6evnXmWncCPkCdAAQ7hW/izL9PG6u5mmL2bYqqhRTi3d2r0/BtPSmndq0nUKSY94nxWmARCmIDH5Uk8vdspY87sPXp/bHTcclMVJaq98qnPpq+a+eojK59rbtLphyYBCnAI3rfLvrBSJs1N+5fbpeaK/oeU0j+s5/1Fz+Ts8e3ixrjdEi38IwESCGkCybEJnc7rO3bY0E79V+gej7JlS0pdaSnv9zPWzDrmFaEhXdkILDwFOMRu+qS5Ged5XBmb9ZPwL0zRlcjhsW3jlmM9b6KH7+Q1XCLYZ9XDjECnpu1PmdhvQmxqfPIip2pKmoslr+nW8GcPf/NkeyedgZAhQAEOkVs1eV5m80lz0t9WYn0oSlqaYjeJcS29tmeyq2+T6GEmjT4JkED4EYh2R6WM7zli5Oldh36jlGuvqaFuGZ/l8rq/f2TNTGcoyuyjH9wEKMDBfX/s0k2ek/ZLy+fbpJRcZieUfBxCq/fK7kmnx3lU05IkfkYSAc6CruRuh3lym5SWA87vP75J88RmMOJROhFPJVqWmjl91ayvHl379ElhjiBsqkcBDuJbiRcn6LHe90SpF7X4OiLbLNa15P96Jkex1RvEN49FI4F6JBDlikoY3WP46FE9Tv3epdROcyn9O3Gq1+taM2PNzOtNGv3gJUABDtJ7o7ucR1hF1ndK1AWmiPof7YcJbeNXTu6WdIZu9aaadPqRSUApVdr6icz6s9YiLRKb9rlgwFlt2qS2nq95eEVEP69LvFjqH7o1/O7f1s1ybL/r/dyCjAAFOMhuCIozaU7ag2L5FomfQQ28KvD/eiXF9WoSNVT4RwIkQAKlBNzKHXN6l8FjxvQ4dbNLKeeVh0rJRZ4i+e6RtTNHlB5KL8gIuIKsPBFdnEkLcjtMmpv+lVLqHj8Q2WPaxX2NVwXGuFSKXzqDJEACJOAQaJbYtPfE/hOal9qVLklX0sbyqUW6S/rPJQlh/hli1aMAB8kNmzwv7SIpLlivRE41RfIotemq7knpJ6dGDzdp9EmABEigMgJRemx4Qu+RI/q36/OVPiZbu5LNUn+YsXrm8hnfPNWlJIGfwUCAAtzId+GaeVasbvX+Q4/ZvKtbvk4Lt32CZ8H1PZO7pMa42jdyEXn5ICXAWdBBemOCoFg9WnY+7aw+o9Pdfi93EFGnWMXubx5eM/NK4V9QEAiwAAdFnUKmEJfNzexZYGWs1a1e/xmL6We1i191UeeE0bRmFTK3slEKqh/YOAmrUciHxkWTYhLan99vQo/WyS0xQcv+riglSS5LvTpj9azXHtvzWFxo1CR8S0kBbqR7e/nctEvc4l2jL99TO3uLcsm31/RMLjgpNWqIncAPEiABEqgDAbdye87oNnTMaV2HrLXEct6wpLO8ovhQzIpHVj/dSYe5NRIBCnAAwVc3q0lz0//qEvWOEmWeQH1dkz3zr+uV0jvRo1pVNx8eRwIkQALVIdA2pdUg3Rp2xXiiV5nj9e9PX0vU2hmrnhln0ug3LAFXw14usq925TIrefLc9E+VyO/8SBw9p0P8N+d2SBjjVuIW/pEACZBAPRCI8cQ0m9hvwuAOTdqiS9pXcgmVKsqaM33VzNtL4vxsSAIU4Aaiffmc9G7e3IzV+nJna2dvHpf6/uoeSQXdkqMG2Qkh/cHCkwAJhAABNazzwDHDuwz5Ril1VEr/dPix6atmvVkapddABCjADQD6Z/PSJyixVimRbuZyzWNci68/KblbcrSrjUmjTwI1IcBZ0DWhxWP9CbRPbTXo7D6jC9wu1yaTrpRcPmPVrNV8s5IhUv8+BbieGU+emz7NbckXSjlGNIoHNotZOKl70gi3W/jOXgmPv8aohf5OWY1xXV4zPAgkRMe3Ob//mZ2TYxMXOzVSMkgVu9fq1vBIJ42BeiNAAa43tCKT5qa/o7N/WDt70y3gwxd2Ttg4onXsKDuBHyRAAiTQiATcyh1zZu9RI05q1W2hLkahdqIf7JopJQunr5n5G8Tp6o8ABbge2E7Gu3vnpq/QgnuJyR5LjH7RM9nbIcFzskmjTwJ1IRA8XdB1qQXPDQYC/dr2HDWqx6nblKgDpjzKUk/MWDXzHyZOP/AEKMABZnr5l5knWT4vxnudlya0incvvO6klJMSucQowLQjOzvFtyFF9hcgwLVvkdi097n9xsVEezzfOFkrdb0eF/70vpXPxTtpDASMAAU4YChFdzlnDFfKu1z/MHY02Z7SMmbRZV0SR3G81xChTwLhRSCcahPriWk68eQzT06NT1rk1EvJ2QnK+9UT659v5aQxEBACFOCAYBS5fG7aJUqsZVp8bXvOSiT37A7xq4e3iOVkhgAxZjYkQAL1T0D/hrnH9xw5slPT9lgvXHJBJf2LiopWPbL62T4lCfwMBAEKcAAoYqazSxQmXNm5afE9/NMuCXt6JEcNthP4QQL1QIBjwPUAlVk6BIZ26j+mf3v7rUpFpYntLPF+/ciqZxxbBiKle+jVioCrVmfxJIfApLnpmKTgzHR2Kdn18x5J+a3iPY6NZ+dgBkgggAR0S4XLkALIk1kdT6BHi86nndZ1yHd6T4Z2elOJlrI+nbFmpv8LZHQ6t9oQoADXhpo+B68R1C1fmJV0vojRLrXh2h7JycnRfIWgRsSNBEggDAi0TWk1cELvEUeV3wxpsdQ/ZqyaNT0MqlenKtT1ZApwLQhimVG+L2OpPtXpikmMViuuPSm5a2yUaqLTuZFAvRNgF3S9I+YFSgmkxCZ3OefksW63y7OxNElEydTpNF8pdfmjANeQ3uQvs1uJ5VuslDj2m1vEuhf9onvyEI9bYmuYHQ8ngVoTUFyGVGt2PLHmBOKiYltO7De+o/ZXmLOVss1Xfmji9GtGILQFuGZ1rfPRl83JbSeqGC1fZ3y3d2r0/Mu7JY7UX0SyrDNhZkACJBDMBDwud/y5J487JTU+2X+Z0nnTV8/8PJjLHaxlo2hU885AfD1SsESUdC09xRraPGbR+HZxY0rj9EiABEggIgiM7zliZIuk5s4yJT0+fOaM1bPmzfx2ZmJEAAhQJSnA1QB5xZy8TiXiqzqVHm6d2ipmyamtGnWNb2lR6JEACZBAwxMY1X3YmHZN2jgirEswJrdAvnxyy5PJOsytGgQowFVAumxeRnef5OuW77HiO7R57IgqTuVuEqhXApyEVa94mXk1CJzaedCYHq264kUOJUvilBqen+Ve8Ld1szgZtRr8KMAngHTZ3MyeHp+1WCnVrvQwu+VL8S2l0Zgery36e1nyo0cWJNCIBPq37TWqf7temBtjfx91d/RAd7G16JGVzzVvxGKFxKUpwJXcJlt8xbdYlBj7p9aI1nFfUXwrAcZkEiCBiCXQo2XXM/q377NMAyjWTv9sqr4+5V382NpnTOMFyXTlCFCAywFB9PJ5WSe7xYdZfuYJzgvxHdgs+nTspyOBRiZgX55d0DYGfgQJAVjNGtppwFpdnALtRCnpWey1Fjy+8rk2iNMdT4ACXI7JFV+md3X5vHOUSIvSXd7RbeJWUHxLadALGgJKKbvLL2gKxIJEPIFOTdsNPb3rUBjryAEMpaRbkcu74K+rnzS/p0imKyVAAS4FAe/iJVktfS5rvihpibh2tvj2axp9qg5zIwESCAYCLENQE2iT0nLAqO7DduhCloiwSA+PuBc8tPI5+01xOp1bKQEKcCmICxZbSbEFxXOVqA6lSdYZLeO+pviW0qBHAiRAAtUk0CKp+cnDuwzZrA83Y8K93co7h+uENRG/jQKsYeDFCvEF6Z+KqL5S+jewWcyiQS045luKgx4JkEBwEAiZUrRPbTWof/s+MFtp2YVWMiS3UH1238rn4u04P4QCrL8E+VbGe0opZ4JVz9To+SNax47Su7iRAAmQAAnUkgAmZmmHCa0mh9MTXMWf3LfjJdrN10QiXoAnz0l/XYmcpVnYW7sEz4Iz29G8pA2DHyRAAiRQRwK6FTyqfWqb+WXZqFEJaXkflMVrEAqzQyNagCfNSX9GlEw297RZjHvRxZ0TRps4fRIgARIggboTGN5l0JhmiU0W+OU0YfqqWe/6xSMyGLECPHlu+u+UkpvMXU+Odn01qVviGSZOnwRIgARIIHAExvQ4bVRidPxXJkf9+3vRjFWzXjHxSPRrKMDhgWjyvMxf6Jr8VTt7i/eoVVd0TzpFfyEikocNgR8hR8CyLD16EnLFZoEjl4Ca0GfkKdGeqDUOAiVXTV89634nHmGBiBOcyfMzTxPL9y9zn2Ncsv7q7sl9PUo8Jo0+CYQCAUVDHKFwm1hGPwJu5fac03dcT4/b871J1k+Rf5yxZtYVJh5JfkQJ8BULMnqIz/eRucFupbZefVJyJ49bqjUjz5xHnwRIgARIoHYEPC53/E/6jG7pErXHycGS16avnhVx829cDoAwD1yxKL2Jz2t9ruPJDAwAABAASURBVKtpXpN16KoeiQkxbsV3V2oo3EiABEigoQjEeGKajes90itipftd893pa57t4RcP+2DECLBVZL2ruzo6l97RvMu6JaQnRbnalMbpVUmABwQbAY4BB9sdYXlqQiAlNrHziO6nohVc8vIGkSZ6ePDzSHqNYUQI8KS56a+JKNO94TuzXfy3rWI9EfWkJfwLOwIcAw67WxpxFWqV1KzfwPZ9MSnLQuXRSPK5ij9BOBJc2AvwpHnpd+mbeoW5mf2aRS/qmRp1ionTJ4HqEOAxJEAC9UOgW4tOp3Zt3mGhyV2JGqrHg/9j4uHsh7UAXz4vc6Ky5CFzA1vGuxeObh1nWsImmT4JkAAJkEAjEhjUod/opgkpfiIsl85YM/PPjVikBrl02Arw5C+z+yvL+7ahmOBRKy7rnDjCxOmTAAlUlwCPI4H6JzDmpNNHxEXHLHeuZKk/TF8907FU6KSHUSAsBfiypRlNLVX0ie7KiMO98rjU5p/3SDpZKb58QvhHAiRAAkFIQP9eu87uPaZflMu9wSmepV54eNXM3k48zAJhKcCePN+7Sqm2uFcupX64qkdSqselbDFGGh0JkAAJVJcAj2s4Am6XO+6svmNaaDE+gKsqJfEuJe/fF6avMAw7AZ48J/1vopR5lWDRxZ3j0xI9qiVuJh0JkAAJkEBwE4j1xLQY2WM41gcXlZRUdU9wFb9cEg6vz7AS4ElzMy8QJXebWzSwWczSNvGesO2+MPWkH5kEuA44Mu97w9a6ca7WIrFp7x4tOjsvbhBRP52xauatEmZ/YSPAl89J7ybifc3cn+Qo17IRrWNHmzh9Egg3Aoq2oMPtlrI+fgT6t+8zKikuaYmTpNRTj6yaNcSJh0EgLAT4/JUWxgk+1OMGibgnesxg1+Ruif0RpiMBEiABEghNAuN7nj7UpVzbTOktJe89vubxVBOvb7++8w8LAU7IzHhFg+qlne6BltzLuyZ5o9wqHnE6EiABEiCB0CTgVu6Y8b1GeHTps7XD1q7IF/0WAuHgQl6AJ83LuEWJXGJuxqg2ceuaxbq6mjh9EiABEiCB0CWQHJvYaUjHfs7SJD30ctaM1TPvDd0alZU8uAW4rJwVhvS472BlWU+bnW3j3Qv7NY0+1cTpkwAJkAAJhD6Bzs06DGud3HJ+WU3UAw+vnTm2LB6aoZAV4CuXWclKWf8z2KNc6vuLOieeZuL0SYAESIAEwofA6d2GjIp2R+PFDXalXF712t/WzTKvl7XTQu0jZAXYm5P5dyWqQynw9MndElNdSqJK4+HgsQ4kQAIkQAKlBPTvveusPiM76i7oH+0kJW08xdZLdjhEP0JSgCfPyTxft36vMczHtY3bnBztamPi9EmABEiABMKPQIwnptmpXQbbVrJKaqcufGT1Mz8vCYfeZ8gJ8OQvs1uJ8v3boG4e517cp0n0MBOnHyYEWI0qCdAQR5WIeEAYEmib0mpg86TmC0zVLPE989DK5zqaeCj5ISfAlqsY4muvA9NdEvsv6ZQwKJSAs6wkECgCuivOClRezIcEQonAGd2GnOZ2eTaXlFkluF3eN0rCofUZUgI8eU76dUrkrFLEvgs6xx+NdquE0jg9EggXAqwHCZDACQh4lDt6bM9TMecnv/Sw06evnumYIS5NC3ovZAR40oLcDiLWE4Zo12TPwg4JnpNNnD4JkAAJkEDkEEiJTe5yUosuX5saK1F/m7FqVkhZQAwZARZv4duiSlq7WHJ0VvuEEQY8fRIggTAiwKqQQDUJ9Gvfe3SMJ3pV2eHWW/fteCm2LB7coZAQYN31fLcSMQY28n/WLTHBowTmyYKbLktHAiRAAiRQrwQm9B7ZSYk6bF9EqV4Jabkz7HAIfAS9AE/+Mru/KPmbYTm4RczyJtGukJzxZupAnwQCQYCzoANBMejyYIFqSCDWE9N8aJcBu8pOU7fOWPPMmLJ48IaCXoDFVfyywRfvUatObxk7ysTpk0AkE+As6Ei++6y7P4GOqW2HNE1IXeikWb4XnXAQB4JagCfNSb9TsxuoHbbsn3VL6oAAHQmQAAmQQBgSqEOVRnYfNliUOliSheoyfdWsv5SEg/czaAX4ii/TuyolDxp0A5vFrE70qJYmTp8EIp0Au6Aj/RvA+vsT8Lg8iYPanbzdpCklvw/2WdFBK8CWy0LXsz2bzeNS35/ROnakAUufBEhA9MO+soR/JEACDoGuLTqcGh8d5yxN0juCuiu6nADr4gbBpruerxdRI6Tkz3txFz36K6KEfyRAAiRAAiRwAgJjTjqti96drZ1o1Rgyfc3M30iQ/gWdAF+8JKulKOsxw6tDgmdxq1hPDxOnTwIkQAIkQAKVEYiLim3ZrUVnZ22w8snfHv7myfaVHd+Y6UEnwDEFxS8qUYmAov0D53WMb7AXLeCadCRAAiRAAqFNYGD7PqPcbvf3di2UinMVe16ww0H2EVQCfPmc9Mu06J5nGJ3VIW6fHv+NM3H6JEACJEACJFANAmp0j1NhrMlrH6vk7OmrZ062w0H0ETQCfNkXVooSedawSYpyfd0jOWqoidOvbwLMnwRIgATCh0CTuJQerZNaLHJqZMlTf1s3q4kTD4JA0Aiw253+F6WkaSmTvEu7JmIgvTRKjwRIgARIgARqRuDUroOHK1EHcJZSqpm7SJylrUhrbBcUAnzZvIzuGtItBsbJTaKXc82voUG/IQjwGiRAAuFHwO1yxw3uePIeUzOl5JZHVj/bx8Qb2w8KAXZbvkcMCCWya2SbOLMEySTTJwESIAESIIEaE+jcrMOwaHfUWnOiZfmeMuHG9htdgCfNzxypRF1oQJzVIf6wW4lb+EcCJHBCApZlqRMeUO2dPJAEwpvAiB7Dk3QNzYSscTNWzTxfxxt9a3QBFq/v74aC7nZe0SM5aoiJ0ycBEqicgFKKlrAqx8M9JOAQaBKX3K1pQuoSJ0FJULSCG1WAL5+XMUkpGVQKpejCToktS8P0SIAESKBBCPAikUHgjG6n9Nc1zdROb6rT9DUz8bIfHW68rVEFWPl8j5qqt0/wLG0S6+pk4vRJgARIgARIIFAE9DhwatfmHdaY/JRP7v3r6idbmHhj+I0mwJPmpN+plGpbWun0czvGDy4N0yMBEiABEmgQApF1kf7t+5yulGuvXWulkqMsd6O+srBRBPiKRelNlFj32hD0x+AWMeuiXQqD5DrGjQRIgARIgAQCT8Ct3FGDOvTZ5+Ss1PWPrn3GDIM6yQ0VaBQBtgrVH0U/faCSbpdsPa1lLF81CBh0JEACJEAC9UqgS7OOw3V3tL0sCRfy+qzH4TeGa3ABvmJOXidR1m2msj9pF5+jRPQm/CMBEqgBAS5DqgEsHkoCfgRKlyVZSNLiM3r6qpk/QbihXYMLsE8VOF3PsPfcJTlqQENXmtcjgXAgoLgMKRxuI+vQCASwLCklNslZlqRE/bURiiENKsBXfJneVYn8n6noxI4JjToDzZSDPgmQAAmQQGQROLXrkK66xoXaie6DHTRj1TMXSwP/NagA+1zWH039UqJcy5rFugDAJNEnARIgARIggQYhkBgT37Z5Yuoy52LK+rMTbqBAgwlwSetX/cLU69yOCZFudMOgoE8CJEACJNAIBIZ1HtxLXzZfO2x9Zqx+ZhICDeUaTIAtl/WAqVRKtOsrtn4NDfokQAIkQAKNQSAuKrZl66QWZa1g8TXo6wobRIAnz8vUTxnqSgP43A4JrUyYfoQSYLVJgARIIAgInNJl4CBdjBzt9Ka6T18z8xodaJCtQQRYfL4/mdqkxLjY+jUw6JMACZAACTQqgWh3VEq7Jm1WOIXwqfudcD0H6l2A7davEqdf/dz2CWz91vNNZfZBT4AFJAESCCICQzqefIouToZ2opR0nLFq5o0I17erdwG2fGV96mz91vftZP4kQAIkQAI1JRDlikro4veiBhHl9NpKPf7VqwBPnpvVVyn5qSk/W7+GBH0SqDuBkLWEVfeqMwcSCDiBAe36nqqbvwftjJW0mb5q1g12uB4/6lWALSmeasrO1q8hQZ8EAkNA0RJWYEAyFxLQBNwuV2zXZu2/10Gz3WUC9eXXmwBfvCSrpRLlrPs9q21cs/qqBPMlARIggRAhwGIGMYGT2/UeLJZkoYhKSdfpa54+F+H6cvUmwDEFXueFC7Ee1zet4j0n1VclmC8JkAAJkAAJ1JVAlMuT1Dy52WonH0vd4YTrIVAvAnzZUitOiXWrKe/wFjF5JkyfBEiABEggQgmEQLWHduyHxqIPRdW9uOOnr5k5EOH6cPUiwJ68zOtEVJLoPyWy5+Qm0cN0kBsJkAAJkAAJBDWBhOj4NgkxccudQvrkN044wIF6EWBLWbebcp7cLGa77kuvl+uYa9AnARIgARIggUARGNCuT5zJSyl1zRPrnw+E/QqTpeMHXBgnz02/VLd6u5ReIeuMljFs/ZbCoEcCJEACJBD8BNqktBrgdnk2mpIWFhU5Q6omLRB+wAXYssSZut0xybPK41JxgSgo8yABEiABEiCBhiLQq3W3I+ZaulE5xYQD6QdUgCfPzzxNKYFJL5TRN7ZNXE8EgsWxHCRAAiRAAiRQHQI9WnYebol1qPTYpjPqwTxlQAVYfL7flhZWUmNcy5KiXG1MnD4JkAAJkAAJhAoBt3J7OjZp950pryXKmdtk0urqB0yAr1qYA7G91BTozLZxzU2YfjAQYBlIgARIgARqQmBAh74D9PEF2olS0nPGmmfGIBwoFzAB9hYXOe9QjHap72h4I1C3iPmQAAmQAAk0BoEYd1STpLiklebals93nQkHwg+YAFsi/2cK1L9p9FETpk8CwUAgHMvAlzGE411lnYKNQL82PRPLyqQufXzN46ll8bqFAiLAk+ZnjlQi3UqLUjC4eczg0jA9EiCBeiKg+DKGeiLLbEmgjECblJYDlHLvQIpSElvki7kS4UC4gAiweK1rTWGax7lXRLtVgonTJwESaGwCvD4JkEBdCHRq1ma3OV+L8PUmXFe/zgL888+sBP0g7oz/nt4yNrmuheL5JEACJEACJBAsBE5u0/NkXZYi7bANmP7N0wHp5a2zABd7MiajRHBul+zomOjpjzAdCZAACQQDAZaBBOpKIMYT0ywxOsGZjCVeV0AmY9VZgHXFnO7nk5KjnWa6TudGAiRAAiRAAmFBoE+bHlGmIkqsq+/b8VKsidfWr5MAX/5l5kmi5LTSixed1ioWzfTSKD0SIAESIIHGJcCrB4pAh6ZthyilfizJTyUkpuVfVhKu/WedBNjlKlsTlRztWhXvUc1qXxSeSQIkQAIkQAJBS0C1S239vSmdJWX6Z9Jq6tdJgPXFfqmdvQ1vEeu2A/wgARIgARIggSAgEOgi9G/Xp7fO06ed3tSox1bN7K4Dtd5qLcCT52X8RF/VmJv88aSUqCE6zo0ESIAESIAEwpJAXFRMq9iomNWmcl6Xq05rgmstwJZPLjeF6Jjk+V4pqXUCoUt0AAAQAElEQVRewj8SIAESIAESCAECJ7XsYtuGtovq802y/Vp+1Fo0lfI5L14Y3CSmZYXXZyIJkAAJkAAJhBGBzs07YqltoV0lpXo9tO6pfna4Fh+1EuBJczPOE1FJov+UqP3tkzx9dJAbCZAACZAACYQ1gSiXJyk+Om6NqaTb63J6g01adf1aCbAS38/MBTomureYMP1jCDBCAiRAAiQQhgS6tejkNdWyfOrnJlxTv1YCrC9ysXb2NrhZjJmIZcf5QQIkQAIkQALhTKBb806DdP3ytBOlpOMjq2bVahJyjQV48pzM88Wv+7ldoqev8I8EyhNgnARIgATClIDb5Y5LiIn7xlTPkrJJySatOn6NBViU1+nvbp/A7ufqQOYxJEACJEAC4UWgW/MuWndL6qQDji6WpFTvs8YCrC90icl6ELufDQr6JOBPgGESIIEwJ9C1eYeBuopON/SM1U8bs8w6uXpbjQR48ry0i5SoOGSt/f0dk9j9DBZ0JEACJEACkUUA3dCJ0QlrTa0tS9W4FVwjARafcmY/s/vZYKdPAiRwDAFGSCBCCPRo2cmpqW6UOvroJFYRqJkAi3WByY/dz4YEfRIgARIggUgk0KlZR2c2tChpU9PZ0NUW4J/NzTxDlEoAZCVymN3PIEFHAo1HwNJ9Xo13dV65EgJMjiACbpcrNi46br2psiUW3pFgolX61RZgl3jPNrk1jXVtMmH6JEACjUNAKWU1zpV5VRIgAUOgQ5NW+SZsiXJ00qSdyK+2AIuos6T0r2dKdGmIHgmQAAmQAAmUEohAr2vzzj1MtZWSkTO++bfdU2zSTuRXS4Av+8JK0d3Ow0szsvo2jT65NEyPBEiABEiABCKWQEJ0fBuXcu9wABTnOI1VJ62SQLUE2OPOcJrV0S71fYxLpVSSH5NJgARIgARIIKIINE1I3S0idp1rMg5cLQG2RBxFb5/gPmhfhR8kQAIkQAIkQALSuVl7/27nak/EqpYAa77O8qM+TaOb6jg3EiABEiABEiABTaB9k9Z4J3CBDooeB+74yMrneiFclatSgC9fkNVbj/+2KM0op0NCVN/ScNB5LBAJkAAJkAAJNDQBt3LHxEbFlC1HUt5qtYKrFGBXcbEz/psc7VrvVuIW/pEACZAACZAACTgE2qa0znEiIoERYEuVrWvqnhxV5HcBBoOKAAtDAiRAAiTQWAS6Nu/Ywbm2Eqfh6qRVEKiyBSxijTbnndwkursJ0ycBEmhcArSE1bj8eXUS8CeQEpfUVYk6YNJmrJ41wYQr808owJfPyzhVZxiHk/WBu3QXdBuE6Ugg2AhESnl8fhVVtITlR4NBEmh8AsmxiducUih1hhOuJKB1tZI9OtklPieDpjHuPTqJGwmQQCMSOOE/bCOWi5cmARIQaZva0jIcLKtMP01aef+E/8+Wr0zBu6R4nIzLZ8I4CZBAYxLgtUmABIKBQJvUNm1NOZQlI0y4Mv+EAqxERpkTuydFtzNh+iRAAiRAAiRAAscSaBKX3E2nZGonolTc9DUzB8oJ/ioV4MvnpHcTJc1Kzz3aLNbVtTRMjwRIgASChgALQgLBRCA+KrbsbYF+vcgVlbFSAXb7DSAnelxbKzqZaSRAAiRAAiRAAmUEWiQ1d9YDK3XibuhKBdgnljMBq2OSJ7cse4ZIgARIgASCgwBLEWwE2qa2TvUr00i/8HHBSgVY+Qlwt+Qo0xV9XAZMIAESIAESIAESKCHQKqlZTx0yKwbbPbp+ZpmBDr3Df6tQgC9YbCWJKGPzubhdgqe38I8ESIAESIAEgohAMBbF7XLHRbncG03ZfEUupzfZpBm/QgGOK8h0pk9Hu2WDR4nHnECfBEiABEiABEigcgIp8amHyvZWvh64QgF2+XU/t4n3HC3LiCESIAESIAESIIETEWib0ira2W+pmrWARclQc3KX5CjbFKWJH+MzQgIkQAIkQAIkcAyBNiktOzoJSgY54XKBClvAlmX1M8e1j/O0M2H6JEACwUNA/5+q4CkNS0ICJGAIJMbEQzfTTPyhtU+bOVUmyfaPE+CL5qWlKqVsc1r6vzs3NcbV3j6SH+UJME4CjUpA/5/SPGyj3gFenAQqJxDtjt5l9rp9bqdRa9LgHyfAsSKO6SyPS7YL/0iABEiABEiABGpEIDkuKcOcoHurqifAyudyDmwa7U4zGdAngWMIMEICJEACJFApgRaJqWUNXCUnV3Rg2QGley1VNv7bMsFjFhOX7qVHAiRAAiRAAiRQFYEWSc2ammOUlOmqSYN/nADrxP7a2Vv7eHeyHeAHCZCAPwGGSYAESOCEBJokNOlRdoDqMuObfyeUxUtCxwuw3wzodgkevgGphBM/SYAESIAESKDaBDzKHa2UciZiiWQe1w19jABf8WV6V6VUfOkVDsW6VUppmB4JkAAJlBDgJwmQQLUIxEfHHTAHWn7zq0zaMQLsdZVNwIpzqz3mIPokQAIkQAIkQAI1I5Aan5JvzlB+vcsm7RgB1gPFzvhv0zh3ljmIPgmQAAmQgE2AHyRQbQItE5rHOgdb6sRd0FqAnQPaxruPEWcnEwZIgASCgoBlWSooCsJCkAAJVEigeVLTNs6OCpYiHSOyliXdzcGt4zz+LxU2yfRJgARIgAQilQDrXSMCybEJsAldXHpSy5nfzkwsDdveMQKsUzprZ2/NYt2t7AA/SIAEgpKAUoqmKIPyzrBQJOAQUC6l9plYboE6ZmWRI8CXLbXilBKzcNib6FEtzUn0SYAESIAESCDCCdSq+lHu6CPmRJ8Sp5Er+s8RYCnKcbqfXUp2633cSIAESIAESIAE6kAgLjomx5zuElWxAHuKfc6OWJdyFNucSJ8ESIAESIAESKBmBJJiEr3OGZbVxQnrgEu70s1yBDgpxpVbmhhUHgtDAiRAAiRAAqFEIDkuKcqU1xJxdFb0X5kA+/VNN4tx+/Q+biRAAiRAAiRAAnUgkBqbmOScrqyKBdiSsh1NY9wxzgkMBAkBFoMESIAESCDUCCTFJbUwZVaW9DRh+GUtYEscZW4R4+JbkIR/JEACJEACJFA3AgnR8a11DiVrgZWKe3zN46k6bm9lAiziCHCTGDeXIAn/gokAy0ICJEACIUpAufzWAhdJtKO1tgCXWwNcEB+lnCZziFaYxSYBEiABEiCBoCDgvxZY+VzOTGhbgP3XALuV7A2KErMQJEACpQQq9mgLumIuTCWBYCPgvxbYEt+xLWC3t9jpco52qYxgKzzLQwIkQAIkQAKhSkCPAztrgZVSjpnnkhawkuamYrEelW/C9EmABIKXgP5HtoK3dIErGXMigVAnEBsVo0wd9D9tMxO2BVhZykmIdauS2VrmCPokQAIkQAIkQAK1JhAbFetxTrbKGry2APsrcrxH+ZwDGSABEiABEmhEArx0OBCIj4p1bGsosZweZ1uARXxOQnyU22kqh0PFWQcSIAESIAESaEwCcdGx8eb6lhKnx9kWYK24TkKSR5U1lc0Z9EmABEiABEiggQmEy+XiPLGJfnVxGry2AFtSNgacFO1ymsp+JzBIAiRAAiRAAiRQCwIxUdGp5jQlZXY2bAEWq6xJrMeAnaayOYE+CZAACZAACZBA7QhEuaNg3tmZX/W3dbOaIKcSAfZbhpTgdpW9uQFH0JEACZAACZAACdSJgCXWEZOB2+uyu6FtAVaW5YwBx0cpp6lsDqZPAiRAAiRAAiRQewIe5XGMXCmruEyARSk0j5GzFe1SbAGDhAg/SYAESIAESCAgBNxud47JyLLcdqPXddm8bLwqyU5XIofsAD9IgARIgARIgAQCRiDK7c4zmblcJb3OLnEVx5lEpcQ5wKTRj1ACrHbQE+DLGIL+FrGAJOAQ8Lg9jpVJnyV2r7PLVSz2OLB9lGV/8oMESCAECCil+B8bAveJRSQBEIhyRXvhwykl9rpgl8+lg0iBU8J/aHCgi3QCrD8JkAAJBJSAx+V29NXylQqwy6vKWsBCAQ4ocWZGAiRAAiRAAppAjCdaf5rNSkBIt4BFIWA7iwJsc+AHCUQyAdadBEgg4ARi3FGO1up+55IuaI8qE2AXu6ADDp0ZkgAJkAAJkIDb43GXUVAlLeBivy5oSzipowwQQyRAAhFIgFUmgXohEOOOdl50ZFmlY8AeV1kLWIeserkyMyUBEiABEiCBCCYQ7Y5yBFjEjAH7dUFzBDiCvx2sOgmQAAmQQL0RiI6KijGZO2PA/rOgdaLztgZzIH0SIAESIAESIIG6EYhylQmwSOkYsM+/C5od0MI/EiABEiCBiCRQr5XWXdCx5gLOGLBbFSmTqAOUYAODPgmQAAmQAAkEiIDH44kvy6p0DNhrRTmiq/uf/aZJlx3KEAmQQHAQ0P+jTkFoC9pBwQAJBD0Bl3JFmULq4V67NexyieUYiFZiucwBjeHzmiRAAicm4P8PqpRyHp5PfBb3kgAJNDYB/c/q//xchPK4fD7LDiDis8RvmjRS6EiABEiABEiABOpKwLK8TmNXi7Gtuy5flM8O2JkrYRe0NNYfr0sCJEACJBCuBLw+nyPAuo627rrcEu2XqCjAwj8SIAESIAESCCwByyoTYCVSIsBale0ALuUTi13QAEHX4AR4QRIgARIIZwI+PwHW9bR11+WRY1SZAqzJcCMBEiABEiCBQBLwWj6vyc8ZAy4uTrKVGDssi5OwwIGOBBqWAK9GAiQQ7gR8Pstr6qgsZeuuK79JSV906Q5nnVJpnB4JkAAJkAAJkEAdCeguaEeAdVYlAvzBUJWrI2azFwebCH0SIIHgIuC/kNCyLBVcpatdaXgWCUQCAa+3uGzCs7IKUWf/df2IS5FXCuwAP0iABIKOgP8/LA1xBN3tYYFIoFICRV6vLbo4QI8BZ8M3/8+HEYEr8lmZ8OlIgARIgATqmwDzjxQC+cWFdrcz6qu7rjLg2wKs1diOICHPZ+XApyMBEiABEiABEggMgUJvflkXtIitubYAi1USwWXyvT7/MWEk0ZEACZAACZBAwAlEUoa6Bew3hUP5CbASp9s5v8jiGHAkfStYVxIgARIggXonUFBcrDubSy6jA34CLJYdwa5cLwUYHOhIgARIgARIIFAEiooL9NBvSW5KVLqIiN0FreSYLmj/fuqSo/lJAiRAAiRAAiRQawIF3mLH0qRSJY1eW4B1jn4tYPFfLKx3cSMBEiABEiABEqgLgSJvsWPoSousrbm2AFt+k7AKinSsLlcJnXNZUhIIaQI0xBHSt4+FjzACPq832lTZ5VP2vCtbgEXJUbMjx+vVPdImRp8ESIAESIAESKCuBLw+b6LJw6XUEYRLBFhcPyICl11kOSqNOF2YEmC1Qp6A0gNJIV8JVoAEIoSA1/I2M1X1ua0DCNsC7PP57AgSCnwSD5+OBEiABEiABEig7gS0+GJycxOT09QBNx9E2BZgt9vtCHBhsS8VO+hIIIwJsGokQAIk0GAE8gvzfzAXs8Taa8K2AOeJ19npE2luxjs82gAAEABJREFUdtInARIgARIgARKoG4Hcwrz0shzUfhO2Bfh/Y5v47ZSEQp9lv6nBHESfBEggjAiwKiRAAg1KICs/z9FUJSXjvyiALcAIWCI7pfQvq8hy3o5UmkSPBEiABEiABEigFgRyirL8XkVYrgWM/JQlzjhwdoHXXiSMdDoSIAESCCMCrAoJNDiBrIJ8PbpbctmKW8CqTIDTiiy+EamEFT9JgARIgARIoE4E8gpz3X4ZHDsGXLKjrF/6aIHXaS6X7OMnCZBAsBGwLItGc4LtpgR7eVi+RiGQV5gfby6spIIuaL1zm3b2llbgVXaAHyRAAkFLgIY4gvbWsGAkcAyBIm+Rs7rI65btZqczCUvE7QhwRqEvwRxAnwRIgARIgATCgECjVEH3VHl9ltXeXPyuAVM2mbAjwF6f2moS831WCxOmTwIkQAIkQAIkUDsCWQW5MLxRMgZsyR7/XBwBlvjEHWaHzyftvBZfS2h40CcBEiABEiCB2hDIyM045JynxOlpRpojwLNPV3lSZiLLnV7oO0apcXBdHc8nARIgARIggUgikJ6f7qwqssRyxn/BwBFgRLRz1PlQrpfGODQQbiQQrAT02JIK1rKxXCRAAiUEjuZmWyUhEWUp59W/ov+OEWBLysaBDxZ4c/R+bgEjwIxIILAEOAs6sDyZGwnUB4Hsgpw4k6+lVOUtYP047bSAj+Tj7UnmNPokQAIkQAIkQAI1JVBYVOC8B9hy+Tb6n39MC9hniTMTOq3Ql+h/IMMkUBcCPDcwBPQTtGVyYhe0IUGfBIKXgM/ytTWliy72VC7ALsvjrE/KK7I6mJPokwAJBAcB5Wf9il3QwXFPWAoSqIxAdkE2JjOXdkFb6bcPvdF55wLOOaYF/MaExHVIhNOP2S3zi6w0hOlIgATqQoDnkgAJRCKBQ9lHHbvPlqhvyjM4RoBLd64t9WVfXrGzNtik0ScBEggOAuyCDo77wFKQQGUEDmYdyTP7lFjrTdj4xwmwJbLK7NyTXZxlwvRJgASCi4BSSv+7BleZKioN00ggUgmk5abHmrpbSlXdAlZW2UE/5HpLzGeZHOiTAAmQAAmQAAlUi0BeYX5rc6AWYGeI16Qd1wL2istR6YxinzN92pxAnwRIgARIoLoEeFykEij2eXN9ltXZ1D+v2PWtCRv/OAG24nzOQUVeq5tlic8cTJ8ESIAESIAESKBqAkdzjjpzqCyRLfcNvdExSWnOPk6AZ5+ectSyrN2lB0QfLvA5mZSm0SMBEiABEiCBKglE8gGHso/4m508rvsZbI4TYCQqEacbel9u8Y9IoyMBEiABEiABEqgegcPZaf69x9UXYBHlHLw3u6hQ+EcCJEACJEACJFBtApn5OanmYEuJo6kmDX6FLWDxO/hQvjceB9KRAAkEFwE9VKQ7q4KrTCwNCZBACYHC4kJnApbyuo9bA4yjKhRg5VZrsBMut8jqBp+OBEiABEiABEigagIZeVl461FKyZFW9rShNzovOipJK/msUIBfH52yRe+23wdsiTRLK/Tt0vFQ21heEghrAoqGOML6/rJyoUtgX/r+fU7pLbXECZcLVCjAOMYSayl8uG2ZhTAojSAdCZAACZAACZDACQjsTz/oDA/p8d/FlR1aqQArKVPtHRnFuiFcWRZMD0oCLBQJkAAJkECjEMgsyPZ/m+CiygpRqQB7xeU0mw8XeJ33GVaWEdNJgARIgARIINIJ5BcXwJZGJ8Mht0nc1yZc3q9UgN8el+wIsNeSbgVeK7P8yYyTQJASYLFIgARIoFEI7Ev7YXPZha2v7uvyy/yy+LGhSgUYh1lW2TjwjqzijUijIwESIAESIAESqJjA3owfCpw9lqp0/BfHnFCAlSobB96SWXicHUtkQEcCJBBkBFgcEiCBRiOQlpPeouziVqXjvzjmhALs8xsHPpDra4oT6EiABEiABEiABI4n4PX58r0+by+zxx0b4wzlmjR//4QC7FLinFzo9fX2WVLkfzLDJEACJBBkBFgcEmg0AgcyD32vL250dcMdfa87quOVbubACg94Y2zyYbEERjmwP2pPDseBAYKOBIKBgGVZKhjKwTKQAAmUENiXvj+jJCRiWXLC8V8cd0IBxgGW33rgrRlFR5BGRwIk0DgE/F+vomgJq3FuQjBflWVrVAIHMw+XvYDBZS2sqjBVCrByqfkmkx3ZRaW2LU0KfRIggYYk4P8PyxZwQ5LntUjgxASKfEU5hd6ifuYot9fzmQlX5vv/P1d4TLFbfWx25Bdb/Qu9Vo6J0ycBEmg8AmwBNx57XjkoCTRqofamHfhWF8Ctne5/ljV3Dr3xsB0+wUeVAjx7VNIhff4q7bC5N2cV4SII05EACZAACZAACWgCO4/sddb/WiKf6KQqtyoFGDlYYjmt4O+OFBYijY4ESIAESIAESKCEQFpORo+SkP35qf1ZxUf1BFi5HAE+nO/rXlmeTCcBEiABEiCBSCOQmZ+5QzdU26DeliW504ZMOaEBDhwHVy0BfmtsyjLLsuzp1bjIwTzvVpxMRwIkQAIkQAKRTmD74b27DQOlynqMTVplfrUEGCcrJR/Ch1t/tLDsZcNIoBMRQiABEiABEohEAvvSDyT41bta3c84vtoCbElZN/TOrKJknExHAiRAAiRAApFMwGt5C/KLCpzlRz7xVWsCFphVW4C93uSPcAJcnpfLkcCBrowAQyRAAiQQiQT2ZfyIlUExqLseql1/1+Bf7Ue4Oq7aAjz7TJVhiSwrzdS9JbPou9IwPRIgARIgARKISAI7Du/NNhVXoqrd/Yxzqi3AOFikzCjHt0cLnTVPwj8SiGgCrDwJkECkEjiafbSLqbvPbVW7+xnn1EiAdfPa6YY+nO/tqVvEekM2dCRAAg1NQP8/qoa+Jq9HAiRQRuBITtomn+XriBQthml3DbxlHsLVdTUS4LfGp67W//T2dGt9sZbbM4rWVvdCPI4ESCCwBJRS+t8wsHnWJjeeQwKRSmDTD1sP+NX9Hb9wtYI1EmDkqES9Dh9u9dGCLPh0JEACJEACJBBpBA5kHTrJ1NmlXG+bcHX9mguwy3rLZP5jnref1xKvidMnARIggcgiwNpGKoFD2Uc2iCVtUX/dFZV256CbvkC4Jq7GAvz62CZrTTe0vniTbeyGrglvHksCJEACJBAGBDb+sBUvKiqpiSWzSwI1+6yxACN73Q39Cny4NUcKcuHTkQAJkAAJRBaBSK7tj1mH+5j6W8r3tgnXxK+VAIvlcS52KN870OsVviGpJtR5LAmQAAmQQMgS+CHr8DrdEG2BCqD7+a7Bt85BuKauVgL8xoTEdbr7eUvpxZK2ZBZ9UxqmRwIkQAIkQAJhTWDTD9vSRJwqvumEahiolQDjGpaynIuuOZrPFjCg0JEACZAACYQ7AetQdln3s1LK6RGuacXrIMBl3dBH8n392Q1dU/Q8ngRIgARIINQI7M84+I3pftZlPzh10M3ztV+rrdYC/NbYpG/9u6E3ZBSurlUJan8SzyQBEiABEiCBBiWw4YdNju1ny6rd7GdT4FoLMDKwXOo1+HCrDhXUKS/kQUcCJFB9ApZlqeofzSNJgATqSqDY583NyM06xeRjudW/Tbg2fp1E0+WL/pe5aHaxb2h2sfWjidOvZwLMPuIJ6LEnK+IhEAAJNCCBDT9sWakvZ796UMTaetfAm5freK23Ognw6+PjdulfADP92rX0QP73tS4JTyQBEiABEiCBICaw/eAu2/IVimiJehJ+XVydBBgXtpR6AT7clqzC7pZ+LECYjgTqkQCzJgESIIEGJXAo++j3Xsvb3Vw0Nqn4ZROurV9nAX5rbMqbeiwqAwWwLGm/Jb2Ik7EAg44ESIAESCBsCKzbv/GwqYzWvNd+3ePXmSZeW7/OAowLKxFnLPjrQ1wTLPwjgfokwLxJgAQalAAmX6XnpA8xF1Uul9Pza9Jq4wdEgH2We5a5eEahb2husXXExOmTAAmQAAmQQCgT2Pzj9lW6/PHaiWXJ7rqs/UUexgVEgN+akLxZj/1+XZpp1LKD+etLw/RIgARIIJAEmBcJNDiBrQd3NDUXVUqcBqdJq60fEAHGxZUlTpP8+/RCZ6Aa++hIgARIgARIIBQJpOWlby3yFfc1ZS+S4hdNuK5+wAQ4JyblLT0wbb+aUDfR22/PLFpb18LxfBIggcoJ6P83Vfle7glLAqxUgxNYu2fDfueilvXu7wf/+pATr2MgYAL8/giVJUq9Ycrz1cF8W4xNnD4JkEDdCfj8slBK9zv5xRkkARIILAHd8s06mpPuWL7S/3PPB/IKARPgkkIpp3BpBb5hmYW+AyXp/CQBEggEAf9/WLaAA0GUeYQQgQYv6ro9GzD5Kq7kwtaOOwdP+aQkHJhP///nOuf45riUr3X384rSjDxz9+dtLg3TIwESCDAB/TRuBThLZkcCJFBKwBLLt+vovp6lUVGipptwoPyACnBJoay/lfgie3OKBxf6rCwTp08CJEACJEACoUBg68Fdy7QIt0FZ9ZNumqtFfp0tXyEvf1cjAfY/sbLwm+ObvKsLu6N0f9LiH/LRhC+N0iMBEiABEiCB4Cfw3YFNzf1KOfOODnfk+cUDEgy4AKNUSsnD8OG+TyvqWWxJMcJ0JEACJEACJBDsBH7MOrTe6/OeZMqp3OopEw6kXy8C/MbY1Od0IdO0EzThvzlSYIx0IClEHYtNAiRAAiQQCQTW7t6QbeqpNezFqQNuPmjigfTrRYBRQMtSj8GHW3GooBl8OhIgARIgARIIZgJ5hXkHsgtzhpsyWu7AT74yedebALuirZn6ycHuMy/2Wb22ZPItSQZ6KPosMwmQAAlEAoHlu9dj9U6JNlry2V0Dpmyqr3qXXKQecn99ZCq6oJ11wYt+yPO3IVAPV2SWJEACJEACJFB7Al6fN+9w5uHBJgflcj1qwvXh15sAo7Bet3oCPlxukTX0UL5vG8J0JBBaBFhaEiCBSCCwZs93X4uSJNTVsmTTnYNu+gLh+nL1KsCzR6fuEEveNIX/bG/OjyZMnwRIgARIgASChUCRryhn19G9g0x5lMifTbi+/HoVYBTa53L/BT5ceoHvtEN5bAWDBR0J1JVAQ5mirGs5eT4JhAKB1bu/hRXHFJRVt363Tx0y5VWE69PVuwC/NTbpW0vkv6WVUJ/uyQnYmyRK86RHAhFJQPFlDBF531npwBMo9BZl7E07UPbSBZfcG/irHJ9jvQswLun1uZ3KZBT5hh/IK96IdDoSIAESCG4CLF0kEFi5e/0aXc8E7cRu/Q6a8jrC9e0aRIBnT0jaoCv1n9LKqM/25GWWhumRAAmQAAmQQKMRyC8uOHog/Yey1q9Sf2iowjSIAKMyXsv9J/hw2UW+YWwFgwQdCZAACQQvgUgo2aqd69bpetqtX9383Th18M3OxGGdXq9bgwkwWsG6Jm9rZ2+f7Mp1TH3ZCfwgARIgARIggQYkgNbvD1mHTjWXtFzqjz0rLg8AABAASURBVCbcEH6DCTAqU+xz3w8fLtdrDd2TU/wtwnQkQAIkQAIk0NAEvt65dr2+Zqx2IpZ8O23QlNl22P6o/48GFWC7FWzJG6Zan+/JLTJh+iRAAiRAAiTQUATyivIPHs46cpq5nqXUfSbcUH6DCjAqVezXxM/zWoO2ZxatRTodCZAACZAACTQUgaXbV8LGc7R9PcvaOG3wze/Y4Qb8aHABnj02Zatu679m6vjl3rwoEy7nM0oCJEACJEACASeQlpe5LT03c4STscu62wk3YKDBBRh1Kxb3g/DhCi2r79ojhUsRpiMBEqg+AVrCqj4rHkkC/gQWb12OScDKTrOsr6cOuvU9O9zAH40iwLPHJW+yxJpp6rr0x/yuRV4pMHH6IkIIJFAFAVrCqgIQd5NABQS2Hdq1rLC4cIDZZbnkJhNuaL9RBBiVdEWpe8WybIMcPstqPW9/3ldIpyMBEiABEiCB+iDgtbxF6/Zt6GDy1r1I/5o26JZGm4fkMgVpaL/kfcGue8x1t2QWDssttg6bOP2IJsDKkwAJkEDACazd/d0S3eBrZzKOsjy/N+HG8BtNgFHZN8anPGWJbEVY+/Hv78yhjWjAoCMBEiABEggogfzigsM7j+4d5mSq1H23D73xgBNvhECjCjDqa1lyC3y4wwXeETRRCRJ0EU2AlScBEgg4gSXbVnyvM43XTsSSA1MH3Xy/HW7Ej0YX4LfGp36ux4I/MAx0K7jYhOmTAAmQAAmQQF0JlF92ZKnGWXZUvh6NLsAokE/U7fDhinxy8tojhZyQBRh0JHACApZllSyjOMExIbiLRSaBgBPwX3ZkibV22uBb/h3wi9Qiw6AQYN0K3mZZ8ogp/5If8zpwWZKhQZ8EKiaglLIq3sNUEiABQ2DTwR1L/JcdKbfVaMuOTJmMHxQCjMK4E1Ie1L8mhxDWYtx+zv4ctoIBg44ESCByCLCmASVQ7CvO/m7/xt5lmVr/mTrg1q/L4o0bChoBfu1UlSlKfmdwbM0sHnEwz2vPkDZp9EmABMoIsAu6jAVDJFARgUVbl6/W/ydNS/ZZ2VFR0beWhIPjM2gEGDjeHJv6T7HEtHw97+7IKdatYr1hLx0JkIA/AXZB+9NgOAwIBLQKh7KPfn80J32kk6mSO27rd/2PTjwIAkElwOBRrFy/hA9XZFm9FuzPW4gwHQmQAAmQAAlUh4Bu9XqXbF3u0ceWTFS07T3f8ryOB9UWdAJcYida/dFQ+jatcFh6gW+vidMnARIgARIggRMRWLt3w2Kv5ethjrFc7p+bcDD5xwhwsBTszXEpeFvSptLyxM3ennOkNEyPBEiABEiABColkFeUf3D74V1DzAGWJX+YNuimLSYeTH5QCrANyFXWFV3g8w34+lD+IjudHyRAAiRAAiRQCYGFm7/epnclaieWWN9NGzLlrwgHowtaAX5jTPJXGt6TBtqKgwX9s4usQyYeeJ85kgAJkAAJhDKBPUf3r8wuzDnN1MHtcgVl17MpX9AKMAroVal/ELHM+G/K7O1ZO5BORwIkoP8zLFrC4veABAyBYp83d8Xub1qbuKWsx3878OY1Jh6MflAL8OyxKluJ6zop/csptobRTGUpjAB7zC70CHAZUujdM5a4/gjM37IUa37bl15hn6d5gW7AlcaC1AtqAQaz18elfKY78t9AGG7xD3m9s4utoFrLhXLRkQAJkAAJNA6BbYd2LcvIzRrhXF2pq+7ocEeeEw/SQNALMLjlx7pv0366dthS39yadcDSPXCI0JFA3QmEZg4Wu6BD88ax1AElkF2Qu3/tnu/6lmVqPTl10M3zy+LBGwoJAX73jKSDPnFdYzDme62B82igw+CgH6EE2AUdoTee1fYnYM3dtOSoKElComXJtpwm8XchHArOFQqFRBnfGpf8nu6KfgFhuA1phaf9mF8clGu7UD46EggVAiwnCYQqgeU71y4o8hadbMqvBe3y+7r8Mt/Eg93X5Q32IpaVz1OccpslgjVeSIx+Z0eOu9grIQMbhaYjARIgARKoO4EjOekb96Ttd8Z9tTb8+c4hU1bVPeeGyyGkBPiVs1WOLvDlBo/PJ13f3Z293MTpkwAJkEDNCPDoUCRQ5CvKWbD5qwRddth7xoygddMGT7lXx0Nq03oWUuWV18elrrIs635T6h9zvaN0dzRF2AChTwIkQAJhTmDBpmVrLLE6mGoqy+00zExaKPghJ8CA+ub4JvdZlqxAGG7u/ryTcoutwwjTkUCkENAPoiVveomUCrOeAScQihluObTzq4z8siVHlrKm3jn0xo2hWJeQFGCA1v39k8WychDWLvXNbVm7tM+NBCKGAGdBR8ytZkVLCWTmZ+9at3fDgNIovKXTBt3yCAKh6EJWgN8an7pNRN0mpX+6BTzki315IbH2q7TI9EiABEiABKpJwGt5C+ZsXFysD4/XTm+6Aeb2XqUDtdwa/7SQFWCge2N8KpYlfYYw3Kb0wlHbM4vWIkxHAiRAAiQQPgTmbFq60mf5ujk1UuryqQN+FdLvBwhpAcaNKI5VV+ixsN0Ia+f6eE9ux6wi3wEd5kYCJEACJBAGBDYc2LooKy/rDKcqlsyYOmjKR048RAONKcABQTb79JSjXk/URL/Mmr62NTvdZ0mRXxqDJEACJEACIUggPS9z2/c/bB5mim5ZsmzqkCnTTDyU/ZAXYMCfPTpxvSXqSoThin1W73d2Zn+FMB0JkAAJkEBoEij2FWfP3bQEa31jSmtwUHnUhaXhkPfCQoBxF94cl/K67op+GmE4rA9edbhgCcJB6VgoEiABEiCBExL4/PtFG/TveidzkBLfZVMH3HzQxEPdDxsBxo14c3yTX1kiyxCG++rH/KE/5hZvRpiOBEiABEggdAis3bthQV5hntP1LJZMu3PwrQtDpwZVlzSsBBjV9SrPxVqEDyGsXcx/dubE53utDB3mFjwEWJIAENAtAxWAbJgFCQQdgYNZh77bdmjnaKdglnykx31nOPEwCYSdAM8em/iDpdQF5v7oAfv2r2/N2qpFWW8mlT4JhD4BGuII/XvIGhxPIKcw98CirStamz36N3x3fIw1ycTDyQ87AcbNeWtsiu6GVrcgDAcjHR/tzlmAMB0JNDoBFoAESKBCAkXeoszPNyzM1TubaSdafHN9Ud6Jt5x8Szbi4ebCUoBxk94YlzJLN3lfRxhuZ1bxmNWclAUUdCRAAiQQdAT0kIr30+/mb/c3tqGUXHh3/1+tD7rCBqhAYSvA4PPmuNQrtQivRBhu6Y/5w/ZkF4ftzUQd6UggyAmweCRQIYG5m5csLfQWDTQ7dev3xqmDp3xp4uHoh7UA44Yp5TpHi/BOhLWLem9XTof0At9eHeZGAiRAAiQQBATW7Fm/ID03c6RfUR6bNmTKP/ziYRkMewF+Y2zyYZdbnaUHEzJL72Dq61uzigu8lomXJtMjARIggXomwOyPI7DzyL7l2w/vGWV2WGJ9rFu+vzXxcPbDXoBx814fnbJFlMeZGe0T6fzKliw91kBzleBDRwIkQAKNQeBoTvrmVbu/6aevbS+p0+K70tOi4Kc6HhFbRAgw7uQb45IWWJa6GmG4fK818M2tWcsRpiOBUCRg6S90KJabZY5YAsdUPK8o/+C8LV+l6sQ47bDtc/k859zR4Y48RCLBRYwA42a+OT7lFRHrAYThjhb6zpi7P28+wnQkEGoElFJWqJWZ5SUBECjyFmZ89t2CTD002BJx7Wcqn3vCnUNvPGzHI+QjogQY9/SNcU3+pP13tLO3DWmFY9YfLVxmR/hBAiRAAiRQrwSKfd7cj7+dv9drebubC+lnyfO1+G408bD0K6hUxAkwGLwxLvWnYslXCMMtOJA3eEtm0WqE6UiABEiABOqHgBbd4k++nbep2Ffc11zBEvXTcLPxbOpWlR+RAgwoxXFqohbh7QhrF/3Zntw+FGFNglvIEOAYcMjcKhZUE7DE8n25YdGKQm/hIB21N0tZv5w2+GanR9JOjKCPCBLgY+/q7NNTjlqe6DH6S7GndE8sRHhHZtE3pXF6JBDUBDgGHNS3h4UrR2Du90uWZBfmnmaStfjeNm3QLf8y8Uj0I1aAcbPfHB2/x+tWo0WsA4hrF/vxntwee3KKv9VhbiRAAiRAAgEgsGTbyvnp+WWGNixL/qrF9+8ByDqks4hoAcadmz06dYdyu0brL8RRxC2R+Pd25nQONxFG3ehIgARIoKEJrN+/ceEPmQfHmOvq39hnpw2Z8gcTj2Q/4gUYNx+GOpTlGavH1DIQ1y4RIrwvp/h7HeZGAiRAAiRQCwKbD25fuvnH7Y6JST3k98a0wVNurkVWYXkKBbj0tr4xIXGdS6nx+gtiXnuV+O7OnLY/5hZvLj2EXsgSYMFJgAQamsCWgzu/Wr9v4+n6uiVWriz5cNrgW67QcW6lBCjApSDgvT4udZWlXGfqljDeR4mklP/szGnxY37xFkToSIAESIAEqiaw5dDOr9bt2zDc78j5utv5fL84g5oABVhD8N/eGpuyzCeec0yaHhtuMnubFuHc4k0mjT4JhBIBlpUEGpLAloPbl6zbu+FUfU2jL0vjoy2KrwZSfjOAyqdHdPzt8UkLlajz/CCkzt6R02ZvVvEGvzQGSYAESIAE/AhsOLB10Tq/bme9a6m7Rf6EW06+xQzt6SRuhgAF2JAo578+LuVjS9REv+Tk/+3O6UgR9iPCIAkEPQEWsKEIrNu/ceH3P2zGhCtVek1bfCPp5Qql9a62RwE+Aao3x6V8JD45y++QRIjwruzi9X5pDJIACZBARBNYs+e7BVt+3O6801fDmI+WL8VXkzjBRgE+ARzsemNC6heWssb6z47+YFdO9+2ZRWuxn44ESIAEgpVAQ5Rr2Y4187cf3jXa71rzpw6eMpbi60ekkiAFuBIw/slvjm0yX8Q1wbIss0447uM9ub23ZBat8j+OYRJoSAL6+6ga8nq8FgmUJ7Bw6/L5+9IP+BnZsL6A+JY/jvGKCVCAK+ZyXKrujv7a5RJ80dKk5C/msz25/TemFa0oifKTBBqWAG1BNyxvXq2MgO4R9M3ZtGjRoazD+E20d+i0L6YNvsV/yM5Ob7yP4L8yBbgG9+j1sU10t7MbkwwOl54W9eX+3FPWHS1cVhqnRwIkQAJhTcDr8+V/8u28Vem5WfgtLKmrJR9RfEtQ1OSTAlwTWvrYN8YlfVcsrhG6+2+fjtrbwgN5w5b+kL/QjvCDBEiABMKUQKG3KOOj9V9szyvKP8VUUbd835g6ZIr/ihGzi34VBOpTgKu4dOjunj0ueZNLYs8Qy9pVWgvX6iMFoz7YlbPAEtFbaSo9EiABEggTAjmFuQc+Xj/nSJHP28dUSYvvo7rlS/OSBkgNfQpwDYGZw18fH7dLrKjhWoTXmbRd2cWjX9mStazIKwUmjT4JkAAJhDqBtLz0rZ9uWOD2Wr6upi6WqClafO80cfo1J0ABrjkz54w3JiT+mJ1XomUjAAAQAElEQVSSihdMf2YSMwt9p720JWNzgc8yM6bNLvokQAIkEHIEfsw6sn7u90tb6cZGS1N4n5KLpw2++RkTp187AhTg2nFzzvpgqMp9Y1zqTyyR501ioVf6/XNT5hEtxntNGn0SIAESCDUCO47s/nrx1q9PEiVJKLtliW5Y+E6/a9CU/yFOVzcCFOC68XPOfnNc6g0+sX5rEnw+6aq7o2P35RZHov1og4E+CZBAiBJYs2f9gtW7v8UbjWJKqmDtsjwyfOrgW78qifOzrgQowHUl6Hf+W+OaPOZTrvN1Ur52mI3V/N0dOV03phWtRJyOBEiABIKdQLHlLfzs+4VLtx/e41i3ssRaWyTeU+4aMIVvhQvgDaQABxAmsnprbPKHSmSEDpu1wrFf7s8dOnd/3nydxi0SCNRjHX31mDezJoH84oLDH67/clt2fvbphoZlWZ8nRMvI3w/+9SGTRj8wBCjAgeF4TC6vj0tdVRwVPUSPl2w2OzakFY55eXPW14VeK8ek0SeBmhLgP2xNifH46hI4lH30+4+/nevVf73NOfo3bOa0IbeczdcJGiKB9fn/HFieTm6zR8bv9vpShumEudrZW1aRb/gLGzMPHcr3bbMT+EECdSCgWya6s6UOGdTPqcw1BAlsObhz6cIty7rp71Qrp/iWXDttyJRbnTgDASdAAQ440rIMZ5+pMt4YlzpedxtON6k63PmtbVlt1x0t5EQGA4V+rQjQFnStsPEkPwJacL0Lti5fsG7fBnQ5R2OXbvVmiaXGTx0y5SXE6eqPAAW4/tg6Ob81LvUun1iXWmLllSbGLTyQd9p/d2Qv9FlSVJpGjwRIINQJhFD5i7yFGR9+++W6w1mHnclWItZWj1iDpw652em5C6EqhVxRKcANdMveGtfkv16fZ6hYst1ccn+ud9TzGzM3667pAyaNPglUl4BuvbALurqweNwxBDLzc3Z9sH5uVmFx0SBnhyVzParwlDuG3LLVSWOgXglQgOsV77GZz56QtMGVkIIvvGM5q8hn9X15S1bsjsyitccezRgJnJgAu6BPzId7KyaQVZCz98vvF0Zblq+9OcISeUZ3OY+/fdDt6SatFj5PqSEBCnANgdX18NdOVZl6XPgnlqg/OnlZ0uSjPbkDvz6Uv8hJY4AEKiBgKWWZZMuy2AI2MOhXiwDE94sNC916OKyNOcGy5NZpg6dMMXH6DUeAAtxwrI+50pvjUh5Uon4ilpVpdqw4WHDGOr5b2OCgXwEBZZWJLlvAFQBiUqUEKhJfJdZl04ZMmVnpSdxRfQK1OJICXAtogTrl9XEpn/lEDdYtmX2leboWHsgbujm9aFVpnB4JVEpAf29UpTu5gwT8COQXFxzV3c66+8RyWr4Q3zsH3/Ifv8MYbGACFOAGBl7+cm+NT93mVe7xOt2MvXg+35fbd1d28Xqdxo0EKiXAFnClaLjDj0CRryjn0+/mH/RZVjuT7FPWVRRfQ6Px/DAS4MaDWNcrzx6XvElZ6mzdHW2sZMV+sCunEw121JUszyeByCZgWZZXi+9mr8/bq4yEdd1dg255rSzOUGMRoAA3Fvly1319fMpyEXWBlP0lv70tOz672DpYlsQQCZAACVSfwBebFi87dqmRdc/Uwbf8s/o58Mj6JEABrk+6Ncz7jfGpcy0ll5nTMFPx1S1Z6dWxH23OoR85BHTrhmPAkXO7a1zTlbvWz8/KyzrDnGiJPDt1yC1/MXH6jU+AAtz49+CYErw5NvU/lqXuNYnFPuukV7dmbfRa4jVp9EkABDgGDAp0FRHYc3T/yl1H/V8nKO9MGzzl5oqOZVrjEaAANx77Sq/85viUP+un1dfNAbnF1pD3d2UvNnH65QlETtwXOVVlTWtJIDM/c8fyXWsx5mv3kOjfkgXTBk/5aS2z42n1SIACXI9w65L1m+NSrxRLnBc27Mvxjt6QVqjHieuSK88NdQL8hw31O1i/5S/0FqV/+f0Sj75Konaif0P2eGKiL7HD/Ag6Avx/DrpbUlYgFS3n6X8gx3b03P15fdLyfbvKjmAokgmYMeBIZsC6lxHQ3wfvp9/N222J1cFJ9ahz7+h73VEnzkBQEaAAB9XtOLYwr49MTSv2eC7S/1B5pXsS39qeVVzklYLSOD0SIAESsAks3Lp8cZG3uL8d0R9akCdNHXDztzrILUgJUICD9MaYYs0enbhej+FcZeLFlnSbvT1rpYnTj1wCnISFe08HAlsO7lx6OPtI2WsFLXlk2pBb3sI+uuAlQAEO3nvjlOytcU3+a4l63CQcLfSdwRc3GBr0SSCyCRzJSd+4bt+GIWUUrIVTh0yZWhZnKFgJUICD9c6UK9eb41LusESWmeQVBwtOOVLg22ni9EmABCKPQH5xweEFW75qomseo5096aoozuKkKxtG8H9QgIP/Hjkl9HrcF4glP5YmxL69Lbu42Cv5pXF6EUZAj/HZy0wirNqsbikBff+9n3234EfttypNEsvju+j3vW89YuL0g5sABTi4788xpZs9KumQ1yXOeLDXsrr/Z2f2imMOYoQESCAiCCzdvmpRsa+4r1NZS66dNuDW1U487AOhX0EKcIjdw7fHpn7pE5luin043zty7ZHCpSZOP3IIcBJW5Nzr8jU9lH30+x8yD44qS7ee0+O+L5XFGQoFAhTgULhL5cr41rjUuyxL1pjkJT/kDUwv8O0xcfokQALhS6DY8hYu3vp1vK6h/futfws2TR18y006zi3ECNg3sJZl5mmNSMDrkUtFrCwUwRKJf3tHVpr29YYUOhIggXAlsGzbqq98ltXJ1M8X5XVe4GLS6IcGAQpwaNyn40o5e3TqDp9yOcbVC73Sf97+vIXHHciEsCVgWRYnYYXt3a24Yuh6/jHrsNP1bFnyh7v7/2p9xUczNdgJUIBre4eC4Ly3xqa8Zon1kSnKhrTC0w7l+7aZOP3wJsAx4PC+v+Vr5/X58ku7nu0HL/0AtnrakCl/LX8c46FDgAIcOveqwpJ6PZ5f6h1p2mGLfmd7drF+KvYhQhfeBPQPsP1DHN61ZO0MgaXbV3xtup71/3i+J0qx69nACVGfAhyiN84UG0uTxFK3mLhW355f7K33rmhzOfqNSIAt4EaE38CXPpKTtulg1hGn61mJddsd/ac4L2pp4OLwcgEiQAEOEMjGzOaN8Slv+HdFb84sHHMoj13RjXlPeG0SCBQBr+UtXrRluVvnZ/d4WCJLpg655Tkd5xbiBCjAIX4DTfELYjzX6i7JDBP/386sXBOmH2ACzI4EGpDAql3rF2sR7o5LouvZJb4rEaYLfQIU4NC/h3YN3j0j6aByuW61I/qjwCf9+MIGDSKMN/3AZbeIwriKEV+1zPzsXXvS9p9uQOiu56l3Dr51l4nTD20CFODQvn/HlP6NsSmv6u6p+SZxxcGCfrnFFu3CGiBh5jfSGHCYUQzq6ljzNi3N1iWM1k5v1grd9fy0DnALEwIU4DC5kaYaXrdca8LaT31/Z8732udGAiQQYgTW79/o2HpG17Pl80wOsSqwuFUQoABXASjUdsNAh1jyO1PuwwXeEbuyi7lQ3wAJI59d0I1wMxvokkXewozNP27vby6nlPxh2tAbucbfAAkTnwIcJjfSvxpvjE99yBLrW5P20a6cBBOmHz4ElFJ6xCF86sOalBFYun3NWh1L1U5v1tapg6c8pgPcwowABTjMbqipjkvUNSbsE+m6+If8hSZOnwRIIHgJZORlbT+cfWSEKaFS7ikm3Mg+Lx9gAq4A58fsgoTA6+NSV+miOGsF1x4t6FfotXJ0GrcwIcAu6DC5keWqsWDLV5h4hXW/ejTJ+vjOQTd9Ue4QRsOEAAU4TG5kRdUo9rjvFcvKtPdZ0uTzfbkr7DA/woIAu6DD4jYeU4lth3YtK/IWO2O/bpd1+zEHMNJ4BOrhyq56yJNZBgkB20ylUn8xxdmZVXxqVpHvgInTJwESCB4CXstbsHbfdx1NiXQPx99/O/DWzSZOP/wIUIDD754eU6M3xqVO161gs3A/9oOdObQfewwhRkggOAis2b3hK93n3BalsUTSvFHqfoTpwpdACAlw+N6Eeq+ZUr811zha6DvjQG4x1wYbIPRJIAgIFHmLMncd3TPYryh/+l3/KeYtZ37JDIYTAQpwON3NSuqiW8Hv6CfqZWb3x7tz80yYPgmQQOMTWLZj9RpdimTtdCPY2jtt8JSnEKYLbwIU4BC5v3Utpr7Rjp3oPK81mMY56kq08c/XY4Sq8UvBEtSVQF5h3oGDWUfK7D1byjGkU9e8eX5wE9C/y8FdQJYuMARKlyW9Y3Kbsy+30ITphyYBRUMcoXnjypV6ybaVsHAVhWTLkk1Th0x5FWG68CdAAQ7/e+zUsNjn/qOJ5BZbQw6EzFiwKTV9EggvAml5GVsy8rOc1q+IulP4FzEEKMARc6tFZk9I2qCfsP9jqvzJ7twcE6ZPAiTQ8ASWbVuVrq9q/w5bYq2cNuTmD3WcW4QQsG98hNSV1dQEvJb7T9qzt1yvNZStYBtFUH+wcOFJ4FD20Q25RfmnmNq5XEKjGwZGhPgU4Ai50aaaaAXr8Nva2dune3Jh9s4O8yO0CHASVmjdr/KlXb1rfYZf2id3DrxlsV+cwQggQAGOgJtcvop6LNhZ4J9TbJ1yIK94Y/ljGA9+ApExCSv470NtSphVkLM3uzBnuDlXuay/mjD9yCFAAY6ce+3UFK1gPRY82yTM3Zd31ITphw4BtoBD516VL+nKXd/AIp39+4uxX7Z+yxOKjLj9BYiMqrKW/gRcfk/caQW+YZmFtBHtzycUwmwBh8JdOr6Mhd6i9KM56aeaPcqSB0y4vM94eBOgAIf3/a20dq+PbbJWP3kvKT3As+BAHo2+l8KgRwL1SWD17vVrdf7R2unN2jx1yC0f6AC3CCRAAY7Am26qrEQ9bsK7sosHF3mtXBOnTwIkEHgCXp83b1/6gYEmZ0vEeVuZSaNvCIS/TwEO/3tcaQ1hI1rE2lt6QNKSH/NXlIbpkQAJ1AOB9fs3LRdRqaL/dA/U/mmDb/m3DnKLUAIU4Ai98abaPhGnFfxdWtFJliU6yeylH8wEOAkrmO9OxWXbcXhXZ2ePkulOmIGIJHAiAY5IIJFW6bzo1Of1D7nd9WyJ1eabo4VfRxqDUK0vJ2GF1p3bm/7jGp9ldUKpLUtyc72e5xGmi1wCFODIvfd2zd8fobJEyQt2RH+sPFwQrz1uJEACASbw3b6N+X5Zvnrf0BvtB1+/NAYjjAAFuLIbHkHpXuV6ylQ3v9g34Ei+b4eJ0w9eArrnQgVv6VgyfwL5xfmH/A1viMf3nP9+hiOTAAU4Mu/7MbWePTZlqyUyX0r/Fv2Qt7s0SC+ICbALOohvTrmifbN343c6yf691UM9300bcOtqHecW4QTsL0SEM2D1NQFLKacbem9O8UCfJUU6mRsJkEAdCWjB9e1J29fXyUapJ5wwAxFNgAIc0be/mi8VqwAAEABJREFUrPJvjU15TXdpGuPwKd8cLuSSpDI8DJFArQnsPLJnhRLVoiQDK1u5Et8oCfMz0glQgCP9G3Bs/V8x0VWH8yN3MpaBQJ8EAkDgu/1bPSYbS9QrUwdcnWPi9CObAAU4su//MbVXVpSzLCLfZw3MLPQZIx3HHMdIcBDQPRYqOErCUlRGAJOvCorzB5v9PpdvpgnTJwEKML8DDoE3JiSus0RWmoQFB/K2mTD94CNQT5Owgq+iIVyiLT/s2KCLbz8o6bHgtXcPvBWTsXQSNxIQoQDzW3AMAeW3Jnh3dnHvY3YyQgIkUCMCO4/ubeKcYAnHfh0YDIAABRgU6BwCOVEpr5uIbg233JNdvN7E6ZNA2BMIYAWzC3L3F3qL+pssLY/X+d8yafQjmwAFOLLv/3G1h2Us3VX2kdmx6nDBUROmTwIkUH0Cmw5u3eIcbVmL7xrwa86pcIAwAAIUYFCgO4aAS1xvm4R9OeyGNizok0BNCOxN+6GlOV65QqL72RSXfgMRoAA3EOhQukx2dPK7przshjYk6JNA9Qlk5mfvKvaWPbwWuRXHf6uPL2KOpABHzK2ufkXRDS2W9YE5g93QhgR9EqgegY0/bC2zp27JZ7/rPyWtemfyqEYj0AgXpgA3AvSQuKSL3dAhcZ9YyKAksD/jhzamYJayOPnKwKB/DAEK8DE4GDEEcqKS3zNhdkMbEsHl0xBHcN0PU5r84oLDXp+vp4n7fB7nf8mk0ScBEAgiAUZx6IKFALqhLbGcH461RwuOBEvZWI4SAkop/WxUEuZn8BDYeXjPxrLSWAvvHnqjsbFelswQCWgCFGANgVulBN43e/bneluZMH0SIIHKCexK21f2u6rUp5UfyT2RTqDsixLpJBq5/sF4eW9UzJemXEVeq3e+1+KTvAFCnwQqJmBl5+c4rx50UYArpsRUmwAF2MbAj4oIzB4Zv1unb9LO3jakFX5rB/hBAiRQIYFD2Ydh+znF3mnJ4d8OvHmNHeYHCVRAgAJcARQmlRGwLOsLE9ucXlRPY47mCvRJILQJbD+855BTAyWORTknjQES8CNAAfaDweDxBJS4P5fSv8OFXmdmZ2kSPRIgAT8CP2QealYW5fhvGQuGKiJAAa6ICtMcAp7ipLlOxJIWP+YWb3biDASEADMJDwKF3qKMYm/xyaY27pgo5+HVpNEnAX8CFGB/GgwfR+CVs1WOiLXY7PguvWi/CdMnARIoI7D36A/f65jSTv/LWF/f0fc6vsjEhsGPyghQgCsjw3Q/Ai5nHHhndlGS3w4GSaCOBMLn9P0ZBwpMbSwl80yYPglURoACXBkZpjsEvKLmmEhukdXdhOk3LgHL0j/zjVsEXt2PQFpuRhMTtUR9ZcL0SaAyAhTgysgw3SHw9rjkJU5EJOVwnq/M0LzfDgYblgAtYTUs7xNdzWt5i/UYcB9zjDfO5/8/Y5KP85kQ2QQowJF9/2tS+1Xm4B3ZHAc2LOiTAAgczU6D+UkPwpYl237f+1aabgUMuhMSoACfEA93+hH42oT35hQVmzB9EiABkb3pB/wE11pGJtUhwGMowPwOVI+Aci03Bx7K9TU3YfokQAIiP2YdjinjwPHfMhYMnYgABfhEdLjPIeBzKUeACy3rJJ8lRc5OBkggwgnkFuaf5CDw+DgBy4HBQGUEkE4BBgW6Kgm8NTrpe0usvNIDow7kFW8pDdMjgYgmkFOQs9eyrKaAoMd/86cNuHU1wnQkUBUBCnBVhLjfj4BaaiI7MosPmzB9EohkAj9mHtrj1F+JM1fCSWOABCohELkCXAkQJp+QgPPjsje3mN+dE6LizkghcDgn3THAoSzh248i5cYHoJ78EQ0AxIjJQpX9uGQVekteuRYxlQ++iupuzxKzh8FXtIgqUXp+VlRZhS0sRyqLMkQCJyBAAT4BnDDeVauqeV2eTebEQq+0NWH6jUOAhjgah3v5q+YX5KWaNKUs2IM2UfokcEICFOAT4uFOfwKzRyeuN3FLpFmB18o0cfokEKkEinzFnUzdC8VHATYw6FdJgAJcJSIecAwBy9pl4gfzvbtNOKR8FpYEAkQgvzj/kM4qUTu9WTm/H/xrxHWYGwlUTYACXDUjHnEMAbXZRH/MK043YfokEIkE0nIynNdzWqLWRiID1rn2BCjAtWcXkWdaynIE+GCutzgiIYR2pVn6ABI4mpvmPwzD7ucAso2ErCjAkXCXA1pHlyPARwp9fub3AnoRZkYCIUHgaE6GzxTUEs6ANizoV48ABbh6nHhUKQGlxBHgnCLLtv5TuoseCQQ/gQCXMKsgN85kyRnQhgT96hKgAFeXFI+zCShvWRd0sc/qaCfyo8EIOM0tfUWuA9YQGnkrLC5sYorgVrLVhOmTQHUIUICrQ4nHOARen5C63YmIxOV7rQy/OIP1TID/sPUMuIbZe31eZw1wUXHUjzU8vaEP5/WCjAD/n4PshoRCcSwRZ6mF7oY+GgplDscyKt3nGY71CqE66X8FcV7NeffQG/kwGkI3LxiKSgEOhrsQYmVQYh00Rc4q9maZMH0SiCQC+cX5eCGJsutsSdkLGewEfgQdgSAsEAU4CG9K0BfJUmUCXGjlBn15WUASqAcCuQX5aX7ZOv8TfmkMksAJCVCAT4iHOyskoMq6oDMKfYUVHsNEEghzAnlF+U7vj6Usjv+G+f2uj+o1oADXR/GZZ2MQsKyyLujsIst/Ym5jFIfXJIFGIZBVkJPvXNgStoAdGAxUlwAFuLqkeJxDQCmXMwkrt9jL75BDhoFIIpBXmOtYglNKsQUcSTc/QHXlj2eAQFaVTTjt928B53itqHCqG+tCAtUloMeAMQvaPlz/T1CAbRL8qAkBCnBNaPFYm4Ae73K62wqKLccSkL2THyQQIQTyivI9pqpKlNMrZNLok0BVBCjAVRHi/uMIuMRzREr/in1SDQEuPZheQAnoVpcKaIbMrEYELLHKfj9dPmdCVo0y4cERTaDsCxTRGFj5mhDwuXx+S48spxVQkzx4bN0J6HFHpwu07rkxh5oS8Pmssgcgn+JkxJoC5PFCAeaXoOYELFeeOcmnhGPABkYlPpPDk4Cl9Le/tGqWuPgwVMqCXvUJUICrz4pHlhLwic9v+YWiAJdyoRdZBLxadZ0au7w+J8wACVSTAAW4mqB4WBmBaIlyBNhnWXwncBkaho4jEL4JZf3Puo7sgtYQuNWUAAW4psR4vPik2BFgjSNaO24kEHEELMvn/H662AUdcfc/EBV2vkCByIx5RAYBT2GSMwasa8wWsIbALfIIWJYqawS7VIVd0JFHhTWuCQEKcE1o8VibwCtnqxw7UPLBMeASDvyMOAKWI8Beq5gCHHH3v+4VpgDXnWHE51DsFf8u6YjnQQCRQSBrf3rsD6v3yt6vdsiuedu7R0ata1JLHlsVAQpwVYS4/zgCEydOvDzvw6eLijZ+Jb78HCkWq+C4g5hQ7wQs3Qda7xfhBY4j8M3StTLz3qdl2cz5fTa/t162f7pR9szf8qz+v9h0/vnnjzvuBCaQQCUEKMCVgGFyxQT0D8ztSqk3vVu+jir4ZJbkPnOTvPbXO2OXfjRbfty9veKTmFovBPR94NrTeiF7fKYH9x+UD15+X/5w1e/kxYf+KZu/2XTcQfp+nKQT52ghfu2CCy5I0mFuEUygOlWnAFeHEo+xCegflgd04DHtjtkO7doSs/DdV+SlB26Tp++8Rj7990zZsvZrKczPP+Y4RkgglAgc/uGwLPxwgfz9rsflLzc9KF++84VkZ2YfU4V+/frJyJEjj0nTQnyFz+dbcs4557Q/ZgcjJFCOAAW4HBBGKyZw3nnnTdI/LPeavT179pRBgwZJdPSxq5Cy04/K2oWfyTtP/0Ueu/Vn8vJffitfvPEP+fareXL0x/3mdPoBIMAu6ABA9MuiIL9A1n+9Tt75x3/kLzf/WR684X47vP37Y3t2EhMT5dxzz5UZM2bItGnT5IYbbpD7779fWrVq5eSm/1f6ud3u5brHqIuTyAAJlCMQvgJcrqKM1p6A/hGJ1z8oM0wOAwcOlHvuuUfuuOMO+ec//2n/CJ199tnSvHlzc4jjH9ixRVbN+VA+/Ofj8o8/3CRP/HqyvP33+2XJh2/Jju/WSEG+/4om5zQGKiHAqbaVgKlhclZ6pmxet9lu4b496027lTvtZ3fKC3953k47uO/4twvigfM3v/mNPPPMMzJ58mRp3bq1c9WuXbvKX//6VznrrLOcNP0/00Y/JH128cUXN3MSGSABPwIUYD8YDFZMQP+I/E7/mNjdaU2aNJHf/va3xxyIbrirrrpKHn/8cZk+fbpceeWV0qdPn2OOMZH83BzZvn6VLPrfa/LW43+Sx2+9XJ6/d4p89NLfZc2CT+Xg3p3mUPoVEOA/bAVQKknKOJohOzftlDWLV8vcd+eILbR3PyG/v/JuuefqP8jMe56yW7hLPl0i5Vu5yLJFixYyfvx4+dWvfiXPPvus/cA5dOhQ7KrQoTfo5z//ufziF79w9uv/mx7FxcWvOAkMkIAfAf4/+8EIo2DAqqK72jrpH5F7TIaXXXaZCVbot2nTRn7yk5/I7373O3nllVfslvIVV1whQ4YMkWbNKm4IHDmwV9YvmSOfvTJLXrzv1/LQdRfIC3+8Vf4762+y4L+vyLrFX8rerd9LTmaG8K+MgL4vETkJK+1wmuzZtkc2rd0oK+evkHnvzZMPX/lA/v3oy/J3LbD3X/cn+c0Fv5I/XnOPPD71UfnX9JfkvZf+J7bQbtgmOVn+y9jLeMbHx9vfUwgoHiYfe+wxueaaa2TYsGGSkJBQdmAVoQkTJtj/A36HnTNx4sSf+sUZJAGbAAXYxsCPygjocawbzL5OnTodN+HE7KvMx1jxOeecI7fddps88cQTdvcduq51t7bdSkaroaJzD+/fLZtXfyVffTxbPv7Xk/LqQ3fJU3f8XI8rXy7//utUu0sb3djfr1gsB3Q3d1bakYqyYVqQE8jLzZNDBw7ZLdVvl6+XZV98ZU92gmC+9sSr8tz9z9gi+sD19wm6iCGs9137R3nk9uky648z5ZXH/i3/++d/5YvZn8uqBStluxbYowePVllrCOrJJ58s+gFTbr31Vrvn5rnnnpPb9PcUAlrRcEqVmfodgF6gU045xS9FbvGPMEwCIEABBgW6Sgno7ucJZufVV19tgrX2MYEFY2k/+9nP7FbyP/UY8l/+8he57rrrBD98HTt2PGHehXrMeP/2TfakrkW6G/u956bbE71mTv2l3XJ+6o6r5aUHbpPZTz4gn7z8tCx+/w27a3vrNyvkh13bJDsj7YT5h9JOfW9UMJU3Nzu3VEx3yHcrv5MV85bbrdNPXv9Y3n7mLbslivWzD//6Ibt1CjG9e9I0+fOND9gi+/yf/yFvPPW6vdwHXcbL534tG1ZtsMX5yI9HBJOkalLf2NhYQY8MhHbUqFFyySWX2AKL1i26lO+66y57LHf48KPjyMQAABAASURBVOH2cTXJuzrH+v+/6N6KMeedd16T6pzHYyKHAAU4cu51jWuqBTFF/3AMw4mY4XnSSSchGHAH0R09erQ9dgYxfuWVV+Shhx6yx9ww2UWXQzDOjDG5qi6ek5lur0fetm6lfLPoc1uAP9Nd2/956kH514O3y9O//YUt1FguhRnaSP/45adkoRbzlV9+IN8vXyS7N30rh/fvkbzsrKouF1b78/PyJTMtU7D8Zv+u/bJr807Zsn6LwPDEkk8X263M/734rrz+91flHw8+Z09cwmxhjKlCTH93xV2lYvqY/OOBZ+XVx1+xW6efvvmJLPlksT0Wi/Wz+3fuE4zP1hZeUlKStGvXTnr16iVoZY4bN04uvvhi+eUvfylTp061J0OhNfv888/bLVsI7fXXX28fg6GQurZupZp/qamp0r69PXXCPkP/L51mB/hBAqUEKMClIOgdTyAmJma8ScUsTxNuCB8/sGgpo4sQY3JY7oExuVe0OD/yyCP2zGtMeMF484ABA2rcgslOP2p3XaNlvG7RF7L0w7fkyzefl/f+MUNen/F7PQZ9i/z9tittsZ5x86Xy+K8myZO3/1xmTbtWnvv9jXr/rbago2v8jUfusWd2Y+nV/3SLHDO+P/7XU/L5a8/KnLf+KfP/+2/7QQDGSpZ//j9ZNfcjwVKt9Uvn2oK/SXe144Fh18b1suv7dfbscMS3rF0u2Idu9g1fL7Rb/Vu+mh9d9O0CKVo3V3JWz/Ms+GC+zPvfXJnz3y9tgfz0zU8ELU504c5+9m15TYslxkAhmE/f85Td0kQLFK1OjJHePXmaPV4KAb3r8qly7y/+IFh+8/Cv/iaP3fmoPP2HJ23DE2/PesseZ52nr/X1nK/luxXfCiYuYbZwTiVjqtX5nkRFRUnTpk0FwxtoqZ5++umCGfU//elPbUH9zW9+Y88jePjhh+3hC9z/WbNm2Q9of/jDH+TXv/61fdwlunULIe7fv7906NBBMJ5bnevX9zF4SPC7Rl+/MIMkIBRgfgkqJaCf2J3u586dO1d6XEPvQGscLWIs+cBY25133mm3dPDj/NRTT8mDDz5ot54xgQYtI3Q/4nj8MGPsr6bl9RYVSUFeruRmZUjm0cOSdvCAbiHvtru0MTls18Z19szuLWu/lo0rFttCuW7xF7J63sey4ov3ZNnH/7EFGMZK5r79onzx+nO2sZKPXnzCFvx3Z/3N7jJ/45E/yBuP3mPPDkcX+jtP/1mwD93s7z//iEDYl7/9z/iCL16QgjkvSdaXb8T89/l3BK3S9//1ni2Qn+juXrQ40YW7+ONFslyLJWYBQzC3rNtsd+eiBYpxV7RC83Lyaoqj0uP1A5s90Q5i2rdvX0HXLnovcA9wn2688Ua7hYo1s3iY+sc//iEvvvii/P3vf5c///nPgpbqzTffLJhRf+GFFwoEFbOOMY+gbdu2guGLSi8epDta+y1V0kXspB03EnAIUIAdFAxUQOBkk9alSxcTDGo/VXf7de7c2TYSMn78eHvc7/rrrxe0oLFOE2N/EOpHH31U7r33XnuJCcbqLrroIhk7dqw9CxZd7ejuhqAEdWUDXDhMiIPIYbY6BA8ce/fuLYMHD7Yn36E3AmP31157rd3y/P3vf2939z755JP2jPcXXnhBnnjiCVtM7777bntyE3ov0DpFT8WIESMELVT0poBvXFxcgGsgIkGWo38d9QMtBTjI7k9jF4cC3Nh3ILivn2qKhx9MEw4Hv2XLlgKhxRKTM888Uy699FKBsNx22222MKOFBkGBWGMs8ZlnnhEIDdLRHYoW23333SfoBkXLDTO70R06ZcoU2zISxiPRkps0aZKdN1qB5513nt29igcDtMrPOOMMe4kLxiUhTFg7jS5LtB4RHzhwoP1AgFYgWpOnnXaaQMRg+nDMmDF2CxFlR5ctZppPnDhRLrjgAnusE0KJ6//f//2foFWJeuEh5J577rEFEuu1IZaoFybCoZ7wEUc66oieBIjs7bffbtcJ4/GYvY4HFYy9QpzRq4C14eHwnaiPOpTrCm9SH9dgnqFLgAIcuveu3kuun9ibmYv4P8mbtEjxMZsWLUMIDR5E0DpEN2u3bt0EgomxS4xXQ5QgkhBIdJ9CGCG6aF2jFQgxhihec801glb5TTfdZLfAIY6YPIS10xB0tB4Rh8ET7MM4KJbKQNzRjQvThxBWiDxa78gTa60vv/xywTptXAtCieuP0UKNcVWIPLrh0Z2LsmN2MFq6qBdavpFyLxu6nuX+b2Lq+frMPsQIUIBD7IY1cHGdJ/bajJ02cFl5ORIIOgL+AmxZlifoCsgCNSoBCnCj4g/ei+sWU5QunT1IF2ljobre3EggIATyj30jWGFAMmUmFRMIwVQKcAjetIYocnP9Z67j/xRv0uiTAAlUTeDo0WOscmVWfQaPiCQCFOBIuts1qKvuLvOaw4uLi02QPgmQQA0IpKWVWV5TSlGAa8AuEg4NoABHAq7IqePnn39+UIuwhRpnZ2eLDiNIRwIkUAMC6enp/kfv848wTAIUYH4HTkTgsNkJETZh+iRAAtUj4N8FrR9iN1TvLB4VKQQowAG60+GYje4yO2jqlZnJ3jPDgj4JVIeAz+eTjRs3Oofq/6fvnQgDJKAJUIA1BG4VE9BP7I4A7969u+KDmEoCJFAhgbVr14pfz1FhVlbW1xUeyMSIJUABjthbX62KrzBH4cfEhI/3mUICJFCewIIFC/yTPp8/f36+fwLDJEAB5negUgK6C+2/ZueaNWs4EcvAoE8CVRDQrV3B/4zfYf/zCzNIAjYBCrCNgR8VEfj444+/1t3QB7AvLy9PFi1ahCBdOQKMkoA/Af3gar86Uf/v2Mnax2LgN+wIP0jAjwAF2A8Gg8cTUEr9x6S++eabAiE2cfokQALHE3juuedk/fr1zg79P/TnDz74INdJYIAESglQgEtB0KuYgH56f0S7HOxFt9o777yDIB0JlBKg50/gv//9ryxdutRJ0v87q2JjY590EhggAT8CFGA/GAweT+DDDz/E9OfbzJ7PP/9cdNe0idIngYgngC7nFStW2K95fPfdd/15HHG5XBfMnj3bsSrnv5NhEqAA8ztQJQEtwi/ogz7Vzp6I9cYbb8iLL76IKB0JRCyBgwcPCh5I77jjDnnyySdl06ZN/ix+1JFz3n///f3a50YCFRKgAFeIhYnlCRQXF1+uu9M+Munz5s2T22+/XdAl/f33tC9guNAPLwJ79+61ZzN/9NFH8uqrr8qsWbPkoYcekptvvll++9vfyiuvvCJHjhw5ptL6/2SeHvcdoMd9nWV8xxzACAmUEqAAl4Kgd2ICn3zySaZuCU/UR/1FO3s7fPiw/O9//5O//vWv8vOf/1ymTZsmTzzxhPznP/8RrIHcsGGDHDp0yD6WHyQQbATwooTt27fLypUrBS3Zt99+W2bOnCn333+//PrXv7a/07/73e/kscceE0xA/Oyzz+Srr76S7777zt/AhlMtLbzbdXf0z/T/yTjd8kUL2NkXngHWqq4EKMB1JRhh5+un+nt0lS/SPzbHWfU5cOCArFq1St577z154YUX5G9/+5ugew7ijB80/LBBoF9++WXRP1C2SK9evVq2bdtGodZQudWcQEFBgeBBcNeuXfLtt9/KkiVL5NNPP7UfAvEdfPzxx+2x2T/84Q92i/XWW2+V6667Tq666ir51a9+JX/84x/l73//u92S1d9tWbZsmWzdulUgztUszTJ93F/0/8PpWni76ZbybB3nRgLVIkABrhYmHuRPQP9Qvad/bE7VP36t9BP/hfrH5yHtlvofUz6MHzT8sEGgv/zyS5k9e7Yt0viBvO+++xyhxo/jbbfdJvfcc488/PDDdpcfuvkwuQUtkMWLF9tdgps3b5Z9+/ZJRkZG+UsxHiIEsKQNLyvYv3+//RCGliVao1hvjhYpHuTQm/KyfmDD0h48vOGhDmL6m9/8Rq699lpbTDEUYr4vzz77rLz22mv2Q+CCBQvsB0LYY96lBfrHH3+U9PR00d9b0V3EjgMu/f215zfAR9zP4a1gS3X6v7W7T3/fp+h9P9Xh4fr/QGl3mnb36P+Hr3Q6twgiEIiqUoADQTFC89A/kgf1E//7+sfnd9qdoX+I9O+aGqF/pK7RSP6kf6Re0m6ODm/Svr2USYdPuOHHEWNq+MFEiwZdfvo6guUdGIPDDzG6BB988EG5++67BS0atLCvv/56e0za/BCjKxE/3DgP52NpCPJDlyO6xfHjf8KCcGeFBLAUDfxgGxwPQevWrZPly5fbvRloeWJIAt21//rXvwRiiAcsiCZamhiiQE/IDTfcYHfvwoeQ3nXXXYKHMIytojX6j3/8w26RQnwhwnhgw4MXHt4wrIFrQ7iLiooc0dTfr2PCpvD6C+kIrQmbff6+2Qcf6fo7nO/1ek/V3+lW+G5r9wvt7tff92d02js6vBzH0ZFAXQhQgOtCj+ceR0B3LS/RP1Iv6x+pB/SP1LXaTdDhXvoHbYT5kYyPj5dTTjlF+vfvL7169ZLOnTtL69atpVmzZhIXF3dcntVJyM/PP6YrEl2J+OFGyxkt6GeeecZuUf/pT3+yW9v48TfCfcstt9jiDUGHUPzlL3+R6dOnC1pcOO+f//ynPQEHY4QQGAjN3LlzBaKA5SfffPON/dabHTt22K1yCBSECg8T1Sl7II4pLCyUnJwcu+sU10fvwM6dOwUiCdGCWUSUFV208+fPt8c8sZwM9XnrrbcEDyt4uIEAoufhfj0OivHP23RvxE033WQLJnhNmTLF5odWKB6CZsyYIU899ZTdm4GWJybl6fsvc+bMsbuDMcSA64MNhijQE1Ldhx/zfQEfhI1vwohDMCty2Hcil5iYKF27dpXevXtLx44djzvU5XLFut3uZRMnTvzHcTuZQAIBIhC6AhwgAMymYQh4PB79O6ns1giEFi2hqVOniv8POQTPtH4QhliihXvFFVeI/iGUMWPGyLBhw6Rv3762aLdo0UIg5nWpAYQbr1rEOCJEC0KBLktYMkKLCy1nCBa6v/WDhD3rG0Lz0ksvCQQLy08eeeQRgWhDvCHiGPeGUKE7HaLVEO7//u//BEIJrrg+ynHvvfcKRBItUPQaoKxoleKBAg8lWE4GwdQPSYKHFTxQoAsYPQUYLsAMYPRGQNjrwriyc6OioiQhIUFSUlIkNTXVdklJSRITEyP4018Y+/tiwsZHOsInctHR0dK2bVsZOHCgnHnmmYLv0G36YQL36fnnn7dNReIh4/e//71978Djz3/+s0yYMOGYbPW1rtffvTeOSWSEBAJEwBWgfJgNCQSUAES6e/fuMnz4cDnnnHPk8ssvF4gMJs5AXCAsEBWIIH480VJFawyiDQFCC/fKK6+UCy+8UMaNG2cLd58+fezWTpMmTQQ//gEtcIRkhgce3Jt27drZLUgwHTJkiIwYMcIWLy1W8tOf/tRuMWOMFpOdfvakFpl/AAAQAElEQVSzn8lPfvIT+5iTTz5Z2rdvL7GxsYIuZIg7xvExNgtXk54DlAM9KCNHjpRLLrlEbrzxRsFDBx408JCBljyWCl199dX2dwjlRGsX167odnXq1El+8YtfCLrCka85RovwpPPPP/9xE6dPAoEiQAEOFMmGzYdXK0cAXYroxoZoDxo0SPCjjB99iMEvf/lLe8YrulTRAsIPNAyJQLjRIkTctGIh4DgOIo7WN8aWr7nmGrsFdemll4r+IZazzjpLRo8eLaeddpoMHjxYICo9e/YU/ICjDE2bNrVbdg0t8ui+T05OFghTmzZt7IeNbt26CcQE3f0o66mnnmqzGT9+vIDPBRdcYAsmHlbQYked77zzTlvI0CJ89NFH7aU5EDTwwgMPeicgUmhB4kHn7LPPFggx7gG6mDEujN4CMMa4Pbru0W2PFjZa12hZo+eh3C08Lgqx79Kliz1ccd555wnuA8aL8aCFsqAc6EFBGS6++GJb4E866STBA9ZxmdUgAQ8XyBfc/E67TT9c/NQvziAJ1JkABbjOCJlBKBNAFyh+sFu1amULFgQcYgIRR+t71KhRArFCK/yiiy4StObQpQyxQjczZuBCFDD5C4IFccA4KoQdAgShaCiH7ntMPoMwYQwbDxv33Xef3c2P7n6UFePdEKxr9EMFRPeyyy6zewkgxnioQJ0HDBggEDI8UIAPJjxhnBtju5hchbyR3y/1gw26dbEOHNfGeDLGmDHujNZsVd8LPSwheFDA9dD1O3nyZHv9LThC6OEeeOABO23SpEn2fcDDTuvWravKOiD78RCG8vll9pBfmEESqDMBCnCdETKDBifACwaMQHFxsWByFFqtGAfGuDB6BPBAgS5djCubbl3MbsbkKoyP//DDD4JzqyoIHm7QO4AuarRSIf7IGw8peECBmKPFja7fc889127tQvjR+q0q7/rejx4FPGSY6+iu6G66B+RCE6dPAnUlQAGuK0GeTwJBTAAzhtEtjFYpuoAxKxytVbSO0XrFOC2WB6HljpnQmBmN2dJYBpabW/Ub9CCUEMyhQ4cKBBRCCkGFsGKimr+YY5wWQwMQZHTTa0ELYnIlRcMsaf8Wt+Z5SckefpJA3QlQgOvOkDmQQEMSOO5aWNYDwcSs7U8++UT+/e9/C8a00TWOiWuYGY1Ja+jSxbpoGLrATG/McNaCclx+/gnoJkb3PLp+MZkNk+EwEQ5dw+hmR57oMsZ6XnQhoysZXcrousW5/nmFanjs2LH+RT/FP8IwCdSFAAW4LvR4Lgk0EAFYccIEJqw/xrpdrL3Fsid0EZtuXYz9vv766/LFF18IxmxhYQozjasqIpYB9ejRw55UhnFujG9jeQ5mmaMVa8Qc3bETJ060Z5RjchTGh6vKOxz2Yx6AqYdutfceM2ZMrInTJ4G6EKAA14UezyWBABHAUhysvcW6Y1h/wlpVTG7CxCnTrYtlNRBErNuF9SmsWcYynqqKgLFMLL/BMhxMtsIkMkwwwvpgzG5++umnbZvImFSGmd6YjIWuV6yzrirvBt/fCBfE7G7/bmj94NG9EYrBS4YhAQpwGN5UVin4CMAq1p49ewSWobAkB8tz0MLEkie0OLH8B8t6sJ4ZJhgXLlwoeM0jDIT4fL4TVsjlcgnEErO3detMMLMZs50xAxqvz/Mf88XMZyyjwixvrMeFwYoTZs6dNoGWLVvaPj50K7gLfDoSqCsBCnBdCfJ8EtAEIJIwAQmzi3gJAEQU4gdRhRhCZNGtC9vIsKQFy1owD4k1sRBnncUJN6zvxZperD3G2l3kB/GGiKNVDB9xjPli/6mnnio4HpalTpgxd1aLAB5w/A5sLAH2KwKD4UCAAhwOd5F1aBACsNKElznAzjQMTaD7FgYp0J2L8VH46NbFa/DQjYwXSaBbGaYuqyogWqJokaJlihYqWqqYpYxuaOSH9b1o0aKbGC1cdBOjxQthQAu4qvy5v24EwNnkwBawIUG/rgQowHUlyPPDhgBeaAB70GiZ4g1KaKmixQqrSJjoBPGDpSyIIaw7wUY0XqGHli9awCcCAZFs3ry5wLoSJvVgrPXmm2+2x14xBgsxh3hDxDFGi7FajNl26NDBsY0s/Gs0Av4CbFlW10YrSCRfOAzrTgEOw5vKKlVMACKJpTcYW8VSHLyIAEtpsKQGS2vQfXv33XcLunNhvQpjtRizxevvsNSn4lzLUjFZB7ODYU0Ks4XRKsZSIMwihsAaMYd5S8w2Pv300wWzjzELuSwXhoKRgP8YsC4fu6A1BG51J0ABrjtD5hBEBLKzswWzg7/++mvBbGGMj2L2MIxDYDax6dbFxCRjOnHLli2Snp5erVpgfSvWuWK9K9a9Yo0t1sEiP0yggphjQhXWy2LdLNbPYh1tuKyJrRakMDzIfyxdd0G3CsMqskqNQKAGAtwIpeMlSaAcAZg/hOlErHOtyHSif7cu1sti3SzWz2IdbbmsjovqH1aBhSZ0E8NiEyw3wRyjMcUIAxew8GTEHJafTjnlFPslDFjqc1yGTAgbAuV6QOLCpmKsSKMSoAA3Kn5evDwBPb4mMJ24adMmgelEWG5C6xKtTFhbQrcuTCeiW7cuphMhnBBQtIohqBBW2CaGjWIz5gvbxbBhjBcTwKYxBLp8eRmPDALlzHJmRUatWcv6JkABriZhHhZYAlh+A5vDsD0MIYWgQlivvvpq++03EFyYOYTtYozXQpDxVp7qlAJdvuj6RRcwuoLRJYyuYXQRI0/kja5jdCGjKxldyuhaZjdxdehG5jH+AqwfErdHJgXWOtAEKMCBJsr8KiWgf7gEDuKLNasw1I+376ArGV3K6Fqu9GS/HZi0hMlLmMSEViomNZk1tpg8BTHH5Ce0ljEZCpOiMDkKk6T8smGQBKpNAMMYfgdTgP1gMFh7AhTg2rOLoDPrVlUtgj18Pt8L6MKFgwifKMfY2Fgpbzrxt7/9rWCZDmYTY9kO7CBjvBfjtFjWA9OJWOZzony5jwRqQwAT9GA4xZyrv79fmDB9EqgLAQpwXejx3CoJnH/++f+nRXezdoPLHwzRhEEJGJbAGlsYmoD1KNhBNq/Lg0EKGKYYOHCgwFAFDFaUz4dxEqhPAh999JF/9kd0/FX/BIZJoLYEKMC1JcfzqiSgW77n6oNe0M7eYmJiBOOyMDaBliy6jWFSEaYTYWIxWE0n2oXnR0QSwJrxOXPmOHXXrd8/OREGSKCOBCjAdQTI0ysmcN5558Fa0Ntmb3x8vGDcF+OyMLfIlqwhQz9YCcCUKEyB+r3SccWHH344M1jLy3KFHgEKcOjds5Aoscvlekl3OyegsHiRAEw4ooWLOF0oEYjMssLWN4ZD/Gq/p7i4+BK/OIMkUGcCFOA6I2QG5Qno1u8vdNoo7ewNM5Lbtm1rh/lBAsFGAEY2du3aJXiLFZapwVoabH2bcupu51wdHv3JJ5/s1T43EggYAQpwwFAyI0NAt3wfMGEsFcKMZhOnTwINTUC3XAVL3NatWycYz8XSNxhegQEW2P/GMjYYX8Fbp2D8BfbCTRnhawH+r24R70CYjgQCSYACHEiazEt06/dkLcAdDQosEzJh+iRQXwQOHz4smDAFoy2wnoY15pjkB1Oi11xzjcDIC0QXtsFh/GX9+vUC86R4A5b+vgocyqbF1l6rDmMuCCNN7yuET0cCgSZAAQ40UeY30iDAsiH8kJk4fRKoLQG8U3nbtm2CiVG6NSroKsa8gltuuUXw+sbbb79dMGEK6RBgWFnbs2ePwIKVFlD7svDh7EglH9gPh+vBx2Haj9DfSdSerj4J8ItVn3QjMG+Xy9XDVBsvNjBh+iRwIgL5+fkCwVy1apXgNZAwTwpBhbBi5jzWiUNwZ86cKXjJBrqKt2/fLhBK/3y1WDqtWf/08mFYRcOkQKxDP/vsswUv4MBMfXMcxoVN2OfzxZowfRIIJAEKcCBpMi903yUZDHiBgQnTj2wCGIdFly9MOuINVRBRmAydOnWqYAwWDsvU8M7kV199VWCeFF3K6FrGuUZYjV8VTVhT69ChgwwePFggsDDoAjGHgReM9cIuOAy/YB36VVddJRgDRusZ74Uub1FNX/Oc888/v3lV1+T+8CLQELWhADcE5Qi6hv6xyjPVZQvYkAh/H+OleFkGXpqB1ileogGToffcc4/AZCjGYTHp6eGHHxaMw3744YcC+98//PCDoPULQvq7Y7de4SNelcPwBl66MXbsWMFLN9AdDVFFKxnW1EwLGgL7k5/8xBZjTAiEQZjK8h42bJjgIeC8885zDtHlSdGRd7TjRgIBJUABDihOZqYJZGpnb7rrzvb5ER4EsrOzBd2+X3/9tXz00UcCkbv//vsFrUaMw+INUw8++KA8++yzgnFYHIflPThPi1iNIaAHBa+CxCsh8dKNG264QTCxCgLp/9KNa6+9ViZOnCinnnqqoFsZ685rfLFyJ0yaNMluOfslj9LXoBUsPyAM1p1A8Apw3evGHBqBgBbd3eayBw8eNEH6IUAAM4Lxpqo1a9bI559/LhC5hx56SO644w6ByN10002Cl2A89dRTgqU8CxculK1btwpeVgCB9XfVqS7GYfGWKrQ60eK85pprBF3SZrYyZjLfe++9gpnMmE0/cuRIgf3w8l3E1blWbY5Bt/WQIUP8T73jsssui/NPYJgE6kKAAlwXejz3OAJut9tZL0kBPg5PoyZ4vV45dOiQbNiwwTY6AWMTaE3CUArGYCGyGId99NFH5d///rfgDUDfffedfQ7MMfoLLMJVVQbmRjETHqZH8UINCNptt90meB/zP/7xD8E4LN7TjBY0Wpzjx4+X/v37S7C8mxl1BBf9nbarquPJeXl519oRfpBAAAhQgAMAsR6yCOUsHQHGj30oVyQUy56eni5btmyRpUuXynvvvWeLHFqRmEWMFiYmIuG1jpiIhOU8q1evlv3799vjsFpg7CrDN85OqOTD5XJJixYtpE+fPoLZxD/96U8F18FsZYz/4oUbuBZa0OiixjgsWpSdOnWSuLjQaEgmJCQIHiCk7O+CsiBDJFA3AhTguvHj2eUIvP/++9tNEpaIoFvTxOnXnUBOTo5gXHXlypXyySefCEQO466/+c1vBAJ76623CsZlYcd49uzZthDv3LlTsrKy7ItDWO1ANT9SU1OlR48eAotmF154oT1jGeOwjz32mGAyFXy0mjGbGPvxVqvu3btLSgrmLVXzIkF+GMagTRE1vwEmTJ8E6krAVdcMeD4JlCPgsyyrbuPA5TKMpCi6emE2ETOEsRQHY60YE/3tb39rj8NiPBQzi5944gl57bXXZP78+bJ582bBDGR0MWuBcGYSI1wVO6x9xcxgtEzPPfdcufrqqwWzlTH2C3HHeC/GfTGTGS3cUaNG2eOwaPmiBVxV/uGwH2zQnV5al1YXXXRRammYHgnUiQAFuE74eHJFBPQPv9MNje7Nio6J5DR0zWONK4z//+c//5G/snAkkAAAEABJREFU//3v9qsaIa4Yh4XZRKyR/de//mXPNobZRIynQ5w1WxsdfDg7coKPqKgoe0x1wIABMmHCBJk8ebJgtjLGYTFbGWtfsTYWY7PYd+aZZwqObdeunfiJzgmuEBm7sOTJ1FT36nQ3YfokUBcCFOC60OO5FRLQLeC1ZgfGGE04Unx0vWN2MMwm6i55e1kOxkWxThUtTIzDQvQwDvu///1P0J2M2ccwmygiDiYILJyTUEEArVDMCsbsYLROL730UsFsZYz7YhYxWrFoQaNV+4tf/ELQyj3llFME47AY36wgSyZVQACMTbK+J11MmD4J1IUABbgu9HhuZQS+MjtgWhCWjEw8HPy8vDzZvXu3oG4wm4iWKgQVrchrrrnGnoh03333CQxCYKbxkiVL7PWzEGb9cOJ0EYOF/jGHd0KHda0YV8X46gUXXCB4g8/dd98tmK384osv2oYjMC6LGbu6e1TOOOMMwfpZrKOtTv4nvDh32gTQ5W4H9IdmSgHWHLjVnQAFuO4MmUM5ArpV9rEWmgIkw8oRzA8iHCoODwyw0ISuX5hNxDgsuoTRNYzJRv4GITAOi1fcbdy4UfAau9qMw2JGMMZhYTYRM4UxYxgzhzGDGC1YCDla0JhhfNlll8mYMWOkb9++0rJlSzFLZEKFbZXlDNIDyrWAuwZpMVmsECNAAQ6xGxYKxdXdrphy+5opKwQMQmzije3rhwNbLCGa5vV1WDYDe8CYbATj/8YgBFqYsPqESVGYHFVQYD9XHNOKrao+Ho9HWrduLf369ZNx48bZZhPNbGWshcWaWLSg0TWNtbJYM4ulL1hDy3HYqug2zH5/AdbfH7aAGwZ72F+FAhz2t7jRKjjTXBkTsTBr1+fzmaR692H+0JhNhN1hYzYR47AYC8WyHUxEwiQkYzYR3co4z79wurvRFlv/tIrCsHuNN+pgyQrMJqI7GIKOemO5zowZM+x30kLcJ06cKMOHD5euXbsKrEFVlB/TgosAehv8StTZLxzIIPOKMAIU4Ai74Q1VXS16q3VL4XlzPVhUQmvSxOvqoyWK19fBbCIsNuENOlg6g1YkRA4TkbB8Bsto8OYdYzax/DhsdQUWQmnMJkJAMdYLC1IQVphsxExmCC5mMsNsIiZEQZCbNWtW16ry/CAggPvvV4ymfmEGSaDWBCjAtUbHE6sioEX4Bi3C881xWHaDcVSMrZq0E/nm9XXz5s2z3wGLSUc4H61LTESCAQgYgoD4YjIURL6i19ed6BpmH96Qgy5fdP2iCxhdwZhUha5hdBGjq9iYTcSbd2A2EW/iQdeyyYN++BLAxDu/2sX5hRkMFIEIzIcCHIE3vSGrrEV4rBbhF8w1MY6KZTH33XefYNwVrUd0Ab/zzjt2HEYmMA6LV8jB+ARatZiIBLOJa9euFZyP8eTyLVfEzTUq8jFZCd2ImLyESUyYzITuaJQDk5ywJAiTnjD5CZOgMBkKBhgwOQqTpCrKk2mRQ6DcEjHnjV+RQ4A1rQ8CFOD6oMo8jyGgRfh6LcK3aeekb9u2TfC6Orx1B++OhUN8165dgnFYCGp555xcSSA1NdUxm2jGYbE8B61kLBVCCxrLd9B6xnKeQL6+rpIiMTlMCPi3gPX3ckuYVIvVaGQCrrLrM0QC9UdAiy/GhEX7FV5E/6hVmO6fCLOJMCABQxIwKIHJVDAwgRY1xpcx3otxX7SgzTgsDFT4r+H0z49hEqguAcw18DuWAuwHg8HaE6AA154dz6wmgYkTJ/5SC+xHLpfrhDOKseSmbdu2MnDgQIFJxCuuuEL8ZytjxjJmLsOUIswmwrQizCbi9XUwuVjN4vAwEqgRAZgOxXpwv5M+8AszSAK1JuCq9ZlhdiKrUz8Ezj///Ne1+L6oXZL/FXr27ClopZrZysZs4sMPPywY+4XJxnPOOUeGDh0qaPWi9et/PsMk0FAEYM3M9Nxof/MHH3zwXkNdm9cJbwIU4PC+v41au/POO+9eXYDJ2tkbWqqY+ISXAGCyFcZpYTYRr7uD2UT7IH6QQBARgK3uZcuWOSXSD5K3OREGSKCOBCjAdQQYHqcHvha65TtOdzk/YHJGKxbjs5j4xJcAGCr0g5kAZt9jdr4po279vqRbv5+YOH0SqCsBCnBdCfL84wiMGTMmVif+Uzt7QwsXRirKGTOw9/GDBIKJQHp6uqDVi+Vo8+fPd4qmxffLAwcO3OgkMEACASBAAQ4ARGZxLIGkpKTrdYptrg8Tq/BjFsxraXVZuUUgAawnh/lR81YrLFP71a9+JWj1YuKVH5IvsrOzz9fHFfmlMUgCdSZAAa4zQmZQnoBuLfzGpGEiFVu+hgb9hiSAt1oZa2qYxYwuZcyih7nSa6+9VvBmK6wTh71uvNWq3FIjU9SHdbfzT3RrON8k0CeBQBGgAAeKJPOxCUycOHG8UqobImj1QoARpgtWAqFdriNHjsimTZsEtr4horDNPW3aNLnhhhsENsGxThzW1LBOXIuofSzMlRYVFdlL4vR39RgA+uHRf636Oi2+d+sDGu4tIvpi3CKHAAU4cu51g9RU/6CNNRc66aSThBOuDA36tSGgu37FvNUKXcN46QVarTC2AnOlZp047HXDHvi6detsc6XlLFfZYlvV9fV31zmuVIg3V3UO95NAXQhQgOtCj+ceR0D/cLU0iXos2ATpk0CFBAoLC2Xv3r2C7t9PPvlEsETtT3/6k8DYyjXXXCNmnTjshmNy1MqVKwVvwYIw+wsmwhVewC8xOTlZunfvLpiJf+GFFwreyTxlyhRBeODAgc6RyKvUDT/rrLMSnB0MkECACVCAAww00rPTP1xRhgHHfg2JyPW9Xq9gQtOGDRsEXcD/+te/5K9//atgYh7GYGGXG/a5MQHq9ddflyVLltgt3rS0NMG5+vvktEqrooghD7w8Ay/ROPvsswUtZFwH18P4L166AXHHWvSf/vSnMnz4cDnttNMEYRh/gUlTWFbzu06HmJiYz84///x4vzQGSSBgBCjAAUPJjEBAt4CdN8VQgEEk/B3EcvPmzbJ48WKBiJpxWLwbGfa6MenJiOCcOXPk+++/t0UZ73QGnZqIbKtWrQSvgRw3bpzgtZBoxd5///2C10WiGxqvj7ztttts8YUI4/WSHTp0EMzGx7VO5GAoBmPGaHX7HXeG/k6/6BcPoyCr0tgEKMCNfQfC7Pr6x+qwqVJOTo4J0g9hAriPO3fulBUrVthrZNEdDEtm6L6FwKK7+IEHHrC7j9GNbMZh8Qo/I67wq4OgadOmAjOlI0aMEFhKu/766wVjvpipjFdXPvLII3LXXXfZE6wmTpxot2K7du0qgXzYg3W2K6+80imuLvvl+lpYWuekMUACgSBAAQ4ERebhENA/VrtMBLNNTZh+8BLAjOD9+/fLN998I5999pk8//zzAkHFBCfMJEaLEIKLCVCYCGVeG5mVlSU+X8kEYX3fq9VVDKGEYKL7V4uaLaQQVAjrSy+9JLgGroXWM2yFjxo1SvBGq2bNmjUoQLwPGs5cVNcPZlWVidMPfQLBUAMKcDDchTAqg24B7zDVwdifCdNvPAIQSdwLdP3Onz9f0JLESy/Q3YoWJkTWiCD2YUnPli1b5OjRo4K1tCi5FqBqCaweM5X27dsLun7POussQUsSXcLoGkYXMbqK0WWMrmN0IaMrGV3K6Fr2eDy4VNA4vHErNhZG3ewiddBjwRfaIX6QQIAIUIADBJLZlBDQP/aOALMFXMKkIT4zMjJk69at8tVXXwne3vPYY48JJjeh9YpuYozDQgRfeOEF+fzzz+Xbb78VGKmANSiIqymjf9ik+ftut1tatmwpffv2lTFjxsjPfvYzwaSm++67TzDJCfn/7W9/sydZ/fznPxe0IjEpCpOjMEnKP69gD7tcLsG7p/3KeZFfmEESqDOBxhPgOhedGQQjAT0GuFeXy6udYKkIlpkgTFc3AljXaswmfvDBBzJr1izBjF60JCGw/iKI/VjWs2/fPsH4La4MYTUO8RM5vJkKa7jNOCyMWmAc9vHHHxcYtMCMZYg7ZjDrVqG9rKdbt26CZT4nyjcU9+HhwZRb9+4MNmH6JBAIAhTgQFBkHscQ0D9U20wCWlkmTL9yAujq/eGHH2T9+vVizCY++OCDgu5bmE1EV/Ef/vAHwWQktHDR0oWBCrR8da+D3T1cXYHFu5Xxdiq07s4991yBgKM7Gt3S6ILGu5nvvfdeMeOwI0eOtMdhmzdvLmgVVl6L8NvTr18/p1Kab1nESWWABGpPgAJce3Z1OTOsz9U/VI4AQ1TCurI1qBzMJm7cuFEWLFggr776qmDdKYQP4nrNNdcIwkhDK3P+/PmCpT04B5OkNNNqXwlLbtq1aycwLnHmmWfKFVdcIZhQBTvIzz33nMAhjNnLGOecMGGCYP1r27Ztq32NSDkQLNEjYOqrW/xdTJg+CdSVAAW4rgR5/nEEdAt4pUlctWqVCYa9jy53tEoxSxizhdFa/d3vfmdbc7r66qsdEcQ4KWYbo7WLHgIzDmtE1viVAUMrtEWLFtKnTx8ZPXq0bUgCphnxvuWnnnpKYHQC9o9hXALXhT3uoUOHClq9aP0K/2pEAC1/c4L+bnc1YfokUFcCFOC6EuT5xxHQXaJLTSIEGN2rJm77IfoBwxEwm7h69Wr56KOP7HWv999/v202ETOJMeEJ47JYJwuziag7jsc4rP7hdrqJq1P9lJQU22wiLDXBVCKsRkHMMbkKy3XgI4507D/99NOlR48ekpqaWp3seUwNCPgLsD6NAqwhcAsMAQpwYDgyFz8CCQkJc7XgHEUSWneYcYtwsDuYPjx48KA9QxgWmyB0sOAEc4aYcASHyUcQvzfffNM2m4iZx7AEhYeMqlqu/vVHSxQzgzHJBzOFMWMY18EMYrRgIeIQcxi7gKlEtHTR4kXLFy1g/7wYrl8CYO53BQqwHwwG60aAAlw3fjy7AgKzZ88u1GL0rNmF18TBaIOJN5avHwoEYomx1UWLFh1jNhEzfTEOCxFE9y1sFmMyFNbOYg0tZnPrOlW7FYs1rTBt2L9/fxk/frxMmjRJ8LL3Bx980G45YxwWy4Juu+02e60s1sxi7SzW0GLcsbEY8brHE/BvAevvAAX4eERMqSUBCnAtwfG0ExPQLcKH9REHtRNMxELLDktpEK9Ph+7enaVmE999913BmCgsK6Elidm+RgRhFOKTTz4RYzbRlE3/wNoiW50ywjpTr169BLOEYbUJs4ZxLVhzQusZE6qmTp0qEPbzzjtPhg0bJp07d+YrGqsDN4iOKdcC7hhERWNRQpwABTjEb2CwFl+LG17KcIMpH14hB0FCa9Kk1cZHSxTjqljn+vHHHwuE1H8cFiKIJTRYSvPf//5Xli9fLrt27RK0wNEChsBW97p4naK/2UQsBzIWoyCwmGSFpUFoPcNuMdbNwo4x7BlX9xoRd1wIVhjWvUyx9Xco0YTpk0BdCVCA60qQ50VEipAAABAASURBVFdK4IMPPnhP7/yTdvaG8VJ08b711luCsWE7sYIPiDReXzdv3jz597//bb++DjN6MQYLEcQ4LIxB4M076EpGvuha1q3uardecVmYGcSbcgYPHix4cw5eXweLURj3ff75521jFxB3GLuA2cSxY8fab+IJRrOJqA9d/RDASyVMzvoBLtaE6ZNAXQlQgOtKkOefkIAW4Qd0q+FKn8+Xbw788MMPBWtfTXctrDphRi9akv4iiMlIX3zxhf36OkyOQutX/wDaImt8k2dFPsZhIZawNQybwxBRiClEFdeEyEJsIbq4LkQYYgxRhjhXlCfTIo+AvwDr2qdpV9uN55HAMQQowMfgYKQ+CGjBfV0L8HnaiRZj+xLw0TW8cuVK234xupUxDmuE1fj2wSf4gJGEyswmopsYb9lBtzGWCeHtO3gLD7qV0b18gmy5iwQcAvhemoj+3q43YfokUFcCFOC6EuT5VRI4//zzL9St0aewfAbCihOMj/CJXEJCgnTp0sU2im/MJmJiE8aTqzKbeKJ8uY8EqksAhlX8jp3rF2awJgR47HEEKMDHIWFCoAicc845LXSr8zOd3/+066PdcRuW3GDpDZbgYCmOeX0dTCVigtWzzz4rDzzwgG3swphNxNIeLPE5LjMmkECACcCYCuYjIFvd+s33er3/QZiOBAJBgAIcCIrM4zgCEF+3271at3TP8t+J7mIYlvA3m4glSpicBWMUMEoB4xQwmxhqr6/zryfDoU8Als+wht3URH+XH/vkk08KTJw+CdSAQIWHUoArxMLEuhLQ4vue/sFqb/KBMQq0ZrFECKYTaTbRkKEfjAQyMzPt2feYkV9avv3a/4t23EggYAQowAFDyYwMAd3t/DctvqeZOAT3mmuuoQEKA4R+UBPACzLQQ4MXa5iC+ny+mz/44INcE6dPAoEgEDECHAhYzKNqAhdccEF/Lb53myMxbosuZxOnTwLBSgAz8mHABa+FxGsgTTn12O/NH3300fsmTp8EAkWAAhwokszHJqB/rBzDG5i9jJnL9g5+kEAQEMCSIix/W7VqlXz66aeCmfR4uQbWpcOE6IoVK8qX8roPP/zw2fKJjJNAIAhQgANBMejzaJgCnn/++c31lS7Rzt7Y8rUx8KOBCRw4cEDWr18veKPVG2+8IWjV4s1SN910k8DYCwzAwIwoJlh9/vnnArOm5S2z6QfJzbrYw3S38z+1z40E6oUABbhesEZmpvpHy5nx3L17d8FyocgkwVrXJwF0D+MtVQsXLhTY+8abpR588EF7qRpm0k+bNk2wThxvtIK9cLRqMZ6LF3WcqFz6+7tLu0f1McN0q7enFt/jmsN6HzcSCBgBCnDAUDIjTaCfdvYWTOJrF4gfIUMAL86AYC5btky0EMqLL74oDz/8sGBsFgKLVzjChChMieKNV4sXL5bNmzcL7IFXp5JKKdsimxZb8Xq9/9L+ldrvr6/VWbs7KbzVochjAkGAAhwIiszDEBhkAlzDa0jQL08A62vxdqzVq1fLZ599Jq+++qqgS9i8WQqvjkSX8cyZMwUv7sBLOb799lvB7OTyeVUUT0lJEfTAnHbaaYIZ+Nddd53A1jjGepG3Flzbnrg+94BuIf9Si+7r2qeJSQ2EW8MSoAA3LO+wvppSynlVm/8r3MK60kFfuYYvoG5N2mIJ0YR4vv322wIxve++++SWW24RCOLvf/97efzxx23xhQhjUtTu3bsFk6SqKnF8fLx07NhRhg4dKuecc45cffXVgrdlPfTQQ4IXeDz99NMCAYfYYh7C6NGjpU+fPtKiRQvB27NM/vr7+rwJ0yeBxiBAAW4M6uF7zR9N1aKiokyQfhgSOHr0qGzatEnQ/YtuYJgNRbfwbbfdJljzje5idBuj+1h36Qq6k7dt2yYwcFEdHK1bt7bnEMCAy6RJk+RXv/qVbZL0mWeeEYz5/uUvf5Hf/OY3csUVV8iZZ54pAwcOlHbt2glMm1aWv5mcZfbrB4UXTZg+CTQGAQpwY1AP32vuM1XDD7QJ0w89ApiwtHPnTsEEJt09Ky+//LLgzVKY4IR3MkP8YK8bYoiJUGhZYmIUJkhVVVu8lKN58+bSq1cvGTlypFxyySVy4403CqykYcYy3gE9Y8YMwUs3IObnnXeeDBs2zH4pR2Ki08ki1fnzP0Z3NftH39P12uWfwDAJNDQBCnBDEw/v6+0w1fMz4WeS6AcRgcLCQtm3b5+sXbtWvvjiC3n99dcF62CxRAdiiCU7RhCxlOfLL7+Ub775RtCKLCoqqrImycnJ0q1bNzn11FPl/PPPF4g2XgsJEUerGN3PZsz34osvlhEjRgjshOP1krpruMr8a3oAJmihtW7O8/l8D5owfRJoLAIU4MYiH57X3W6qdfjwYROk3wgEtMAIHoLwJp8FCxbIf/7zH0H37f333y+33nqr/N///Z/cfffd8uijjwpanJ988onAEhSMVOTmVm1xEZPsMA6LF2ecffbZctVVV8ntt99u209+4YUXjhnz/dnPfiZjx46Vk08+WVq1aiVut7vBiejWroBJ6YWXfPTRR6tKw2HssWrBToACHOx3KITKp1subAE34P3KyMiQrVu3yldffSXvvfeeQPjMm6V++ctfCt4whTjSsX/p0qX28TivqmJ6PB5bLCGa48aNk8svv9wWbgg4hBxjvhiHxZgvxBciPHjwYOnQoYME2wQ8dKfDKIeps2VZD5swfRJoTAIU4MakH2bX1l2Tm0yVDh48aIL0a0kALVG0SDFDGGYT0VJFixUtV7Rg0ZKFIM6aNctu4aKlixYvWr5+rb0Kr64flqRp06bSs2dPu/sX3cAwx4huYSwJQjcxuovRbQwxnzhxogwfPly6du0qdRmHrbAw9ZyIsV/93bSvosV3s45/YEf4EdYEQqFyFOBQuEshUkbdjVmgi3pEO9vQQXUm5ODYSHXFxcX2mOq6desEY6wYa8UkJIy9YgwWY7EYk4UgwmwixmoxZouxW4zhVsUNQgl73JjAhIlM11xzjWASFSY4QWD9x3wxEWrUqFH2xKhmzZqZdbJVXSLo92MoRH8vnXLqB4+/OREGSKCRCVCAG/kGhOHlN5o6wdiCCUeqDwHA7GBjNhHvRDZmE9GyNIL48ssvC8YpMesYs4/RbVoVMyy5wdIbLMHBUhwsyUGXMGYno4sYXcUPPPCAvYQHS3mwpKdfv37SunVrQRdzVfmHw/4333wT1q5MVbZ+8MEH/zYR+iTQ2ATqT4Abu2a8fmMRWG4uDDEx4XD1YTYR61uxzlX/uB9jNhEtTjMxyZhNXLJkSbXNJmKyEoxHwIjEmDFj5LLLLhMYl4CRCRibgNEJGJ+AEQoYo4BRCkyK6tSpk2CSVLgyr2698CDz9ddfO4frbvmbdcSnHTcSCAoCFOCguA3hUwj9I/eVqQ1MDeq4iYakj7fkwEKTGYeF2UQsoYElJ4yZQhDvu+8+e9YvLD7B8hMsQMFsotfrrbLOqamp0qNHDznjjDPkoosuEuSJvGE2Ed3E8GFGEWO+F1xwgcC8IswswtxilZlH+AF4GYMfgg8/+uijL/3iDJJAoxNwNXoJwrMAEVsr3XX6ia58lnaSnZ0t6H5FOFgdxmEhlhDNuXPn2raH0bpEKxPiCkE0E5MwDguziXiwQPc6xLmqesFsIlqkp5xyipx77rnyi1/8wn6pgLES9dRTT8kf//hHwZjvpZdeKhiH7d27t202EQYrqsqf+ysmgHuJngnstSyrSN/n2xCmI4FgIkABDqa7EQZlmT9/frb+wXvGVAVjm9U1P2jOCaSvyyKwylWZ2UQYiDBmE1966SX77TvotsTbeNC9XFVZMA7btm1bGTBggEyYMEEmT55svxYP47AY74WlKIR//etf2/twDI7FOTTXWRXd2u3HuDsMi5izlVJ//+STT7aZOH0SCBYCFOBguRNhVA6Xy/VnLXwHUCVYToIApaenI1ovDi3tHTt2yPLly0V3M8q//vUvwUxfmDKEwJ7IbKIu5wnLhFYozCaiVYrWKVqpaK1ipjJmLGONLVqzEHG0btHKRWsXrd6EhIQT5s2dgSeA+4kXP+CNS6W579H+n7TjRgJBR4ACHHS3JPQL9P7772fpH8KrTU0gwlivinFUk1YTH0tu9u7dK2vWrJHPP/9c0BX8xBNPCLqGb7jhBrn55pvtblx052LWK4wuYGnPDz/8ILrrscpL+ZtNxDgrRBtrbbEOFi14/zFfjNNivLY+zSZWWWAeUCkBzCSHcZLSA3x6HP6yDz74oGrTXqUn0COBhiRAAW5I2hF0Ld0S/VKL8K2myugWhGiitYhx4fLjpzDc8d1338n8+fNl9uzZ9qQmiDZeX4cJSJiIhAlJr7zyisAoBcQck6Oq8/q62NhY+/V1mCEMi02w3GSsRGEmMVpM9913n/2qPMw0Hjt2rPTt29e2BGXKXwOfhzYSgc2bN9vfHb/LP6QFuWwatN8OBkkgGAhQgIPhLoRpGT788MOZWoSv968eJjvhtXWY3HT77bcLDE38/Oc/P+Z9rroFbb++Di2Z6o4fw8ZwZWYTsQSovNnEQYMGSfv27U/4+jr/cjMc3ARg9AVWwnSL1y6o/t6t1w9ef7Qj/CCBICVAAQ7SGxMuxdIi/ILP5+um6/OedsdsaBXD1OIxiRVE9I+pnQofQguzicZKFKw5wUQjuovDwWyiXdFQ/miEsmOIYvr06QLTnbi8/p6k6e/c+bonpep1YDiBjgQaiQAFuJHAR9JldXf0dj0Od5H+URynfxzna/dDBfU/otOXazdb74Ox/JuUUmfhHB3frJ1tHhFLhrAECK+5gx1j2DPWx2E3XQQS0N8XwbKx/fv3m9p79ffhXN31vMsk0CeBYCVAAQ7WOxOG5dJCPE+3iMdq10Z3D8brKp6s3bCsrKwkLdDNdfpw7X6mw3dr95zuiv4C5+jx4mH6h3aOPtbe8No8WICqz5nV9oX4EfQEMIaPyXmmoPp7cr3+7iwz8Qb2eTkSqBEBCnCNcPHgQBHQ3YN5+ofyO+1WzJ8/P/tE+X755ZcZWpjP0j+uz5vjsK4XFqMwocuk0Y8cAvq7IFhnvWDBAqfSOu1J/T15yUlggASCnAAFOMhvEIvnEPDpH9cbdOzX2tmbbjkLJnS9++67dpwfkUMAr2CEXW1TYy2+r+nvx29MnH4jEOAla0yAAlxjZDyhMQnoFvNT+vrokt6tfXv773//K5jlXN0Z0/ZJ/AhJAlh29re//c2eJW8qoMX331p8rzJx+iQQKgQowKFyp1hOh4AW4RX6R3egToDdae2JbNy4UdAlvWXLFjvOj/AjAIMuWLa2YcMGp3L6ewDx/YWTwAAJNA6BWl2VAlwrbDypsQl89NFHaVqIz9U/wNO0K0Z5MjIyBGYv33//fdFpSKILEwKwbAbznzDYYqqk7/HzuuVL8TVA6IccAQpwyN0yFtifgP4BnqHjo/SP8T7ti8/ns60iVqspAAAE8klEQVQhoaUEQx5IowtdAljj+/LLL9u2vY19Z32v8cA1Vd97zAkI3cqx5BFPIGwEOOLvZAQD0D/EX+kf5X4agdMlDTOV999/v+CFCYcOHdK7uIUaAZiWhHGVL7/8f/bO5CeqLArjt/6BXpB0Or3spNObjulNLzrpdNttnEVRgyOOKYdywCJY4jzijEOUOCM4UCgKKqWAoKK4cAFxgSzcsjTGhERBw0b9fcT3QKKgiRp57yTvy3fevRde3e9U7nnn1X333vY/On7WO+T/8vRjn19ohikwSBWwADxIHWcf+30F3j2SHscAvZYafwWk5uZml5eX57Q9nbdSEvV2fMcKKOstLS11+fn5TquleR8V3z6IRCJDdMPllRmbAoNZAQvAg9l79tn7KvCGwXk3j6GHMFhf9yq1I1JtbW33etPaTclbL9irN/4+FNAMZ/znEomEq6ur8z8UvnwOcqj7h8z3mV8REsO6GVwFLAAH17eh7RnZ8GMG6wkE4r8ZuP3dcDo6Opx2U8rJyene0vBT1qEOrYjfsONa0UzbSMbjcVdeXu7a29t7X/0CN0y/4s9DFL4GdpgCgVHAAnBgXGkd6asAgfgBA/dfBOKpBGL//SQN+NrSUBO1lG1VVVU57abT9+/t/Osp0NnZ2b31pLanzM7OdvjKKQP2roi/HoL/yXhn8vTCfsT3hAkdB7vDFoCD7V/rHQowuF8mEP/GgK5Zs08p8g9t7lBRUeGUFesVpoaGBqfg4Dcw44sooIlwLS0tTjc+2rkoFos5reOs7Sl7XwAfpch4h+KvP8G93nVmmwJBU8ACcNA8av35qAIM6KfIqH4iI06n0VkG+5ewf2h96ZKSEqfgIGjylpa6LCwsdHoVRituGa64/jTQ5KmioiInzQoKCpze3Y1Goy43N9dpy8hkMulaW1t9zT0DXxTzW/3v+CijpqbmvldubAoEWYGBAnCQ+259C6kCZMTVBOJ5ZFppSJDJ4F8BvwL+oSxYKy9ps4empianV2G05rThqutPA02eamxsdNJMi2e0tbU5zWr2he0xXrzTfQ43RGkE3iiPmnuWuOppZ5YpEFgFLAAH1rXWsYEUYMDvIhBXMvhP6erq+pGAkAX82dMD/b3Vf5YCbbSuRN91YDi6/yDd4fPcEL0364p2dpgCoVDAAnB/bra60ChQX1/fSUAoAxMIChGy458jkcgfZGfDwAyCRhxsAfmIsgPsxN4F74H3ggKwHxyg7CB8CBzGLoSPwEfhY/AJcBK7CD4NF8NngB6Jn4NLKUuCMnARlFN2CVaWrgB2FfsaZVWwbhZuwNWcaxGSm9h6f+cWfBvcAXeBfktthGWrvF7tOa8GKaD/V0mZrqNrJrHPgzPUFYNT4DjnR4H6o76pn1oMYw9l0mI7vBmtEnCM9lnYGeg4FE5D019AJvruAndoY4cpEHoFLACH/itgAnxIAX6HfJJKpR6Rnd0FFwka2mt2K7yJQLIBrMdeB6+BV4M8kAArKcuF9d5qHHsF9nJ4GbwUjoHF2AvhBXAUng/mYc+FZ8OzQBaYAaZTNg2eAiuATcaehD0R1s3CeDid87FgDPZoeCQ8AgwHw4BmE/8Hy1b5KNqM5TwdZAD9v0zKdB1dcxb2HDCfuihYBJZwvgyoP+qb+rmK8zVAWmyEt6HVfvgE7cuwU+h4H7YM90NfMisLvQJvAQAA//8g5sjzAAAABklEQVQDAKgL4FQAkNNkAAAAAElFTkSuQmCC"/>
          <p:cNvPicPr>
            <a:picLocks noChangeAspect="1"/>
          </p:cNvPicPr>
          <p:nvPr/>
        </p:nvPicPr>
        <p:blipFill>
          <a:blip r:embed="rId3"/>
          <a:srcRect/>
          <a:stretch/>
        </p:blipFill>
        <p:spPr>
          <a:xfrm>
            <a:off x="3626884" y="1733082"/>
            <a:ext cx="1890233" cy="2775910"/>
          </a:xfrm>
          <a:prstGeom prst="rect">
            <a:avLst/>
          </a:prstGeom>
        </p:spPr>
      </p:pic>
      <p:sp>
        <p:nvSpPr>
          <p:cNvPr id="3" name="Text 0"/>
          <p:cNvSpPr/>
          <p:nvPr/>
        </p:nvSpPr>
        <p:spPr>
          <a:xfrm>
            <a:off x="496186" y="634385"/>
            <a:ext cx="8151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Phase 4: Included - Data Extraction and Synthesis</a:t>
            </a:r>
            <a:endParaRPr lang="en-US" sz="2820" dirty="0"/>
          </a:p>
        </p:txBody>
      </p:sp>
      <p:sp>
        <p:nvSpPr>
          <p:cNvPr id="4" name="Text 1"/>
          <p:cNvSpPr/>
          <p:nvPr/>
        </p:nvSpPr>
        <p:spPr>
          <a:xfrm>
            <a:off x="637953" y="2173891"/>
            <a:ext cx="2634512" cy="221512"/>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Systematic Data Extraction</a:t>
            </a:r>
            <a:endParaRPr lang="en-US" sz="1410" dirty="0"/>
          </a:p>
        </p:txBody>
      </p:sp>
      <p:sp>
        <p:nvSpPr>
          <p:cNvPr id="5" name="Text 2"/>
          <p:cNvSpPr/>
          <p:nvPr/>
        </p:nvSpPr>
        <p:spPr>
          <a:xfrm>
            <a:off x="637953" y="2480438"/>
            <a:ext cx="2634512" cy="1587623"/>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Once studies are deemed eligible, relevant data are systematically extracted from each included article using pre-designed data extraction forms. This ensures consistency and captures all necessary information for answering the research question.</a:t>
            </a:r>
            <a:endParaRPr lang="en-US" sz="1105" dirty="0"/>
          </a:p>
        </p:txBody>
      </p:sp>
      <p:sp>
        <p:nvSpPr>
          <p:cNvPr id="6" name="Text 3"/>
          <p:cNvSpPr/>
          <p:nvPr/>
        </p:nvSpPr>
        <p:spPr>
          <a:xfrm>
            <a:off x="5871535" y="1949795"/>
            <a:ext cx="2634512"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Synthesizing Extracted Data and Reporting Findings</a:t>
            </a:r>
            <a:endParaRPr lang="en-US" sz="1410" dirty="0"/>
          </a:p>
        </p:txBody>
      </p:sp>
      <p:sp>
        <p:nvSpPr>
          <p:cNvPr id="7" name="Text 4"/>
          <p:cNvSpPr/>
          <p:nvPr/>
        </p:nvSpPr>
        <p:spPr>
          <a:xfrm>
            <a:off x="5871535" y="2477854"/>
            <a:ext cx="2634512" cy="1814426"/>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Data synthesis involves combining and interpreting the extracted data to answer the systematic review's research question. This can range from a qualitative synthesis (narrative summary) to a quantitative synthesis (meta-analysis), depending on the homogeneity and nature of the studies.</a:t>
            </a:r>
            <a:endParaRPr lang="en-US" sz="110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264" r="1264"/>
          <a:stretch/>
        </p:blipFill>
        <p:spPr>
          <a:xfrm>
            <a:off x="5715000" y="0"/>
            <a:ext cx="3429000" cy="5143500"/>
          </a:xfrm>
          <a:prstGeom prst="rect">
            <a:avLst/>
          </a:prstGeom>
        </p:spPr>
      </p:pic>
      <p:sp>
        <p:nvSpPr>
          <p:cNvPr id="3" name="Text 0"/>
          <p:cNvSpPr/>
          <p:nvPr/>
        </p:nvSpPr>
        <p:spPr>
          <a:xfrm>
            <a:off x="496186" y="609280"/>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Application of PRISMA to Biomaterial Research</a:t>
            </a:r>
            <a:endParaRPr lang="en-US" sz="2820" dirty="0"/>
          </a:p>
        </p:txBody>
      </p:sp>
      <p:sp>
        <p:nvSpPr>
          <p:cNvPr id="4" name="Text 1"/>
          <p:cNvSpPr/>
          <p:nvPr/>
        </p:nvSpPr>
        <p:spPr>
          <a:xfrm>
            <a:off x="496186" y="1707978"/>
            <a:ext cx="4722628" cy="221512"/>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Evidence-Based Assessment of Biomaterials</a:t>
            </a:r>
            <a:endParaRPr lang="en-US" sz="1410" dirty="0"/>
          </a:p>
        </p:txBody>
      </p:sp>
      <p:sp>
        <p:nvSpPr>
          <p:cNvPr id="5" name="Text 2"/>
          <p:cNvSpPr/>
          <p:nvPr/>
        </p:nvSpPr>
        <p:spPr>
          <a:xfrm>
            <a:off x="496186" y="2014525"/>
            <a:ext cx="4722628" cy="90721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Systematic reviews provide robust evidence on the efficacy, safety, and performance of biomaterials in various clinical applications. They can identify gaps in current research, assess existing technologies, and inform future material development.</a:t>
            </a:r>
            <a:endParaRPr lang="en-US" sz="1105" dirty="0"/>
          </a:p>
        </p:txBody>
      </p:sp>
      <p:sp>
        <p:nvSpPr>
          <p:cNvPr id="6" name="Text 3"/>
          <p:cNvSpPr/>
          <p:nvPr/>
        </p:nvSpPr>
        <p:spPr>
          <a:xfrm>
            <a:off x="496186" y="3098948"/>
            <a:ext cx="4722628"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Enhancing Transparency and Reproducibility in Biomaterial Research</a:t>
            </a:r>
            <a:endParaRPr lang="en-US" sz="1410" dirty="0"/>
          </a:p>
        </p:txBody>
      </p:sp>
      <p:sp>
        <p:nvSpPr>
          <p:cNvPr id="7" name="Text 4"/>
          <p:cNvSpPr/>
          <p:nvPr/>
        </p:nvSpPr>
        <p:spPr>
          <a:xfrm>
            <a:off x="496186" y="3627007"/>
            <a:ext cx="4722628" cy="90721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Applying PRISMA ensures transparency and reproducibility in reviews of biomaterial research, enhancing the reliability of conclusions regarding material properties, biological interactions, and clinical outcomes. This aids in standardizing reporting across the field.</a:t>
            </a:r>
            <a:endParaRPr lang="en-US" sz="110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fQAAAH0CAYAAADL1t+KAAAQAElEQVR4AeydB3wUx9n/n9ndazrdqQMChOiIroLpKoB7ie0k2MJOcRInNshx3tgGp71v+KcbHCdxEBjXxBXbcWLH3UaFXoxEB9FUUEUF3anrys5/5qRdnUCAuq48+9nZZ2Z2d8p37+53M7M7KwAuSAAJIAEkgASQgNcTQEH3+kuIFfAlAvftsITct806KTWjbmFqZt3XUjNrv78i07JmRYblj6kZ1ldSM2o/XJFZm52aadnD4g+syKg9nJphOcHCZ5i/kO0vZf5Ktq/2/sxqyuxlbn1ueu263PRK5kqZv5C5M8x/Yn3OxsPMHViXs3HPutyN2cx+yMIvs31/XJeTvmZd7qbvr89Jv2N97oYF6w4+N+mPRzaG+BJ7rAsS8HYCAyvo3k4Hy48E+pHAvVvrJq/YarmBifODTJT/H3P/ZIKbwewxFneB+Sm1w0XqpKcJkXcRkD8gQF5iRXgKCPyMEPoAIeR2AJJMAOYDQAIQMosQmMrCE5k/mhAykvkj2L5gGSRmulpJMAESwdxIABLN3ETmnwoEZjGXQAjMJwDJzN7Owt8jQFje5CkC9CUg5L8Awm5C5dOSAy6uz91I1+WmVzB3bH3Oxoz1uRv/wUR/7frc9B8w//Vc+AEXJIAEBoUACvqgYMZM/IHA8sy6KfdlWm9dkWH98YoMy9Os5fwuay3vYf4KLtaCIJ8CAb4AAi8AkP9j7jsAsBSATGdxw8BLFwJkOHO8Dqwu8F0g5NcA5EUA+JILPxN2ui4nvZyJ/O51uRvfWZ+zcT0T/Ueezt14Cwo+o4QrEugnAt4s6P2EAJNBAj0j8O3PqXFFVt3i1CxrGhPs55lg7+aCLYGcR4F+DIQ+CwQeZy3cbxLekiYwvAc5NLAvZYlWJCeMGnIgXCfuHG2Utk0O1mZfF67bsWyUYd+tUQGH7ow2Hr17nPHE8nHG0/dOMJ27f4Kp6DuTTCXfnWSq+P4Uc/WDMWbrg1MC4JHpQS7nnv/XZl1vvW3msupbpi+puHlacskNU5OKlsUsPrdk8sJTSZPmn1g8cd7RBePnHIofM2Pf1BETdkSFjMweZgrbZjKYduk1ugMaQTxBCClhaTYy162VHT8CgCxgPJYzNk8AIX+nAJ+0CX56PRP9XUzsNzKhf+ipnI3znyl+xgC4IAEk0CMC7LejR8fjwUjArwgs32YZtyKr9i4m3r9OzbD8m4n3ObvGWg9U3kEo3cAE6odAYEF3oAiEVOhEOBqiE3ZHm6Ts2DDd9utHBhz4xnhjHhPj8odjglqYAAeumh40+kcx5mnfm2yekzoxcPFdY43JN44ypMwbrk+cGqydN96siY0KlGaOCpCmDQ+QJkfohQkheiHarBVGm7TCiACJhOtFEqSXNF0WSyNq2T5deIDWMMKoM4426wOjgw3mCaHG4CkRgaHThpvCZo4MGhY7LmzMvGmRUxLnjo1NSZw4L/nGmMRFt81YNudrs2+a9vXYW0Z/I+5W412zb265aVpKWcrkhXlzomO/mjR8/PYR5mHZgXrjbkkUjzEhvwDXXEggO2QhY7kSCHlOILDHWaVvZAJ/en1u+rvrcjf+ign9HX86sHkMOw5XJIAErkAABf0KYADj/Y7A8t3UkJpVm5KaafkFa3F/zNxFyQn5QMl/mHivJQTuBgLjmfCwtUs89XpJOMxb1RPMUvbcCN3OW6ICcu+fZCp6hLWUV00zj/hhTNDM+yeaFt4xxpiyeIQ+KSZEMyfSIMUwMY6URNB3maoHR4qCoA/UBYwMMwbHRIeOvG7WyJikRRPmpNw0NXnhnbNumsGEfzgTfuC9APPGxeVOHTFpx6jgEdlBetNOrag5wqrWwFxXK8MNkwDINxns3wIbuxcFZxHrrq9iAv/Bupz0NU8fSl/87JlndYALEkACLgIo6C4MuPFHAqk7G0emZlnuXZFR+1cm4l9JLdYmQkkWE5DfMx63MhfCXJerIMD5IK2wd6JZm827wVkLu4SJtunBKabZvFV9S5QxZe4w/eIJZk18iFaI7jIRP4o0s16A0cGR8dMiJyXOHxefcv3UxMV3zLphFhN7IxP/83GjZ+4dFRyZrdca9hMi8O78rukQCGfX52uEkKeoTHa01kst63PTd69n4/Lrcjd94w+5z0Z0fSLGIgHfJ4CCPjTXGHMdAgL3ZjbMXpFh/TET7y2pmbXnic1eSihsAUJ+wkRizhWK1KoVyIkInbiDdZFvuz064MgPY8x1q6YGjfn2JNP8m6MMKbwbnLWwR1/hfIy+OgESqDeOGR8RNX/+uLiU26Yvmfv12JtHf42N8y8Yn3BoQkT0tqAA005REPNYMnbmuljJAiDwBAH6Lw1IletyN55mAv/autxNK5/KSZ/axQkYhQR8kgAKuk9eVqyUQoDfdc7GvjdxARfAcYjfsMbE+14CJEo5xt0SgMognbBnZph2293jjCcenhYk/miqedq9EwMTWRd58thAzSydSMzu56C//wnwcf6RQcNjY0dPT75+SuLiu2bfFHNn7E00aeLcY+PDo7YFaA37CCEXu8qZXcNJTOC/xQR+o0DIiXU5G8+uz03/2/rcjdd3dTzGIQFfIYCC7itX0r0efuz/1vbGSCbgD6dm1H7IRLyJ33VOCDxMuhZwKgnk9PAAcfvC4fpd35poKk6bHjTs2xNNC5JHGJJHBUjTJAJXepjbjykPTdUlImojTOEz4qJmJt8yfcm8r8feEnr91KTCqZGTdgYHmHcIAsnvqmTs+k8AII8CwJdM3OuYuL/HWvDfe/rA5nAWhysS8BkCKOg+cyn9tCKUkhXZdQtWZFh+xwT8kNNhL2M/4JsIIbczEb/s0Se9QA6NN0vZN0QFHPjRVHPDw1PNk5ePC0yKD9ctCtYJXbba/ZSsV1Q7SB84dtqISYuXTVmcePfsW8bzrvqEMTP3R5ojsiVROnppJQgBEwD5OmvBv0wFJ++e38cE/n//fGhTHOCCBLycAAq6l1/AISi+R2R5b1bd7SsyLS+vyLRWgSzvZj/Qv2QCPvvSwgkECiMDxW3XjwrYzwX8wanm2FujjClTzJo5bGyc/bhfegaGvZmARtQGjQ2LmrtwwnUpd866ceYds26wsm77vSEBwTvY56PikroxfYe5AOQ3skxzWZd8CWvBb2AWu+YBF28kgILujVfND8v8QBbVr8i0fCM10/LGioxaq0DlDxmG7zEhD2PWfW00aYR98WG67fdPMp1fNS1o7DeiA5NjgjVzmYAHuh+Ift8noBU1QRMioucvnbIw8etxt4zgE+iMD4/eptfoDrDatzDnvo5iCp/GIljXfHr1utz0l9Yd3HDr5gObu36gnx2IKxLwJAIo6J50NbAsAG4MlmfRwNQsy71sTPzfLdTCb4D6FwG4DwhxvymNakRycqxJyr4tKuAQE3Dtdyeb5i0coU8K0Qo4EYkbT/QC8Al04qKmJ/MJcu6afTNcNy42Z5gpbJtAhHPufAghYQTI9wkVPrYSZw0T9zfXH9xw59qCV/Tux6EfCXgSARR0T7oaWBbgbxtjLfDvsfHwj0TZWk0obCEE7mY/rp3Gw7mITw3WbvvOJFPFQzHmqbePMaaMM2tiWRc7tqbwc9QtAqIg6McEj0zgs+DdHXvzhBumJheNDhmZLRCxwD0B9vkzsc/fCqDC+8bapmo25v7uupz0e9cfftXofhz6kcBQE0BBH+orgPkD8BvbtlpuYC3xd6kdLgAhL7Mf0NvYD6nOHQ/7sBZNNEvZqeNNBVzEl40yJJu1QqT7Mdfw424kcEUCZr0xet7Y2JS7Y28alzJ5wakRpohsQkgZdFoIE3HyTRa/BRz1VUzYX1mfu2FBp0MwgASGiAD7jRyinDFbvydw9676YWxM/BepWdZzIMAXhMA3GZROLWyBkAr+cpK7xxpPrpoeFH1zlDEl3CCMY8fhigQGjECYMWTKoonXpXw99pbIhePnHA41Bm9nmdUy17ESYiCEPAAg8Jnqjq7L3fjjPx3YHNRxAPqQwOASQEEfXN6YG2+NZ1lvZq3xf+tanaUE4PfMXSrQlgi9uONWNia+cqp5GH85ySijNNXj4WEBfZEAiQwaNnvJ5IVJd8XeZOIvoDHpjLtYRRuZ61gJzGCf42cF4qxYn7vx1XUHNy3q2Ik+JDA4BFDQB4ez3+eyPKthRGqm9X9XZFoKWBf7p4QAGxcHyQ2MM1AiXyVFGvaujAkKuHdCYOJ4NibOjsPPqBsk9A4dAZGIEn8BzY3TkhfdOfsmMj1y8k6tqD3kXiL2eeU3zX2bULqTCfvxdQfTf/KXg38Jdj8G/UhgoAjgj+VAkcV0XQRW8LHxTMt7EnWUE6C/AUI6vaiEfQCLpoVosx+YYq5m7rpZodr5oghawOVSAhj2IAKSIAbEjJi4+I5Z18fyl8tEBo/IJkDKLyniNELJXx1UV8vE/dU/4+Q1l+DBYH8TYL+n/Z0kpocEAFZkWFesyKg97BobB/j6JUwaInTijjuijUf5uPjSkYaUQIkMv+QYDCIBryAQqDeOWTguPuXuuJuH88fgWHg3K7iNOff123zymnU5G7evy9l0u/sO9COB/iKAgt5fJDEdcD03nmF5YkVmbTEQ+iZrjc9yx8KnXZ0/XLfzoRizwF92Eh0ozXTfj/4hJIBZ95kAa6EL/DE41mJfeMesG5omDx+7XRKlk+4Jsy75RELoh+tz0k+uO7jxwbXH3sHeKHdA6O8TART0PuHDkzmB1J2NI1dkWJ6WZEsp+8FaD0BGQ/tCAJpGG6VtfNY2Pu3qnHD9Yo1IAtp3o0ECPklAK2qCZ46clnTnrBunLpm88HRwgHlHp4oSEkMovBBgqzq/Lnfjr/54ZGNIp/0YQAK9IICC3gtoeEobgeXbGmay1vjrYLMXAYHHgRBz2x4AJuTVk4O12d+fYrbxu9Rx1jbw58Wv6x5qDJ7MXx5z6/Ql5fzZdgajgTnXSoAMJwC/Fe1Qsj43/e9P527odI+J6yDcIIFuEkBB7yYoPKyDQGpWbcqKTEuG5HQcASD3sx8k9W51QYDzc8J1Ox6KCQq8cZQhxSARvMMXcEECAAatIZI/2/61WTfI48KjsgkhlQoXQoD1WpFHKAiF63LT3/zTkb/jcJQCB223CaCgdxsVHnhvlnU+61rPJJRkMRpLmVNXrUBOpIwy7FsZEzR6/nB9oiQCf3xH3Y8eJDBgBLwsYY2oMcdHzUz52uwbg6dGTtopEKHAvQoEyArRIR5el7vxnacOb5zivg/9SOBqBFDQr0YH97kIpG6rjWMt8s8ESvewvvQlrsi2DeVvNvtatPHIj6aap80I1s5jLQ38TLWxwS0SuCoBiYjaaSMmLb479uaxc6JnfaWVtIfdTmBfJVhOnPTE+pyNrz2Tkz7RbR96kUCXBPDHt0ssGMkJLOdj5Bm1/yVOksvCNzGnrqFaYdeKCaYC/mazMYFSp7vZ1YPQgwS8n8Bg1IBEh46+7o6Z189OmjT3uF6jhBeKdAAAEABJREFUO6BkylrrAvsT/S0nkDzWFf/Snw5sxjcIKnDQXkZAuCwGI/yewPLMuimsRf4v0ek4DITc4Q6Et8iXjzOevm+SaVGYXhjvvg/9SAAJ9I1ARGD4dP5q10XjE45IonhMTY2AyMT9+yJxnmVd8ZueObRpFOCCBC4hgIJ+CRB/Di7Psk5kY+RvSlQ+wTh8gwCwFVxLgERy7o42Huct8uEB0mRXJG6QABLoG4ErnD0iaPisO2fdNGNO9OwDoiCeUQ8joGFfyoedsnxuXU76X9cf3jRM3YcevyeAgu73HwGA5butoamZtRtESk8yCV/BnPq50Ahw7PbogCPfn2JOGBUoTUdcSAAJDB6B6NBRc+6afdPE2NHT9wqdbp4jOkLIT8Ap57MW+6/WFryCN6EO3mXx2JzUH26PLSEWbMAILH+HiqmZ1kelFnqWAEkj0PGyFA0heTdEBRx4aGrQjLGBGhwjH7CrgAkjgWsSIBMiouffFXtT9PSRU3YRIMUdZxAjAfitsbYpb93Bjcs74l0+3PgZAcHP6ovVbSfAutaXSuHWYwTo31hUCHOuVSJwLjnSsPehaeaYKWbNHFckbpAAEhhyAgSIEDN8wqKvx90SNXXEhB0sXNFRKBJNKLzDWus71+dsxD/gHWD8yoeC7leXG+C+bdZJrHv9I9atnsGqHsOcayUA1fERuu0/nBo0dmaodr4rEjdIAAl4JIFpkVMSvzb7RvPokMhsVkD13ezse7yIEnqQCfsLTx/YHM72DdyKKXscARR0j7skA1Ogr+2kJta9/gx10uMEyG1uubSMN0nZP5xq1i0cpk8SCYiACxJAAh5PQBLEgHlj41JunbGsoX2ueJkXmn2/BQLwICWOc+sOpj+x+cBmDY9H5/sEUNB9/xpDaoblYaPNms+613/Kqqt8uWm4Ttz5nUmm2lvHGFO0AjGxfbgiASTgZQQMGt1wPlf8spjFBVpRc0gtPiFmQsl6K3GefDon/etqvHd4sJS9IICC3gto3nLKvVn1M1ZkWg4SAptYmcOZc61aEY4sn2A8mzoxcLFZK0S6InGDBJCAVxMINpgn3DHrhlj+qJtAhHNKZdj3fwIl5D02tv7RumPpI5R4tL5HAAXd964p3PIJ1aVmWv5AqPMgq14sc66V9cMVLRlp2P+jmKBZw/XSJFckbpAAEvApAu2Puo2dPHzCdgKkWq0cgdtIK5x6Onfjw5RSosb7o8dH64yC7mMXNjXTOi9YZz3Bvq0/Z05qr179zDDdtlXTgqKnh2jntsehQQJIwEcJEELEmSOnJH1t9o0BI8zD+I1zbTVl3fAUYNP63E27cX74NiS+tEVB95GryW96Y93rzwFQ/gIVdUpWPsPbA1PMTckj9Mk+UlWsBhJAAt0kwG+cWzRhTsrSyQvOiIJ0WjmNEJjvJHBs/cGNP3+HvoM3wipg+scOWSoo6EOGvv8yvi/TeqvRZjnFUnyItcrZynwAloXD9bv4DG+BEhnuisENEkACfkkgxBgy6Y5Zy8ZHh47mrXVbGwSiAwp/KMytOvjn3Odmt8Xh1psJoKB78dW7e1f9sNQMyzsU6McARL25LUQn7P7+ZLM9Ply3CHBBAkgACTACIhGlOdGzUq6fmlSmEUT+vgYWC0AImSmDfGhdbvrTzxQ/YwBcPJvAVUqHgn4VOJ68KzXD+m19i+MMIdAx3SOBqutHBnx1/0TTwgANifDk8mPZkAASGBoCQfrAsXfMvjFmQsTYbawEzcy5VgLkcUelPu/pQ+mLXRG48ToCKOhedsm+/Tk1pmZa3iOEvsr+WpuV4ofrxR0PTjFrY0I01ylxaJEAEkACXRFg4i3Ejp6WfPO05BqtJB1WjmENhDGyDNvW5W78LY6tK1S8x/aDoHtPZb29pKlZljkOyXKcAKiTRBAg5bdEBRxMnRCYqBdJkLfXEcuPBJDA4BEw6oyj75h54+ypIybtYOPp9Txn9psiEIBfFeZW73w6d0M0j0PnHQRQ0L3gOrneipZRuxZk2Mta5eoXLEIn7vjhVJNpglkT5wXVwCIiASTgoQSmRU5KvHXGkgatpHVvrc+nQI7hW9w89KJ1USyPF/QuyuxXUak7G0eKYdY9hJBfE6LOs35x6UjD/nsnBiZqBRIIuCABJIAE+kjAoDVE3jHz+lnjw6P42LpyJ3wgofDO+pyNr6UfS8ffmj4yHujTUdAHmnAf0mdd7PcSmy2PCbk6Lh4gkgPfn2x2TsMJYvpAFk9FAkjgCgRIXNTM5GUxi4vdn1sHAt9qssGx9Yc3zLvCeRjtAQT8XNA94Ap0UYTlWTQwNaP2VfbPeAtA20tT2JhWU3yEbvv3Y8xz8A52wAUJIIEBJMDnhb991rKxw0xhvLVO27Ii0dRBdq7L3firtXQtakcbFI/a4kXxqMsBcF+mJUGULccJId9WiqYhJO++SaZq/npTJQ4tEkACSGAgCUhE1CZOnJe8cHzCEQKknOfFfpckAvDbgNxh2fiiF07EsxwK+gBej54mfW+GZaVMYRf70oxpP9c50Sxl/2CqeWKIVlDi2nehQQJIAAkMPIHIoOGz75i1LMCkM+1SciMEEsEGR57O3ZCkxKEdegIo6EN/DeCBLKpPzbS8IRDYyL4oOl4kdmFK7hpjPHVzlDGF/SVWXrLCd6FDAkgACQwqAY2oDbpxWuKiWaOm7WEZ1zHHhtVJBKVC5vqDG3/Ow+iGngDTjaEvhD+XYHmWdWKLbM1l3Vj3KRwMIjnIxspNo03SNCXucosxSAAJIIHBJTBp2NgFN0xNrhUIKXLlTEAECn9Yn7vxk2fPPKtOdAW4DAkBFPQhwd6W6YqMujskWT5ECExtiwGINknZ359ino2TxChE0CIBJOBJBMx6Y/TtM68P0Wt0B9zKdUtLnXR0/eFNM9zi0DvIBFDQBxm4kl1qZu3fgMj/BUKM7XGtyZGGvXeMMaYwgR/y69JeJjRIAAkggcsIaESN+bYZyxIig0fwt7e59rPfrTHgpEfX56Q/5IrAzaATQOEYZOQrtjYMX5Fh2UeAPKpkzfzl3xhvLJwZqp2vxKFFAkgACXg4AbJwXHxKwpjZ+1k51Ze8sEbKc6wL/o21x97RsnhcB5EACvogwr4noz4JBMcxIDBXyVYvCYe/P8WkizRIU5Q437dYQySABHyFwNiwUXOXxiwsJUQocavTfcbW6pw/Htw01i0OvQNMAAV9gAEryadmWu8TwJnJwuHMudZRRnHbA5NN0w0SCXVF4AYJIAEk4IUEQgzBE++YudTk/uY2IDBDojTn6ZyNCV5YJa8sMgr6IFy21AzrrwjQN9gYk9ienW3eMP2uu8cGJksE8JG0dij9ZTAdJIAEBp8Af7Tt9hk3zAg3hfPZ5ZQChMoAO9flpN+sRKAdOAIo6APHFoBSkpppeYkQ+lslGwJQ87UxxjPXRegWKXFokQASQAK+QIAQIiZPnJs8PXLyTqU+hIAeCHy8Pmfj95Q4tANDAAV9YLjCLZ9QXWqm9WMm4N9XshAFKLh/oqlljEmarsSh9TYCWF4kgASuRSBmxMTFC8YnHAIK9fxYAkRgov7y+tz03/AwuoEhIAxMsv6d6vLd1tAgnXUHIXCLQkIrwLHvTzGHBuuEUUocWiSABJCArxIYGTQ8dunUhReYmLvmgW+rJ/nfdbnp/2zz47a/CaCg9zPR+7ZaxostdD8T8+uUpM0aYe8PJgdN1gkkSIlDiwS6IoBxSMCXCPCb5W6ZsUQUBSlPqRcT+O+sz9345TPFzxiUOLT9QwAFvX84ulLhb0qTCXxFACa4IthmvEnK/vZk0zxRBHwmE3BBAkjA3wgYNPpht89cNobZr9zqfr2jSrf76QOb1ad+3Paht5cEUNB7Ce7S0+7LtN4qU7qdtcyVR9Cc84frdt7KZ34DNnoEuCCBoSaA+SOBoSEgCWIAa6knhBqDtislIEBiZcH51TM56ROVOLR9I4CC3jd+rrNTsyzflIF+QAgJcEUANNwSFXBkTrh+cXsYDRJAAkjArwkwAReWTF6UNC48ik8XSzkMAjDWAbD3qZx09X0WPB5d7wigoPeOm3rWioza7wGFd9gH0/U8uUBI+b3jTRcmmDVx6kHoQQJ+QACriAS6QyA+amZK/JgZfLrYVn48awiFCQR2rzu8IZ6H0fWeAAp679lBaoblYSDkZSbmbAVgm6LvTDYJEQZBHUMHXJAAEkACSKATgXFhY+YtHD+H3yhX17aDBBMn2b7+8IZ5bWHc9oYACnpvqLFzUjOt/0sIbGJe1yoJ5PT3p5hNgRIZ7orADRJAAv1IAJPyNQKRQcNmL5m8sIIQcrGtbsQIDpK1PmfT0rYwbntKAAW9p8TY8SsyrH8hQNUJErQiHPn+FFMkzsnO4OCKBJAAEugmgVBj8ORlMYl1BEiF6xRCDAD0s3U4VawLR083KOg9JJaaadkIhP6PclqARHK+NyloilYgJiUOLRJAAt5FAEs7dASC9IFjb5yW7GSiXuwqBQENsx8+nZv+TWZx7QEBFPQewFqRWfs6AVipnMInjPnOZPNsjQg6wAUJIAEkgAR6RSBQFzDq1plL9SIRz/IEWDe8RIG8s/7gxvt4GF33CKCgd4PT8neomJpheQeA3A/tS7hO3MknjJEIvi2tHQkaJIAEuiSAkd0hoJd0EbfNXBIhiuLJ9uPZyCa8/nTuxofbw2iuQQAF/RqA1lIqiOGWfxMCy5VDI43ittSJgYtZa52tSixaJIAEkAAS6AsBjagNum3G0jFaSTrcng6hAJvW5WxMaw+juQoBFPSrwOGvP83LtL5NgHxNOWxqsDb7G2MDk5UwWiSABJDAUBLwtbw1gsZ464xlMe5TxbIG1YZ1Bzc+6Gt17e/6oKBfheiKLMtr7IOk3pjBxHzbslGGlKucgruQABJAAkigjwTYWLrupunJcQaNTp3/nTXVn1+fs/FbfUzap09HQb/C5U3NtLwEbmPmE8zabCbm2DIHXJAAEvAfAkNXUybq0o3TU2brJE1ueykIJfSf6w9tuKc9jOYSAijolwDhwdTM2g0E4Pvcz92YQCn7lihsmXMW6JAAEkACg0VAIqL2lunLpkmieIznSYAIIAtvP52T/nUeRteZAAp6Zx7QNmkMUW/AGBYgbv9atBG72S/hhEEkgASQQF8JdOd8URD0t81YNlbsuPsdZIC3n87deEt3zvenY1DQ3a42a5n/xn3SmHCdsHP5uMBEt0PQiwSQABJAAoNMQBKkwFunLx0pCuJpnjUhRGKi/v5TuRuW8TC6NgIo6G0c4N4s609Yd87/tgchWCfsvneCaSEB/s4VwAUJIAEkgASGkIBW1ATdMmNphEBIIS8GAdASKny0LmfjFRpd/Cj/cijo7HqzbvYfC5T+lXldq1EiX62YYJpHCCAfwAUJIAEk4BkEdKIm5ObpSw0EiGuaWPYbrSdAP3/q0Ka5nlHCoS2F3wvWiqzauyihf1Mug0Ekud+ZaK/bQWEAABAASURBVJ4tEhABFySABJAAEvAoAgaNbviN05JF1nda5ioYIQbBST9+OndDtCs8SBtPzMavBT010zqPyuRtAuyjAQBaEY78IMYcL4qgBVyQABJAAkjAIwkE6gJG3hCTZGeFq2EO2C94uAzCl385+Jdg8OPFbwV9+Y6mMayr5lPWZeMSbwai8NsTzWP8+LOAVUcCSAAJeA0Bsz4wOmnS/AuswK3MMU2HSQ6q/WTtsXdcv+k8zntd70rOdKx3J3rzWfftsISIdlsGq0MIc3y13DfRJBkk4tf/7jgIdEgACSABbyEQERg6LXb09IOsvJQ5tpIFAbbq15nHL1e/E/QfHaAa2Q6fEICJ7Ve89c5oY3GwThjdHkaDBJAAEkACXkJgQkT0/OjQ0duU4rLf9uXrczf+QQn7k+2uoPsMkzorf9kKzFcqlBRpOBgVKM1UwmiRABJAAkjAuwjMiZ6VYtIZd7mV+ufrDqY/4Bb2C69fCfqKTMs6NmZ+t3JlJ5u12bNCtaq4K/FokQASQAJIwLsILJu6eK5W1BxSSk1k8iJrqV+vhP3BeoagDwLp1AzLD1k2q5lzraFaYdeNOD+7iwVukAASQALeTkAkoubm6SnjBUIKXXUh/NFj+v6fjvzdb3pg/ULQV2y13MBa5s9D+6IXyaHUiSaciKCdBxokgASQgC8Q0Iga8/VTkyRWl7bH2YAYRYf46V+PvjCcxfn86vOCnrqtKYoS+q5yJVmFC789ycT+xYFGiUOLBJAAEkACvkGAjaWPdn+cjdVqlN1u+8879B2R+X16Zfrmu/VbfoxqiaP1Y0JIEK8lIVB730STqBOJmYfRIQEkgASQgO8R4I+zxY2eprxHnVWQLCg8VLWeeXx69WlBFyutrwAhM9uvoHzr6IDzwTohqj3cPwZTQQJIAAkgAY8jMD5i7IIRpohspWCEkp+uy930DSXsi9ZnBf3eTMuPCMB9ykWbFqLdPs6sma2E0SIBJIAEkIBvE1g4cU6SVtIeVmpJqPza0wc2xyhhX7M+Keip22rjWMU2KBfLrBH2Lh1pSFHCXmSxqEgACSABJNBLAgSIcOO05DHMVriSIMRABceHzxQ/Y3CFfWzDdM+3asSndQUHfMRq5brpjVUwf8WEwFksjCsSQAJIAAn4GQH+ytXkSfNqWbVdc74DkInOKt2r4IML0zsfqhWlhNro+4SQke21algxySRqRBLQHkbjTgD9SAAJIAE/IBAWGDp1xqipBzqqSr65Lif9px1h3/D5lKCvyLT+FghJUi7N9SMDToZohWgljBYJIAEkgAT8k8CUYeMWhRqDtrvVft1TORt9aqZQnxH01EzLMiDwS+VijTdL2TEhmuuUMNpBJ4AZIgEkgAQ8ikDSpPkLJFE6yQvFenIlQuj76w9vGsbDvuB8QtBXbG0YTgDUyWMMIsm9JcqY7AsXCOuABJAAEkAC/UNAJKLmhpjEEJZaFXOsDUiGUyd9h/t9wfmEoAOx8wvCLxKwCpXcP8k0gQk8W33hEmEduiSAkUgACSCBXhAI0BpGLBifUKqcyoQieX3ORvU9H0q8N1qmf95Y7I4yr8iw/Aw6xs3lu8cbG/Qicc0M13EU+pAAEkACSAAJtBEYGTQ8dlRwpDrpDAX6B9b1PqNtr/duvVrQ782wxAOBPyr4J5ql7ZEGyWcnDVDqiXbACWAGSAAJ+DiBeeNik0RRVMfTqYP+a23BK3pvrrbXCvodB2gAIfAvBb6GkLybRhuTlDBaJIAEkAASQAJXIkCACEsnL+aPNLfwYwiBKQG1zX/hfm91XivogVbr3wjAuHbwjfdOCDSyC+K19WmvBxp/IIB1RAJIwCMImPXG6Jjh479SCsM05eF1OZtuV8LeZr1SAO/LtN4KBB5UYF8XrsvFl64oNNAiASSABJBAdwlMHxmTqNfoOiadIfTVpw9sDu/u+Z50nNcJ+oqtDcMp0NcViEYN2T9vuD5RCaNFAn5OAKuPBJBADwksi1k8lgCp5qcRgBCZON7gfm9zXifo7o+oMfA1qeNNk70NOpYXCSABJIAEPIeAXtKFXxc9u1ApESHkxvU5G/9HCXuL9SpBX5FpWQ0dj6jBjVEBRQaJBHsLbCwnEvB6AlgBJOCjBKJCR84JNQZ3TA1L4C9P5z43zZuq6zWCfl9GczSl8DsF7sgAcfsksyZeCaNFAkgACSABJNAXAkkT588VCClS0qBU9qq3snmNoFNoeZUQ0HLQAoHCr48LxEfUOAx0SMB3CGBNkMCQEhAFQb944txGtRAEEtbnbnpUDXu4R/Dw8rmKtyKj9nvuXe23Rxk7gLuOwA0SQAJIAAkggb4TiAgMmzbMFLatIyX5988c2jSqI+y5Po8X9OW7raEUQH3Yfzjrah9jkqZ7LlIsGRJAAh5JAAuFBLpJYOH4OXMJkOK2w0mg00lfavN79tbjBV1soX8nRJ2bverOaCOOm3v2ZwpLhwSQABLwagKiIBrmj0+oUStB4KZ1uZu+oYY91OPRgn5PluV6AnCfwu76UQEFWoEEKmG0SAAJIAEPIYDF8DECI4OGxQbpTTvValF5w/rDrxrVsAd6PFbQH8iiekGm/1CYBWmEvTHBmrlKGC0SQAJIAAkggYEkkDx53kzWQ3yR58HsCOpsWM/9nuo8VtBbqfU3DKByI4L17nGBEzwVIpYLCSABJDCgBDDxISGgEbVB00fGuN7IxgvAeowffipn43zu90TnkYK+fGv9NErhMQXYdeG6I4EaEqGE0SIBJIAEkAASGAwCU4aNW6TvmOudMFH/xzv0HXEw8u5pHh4p6CJxvs6ouYDpBOEwztXe08uKxyMBJIAEuk0AD7wGgZTJC3hvcTM/jGnTlMLc6ie539Ocxwn6ikzrKgYsrh2Ubfl4Y1i7Hw0SQAJIAAkggUEnYNQGRE6IiN6vZEwI/b8/H02PUsKeYj1K0Jd/SYMA6O8VOFOCtbuDdcJoJYwWCSABJIAEvIyAjxQ3dvT0ZEmU2sfTiU62wzOeVjWPEnRRtP6RAXK9bIUAKVs20rCIhXFFAkgACSABJDDkBBaOi3d2FIJ8c13OxsSO8ND7PEbQl2fWTWE4HmbOtS4dpS8WCGhcAdwgASSABJAAEricwKDGRJjCZ5h0xl1Kpmx4+Lm1dK3H6KjHFEQE50sEgK0AWhGOTA3WzgNckAASQAJIAAl4EIHFE+fyR6ib2os0zZgbsardP+TGIwT93ixrKgGidK87vzHWhLPBDflHAwuABJAAEvBzAl1UP0BrGBEVMlK9QY4S8pu/HPyLa6i4i8MHNWrIBX35bmoQqKzeXDDKKO4M0wvjB5UCZoYEkAASQAJIoJsEEqJnLiBEKOGHE4AQO9Xx+794cEjdkAu62Gz5BQCJhLbFckuUMbbNi1skgASQABJAAp5HQCSiLnZUTPvb2ACYqD/0VE76VOjZ0u9HD6mg35/VNBqArIb2JTZMd0Qvqm9Wa49FgwSQABJAAkjAswiMjxi7QCtqDrWXiggEnmv3D5kZUkGXZdvfCQEdr70AkL9ohN6jHgHg5UKHBJAAEkACSKArAosnzTOxeMocW0nSupz0e5lnyFamox15D6YvNbsukfVT3KXkeXu0sYF1W7BViUGLBJAAEkACSMBzCYQYzBOCjcHqK1YJkCF9G9uQCTo4nX9SLlOQVtg7JlCapYTRIgEkgASQABLwBgKLxydMAwr1rrISiFqXu2mlyz8Em0EU9I7ardhquYEQsrA9Rr5jjJFPfN8eRIMEkAASQAJIwDsI6CRd2OjQkTkdpZV/1eEfXN+QCDoloM7XHq4TdwfrBI+b5H5wLwPmhgSuTsDhhJaaFjk/r9Z+YGdFy/ZPihuz3y9s3PZuQcP2N8/U73rtTP3el0/V5TyfZz2y+URd3qaT1oLnT16ATSeqYcNxa6fE/3Po84L3D3+e9+GRL498dDQz57MTWXu35u3YlXV61/YdZ/dt212Qm32kLG/7+YulB6wtdQWdTsYAEkAClxFIGDNjDousYY6NJJOR6w6m/4T7B9sNuqDfm1V3OyFwnVLRm6MCohV/XyyeiwR8gUCTg1afq7MfzC5r3vb22YYdTKCPph+3Xnguz6p/61z9+K1lTXMO1bQm5dc5UkoaHckXmpxJF23yIqtNns/OTbA5YZad0hinDONssh6cVHMZFpk6xzllZ4zNaZ/V6mhJaGxtnm9trl90sdGaVFlfk1xuqUg5cyE/6auiw3O2ntw57r2Dn8C/D35awf8AZJzeveNQyfFtZdYLh1qd9trLEscIJOCHBCRBChwXHnVUqTqRya/WFryiV8KDZQdd0Iks/0ap3PAAcTu2zhUaaP2RQHmzIy+zrDn75dN1B1hLuoq1ssM/LW6KO1ZrS65qdSYygZ5JAYYPNRsKdAT/A2BptCSeqypK3pOfE/vRkS9DuNB/eizzq4PFR7fVNlvPDHU5MX8kMFQEZo+aPp8QUunKn0C48WLzj13+QdwMqqCnZtTeTQgo7zqHW6KM/IUsg1jd3maF5yGB/iFgaZVL9l1o2fHa2fo96Seste/lN8acqLWlNNkp77KLuHoutIRSuoOJ6z8B6G8ohdUyhVUEyHfZed8EQm6hgpDE4hIcIMQIRBtFNBD61tJgwt2s8DdDY8NejZJFiKGinMDOT2Lp3UKBfJOl+V1CaBpQWMPS/i0LvwqU7mS2jKV9xZXtH9Fkb7kuv7o4OTNv1yQm8NWfn9y2+0xl/q4WR0vVFU/EHUjAxwiIgqAfHx7d/npV9i0idHX6sfTAwazmoAo6IfBbpXKjjdK2QIkMV8JokYAvEmh10rqTFtu+f7Ox7o0nrIWvn60f/VV1a6K1VV7ABDWkqzqz+JMU4G0g8Csm1rdxceaC/NbSkKgty0KStiwNeYD5f71lWfDTby8L3vTm0qBX31oa/N5bS4I+25Ji3sHict9daj71xpKAkjcTg9Vu8Z/PWlX75OxHS56cverUmtmP5K5JWLVjTULaZ2viV763Jj7t1Sfi0jauTli1fnV82v+x8HdXJ6QlMjtqdfwqIlM6jVJyB/uZ+j9WtncphVNdlh1oeENL48IjpXmLPj6aGfGfQ5+d28bG5Ysulh5wyE7lhRZdnYpxSMDrCcwYNWUB+966/gSz725Ek50Mait90AQ9NctyLwCZDm1L442jAxR/W4wfb7HqvkWgziaXZZc1b3s+r/7IC3l15ozS5nllbKybtZzHXlpTJo7nWCv5NQCSRgDmMGEmTKinbVkanPrWkuDfM7H+hIszDPHyZELayTUJKz9aHZ/22zXxq+5Zk7AqZjUXeoHMY3V4lLXU32Iif/7SYspUnlDNxuUPsPH4Dw5/HvDR0a05R8tObG9xtFZfeiyGkYC3E5CIqI0ZPv6cUg/2nRjUVvqgCTrIoI6djzdJXwVIJFypNFok4O0Ealrkgi9Lm7M3n6w7+eqZ+pF8DNzmlC+fW4HSE+xL/jQT8a87JHEYE+6JW5aSLH/wAAAQAElEQVSFfOetpUEb31wa7Pboi3cQeTJ25X4m8H9fE592HxP5aKqlkZR14bOW/LPMnb20Fq0OW8LpC4VJHx/NCOM32R1iY+8NrU2llx6HYSTgrQSmjZiyEAhx/bllf9JDGm3kscGqy6AI+n2Z1u+w7vbJ7ZWyLhsdoI6jt8ehGTACmPBAEWh2UMuOipbtXMTfOlc/7pTFlmKX6aUvaLAwAf8XG5v+oYNIkW8tC5m+ZVnw6i3LQv7zbpLJ58aY18xIq+Bd+Kvj037C3CSnLEYzgV9FAf7LBL7B7VoQfpPdOTb2/vmJ7FEfHt16+ETFmZ122d7odgx6kYDXESCEiLNGTnF7cQtd/acDm4MGoyKDIuisO+4XSmUmB2sP6gQyKJVT8kSLBPqLgJOC81Sd/cBrZ+r3vHSqLuBwTWuS/XIRr2UC9rKTwA2sCz1ky7Lg5W8tC37x3SWBFf1VDm9J52dzHjrPBH7TmvhVdzKBN8kAd7Lfg7eYuHcSbpvDNvtk+ZnF/z38Jd16asfOCuuFI95SRywnEriUwMRh4xYIAslviyeBguAclLH0ARf0FRl1d7BKTWEOWEvFmhKp53fz8iA6HyDgT1XYXdmy/bkT1rIvi5vmWG3yAlZ3LXOulYlUg5uIh25ZGvyDd5YEb3XtxI1K4Mn4Vf9dw7rnmbgHcnFnO7aw34UWZpU10NpUv3hXfs6s9w9/fvpMVeEeZQdaJOAtBAgQYXrkFPUPPKEwKBPNDLigAzifUC7CWLN0UCuQQb2NX8kbLRLoDQE+Q9vOipZtfHKX3KrWJCbanWY1ZOFzQOBhjT14BIp4zwhzcV8dv2qFI0AezUT9l0Ch3D0Fp+ycfKTkxIL/HPqsIO/CuV2UUqf7fvQjAU8mMGnYuPlM2Ns+0wTC1x3c+OBAl3dABf2+TEsCEJKkVCJlhCFG8aNFAtcmMHRHcCHnE75szrM2HKppTWbC3fkRSwpZrHTfZCI+8a0lwZtfu4l06kJm+3DtJoFfTH2kZk3Cqj+sTlg1kv0Afof1dhxyP1Wm8rjjZacWMWEvO1F+Zqf7PvQjAU8lwD7Lwrjw0afV8lE+x4MaGhDPgAq6TOFnSqnD9MIuk1YYoYTRIgFPJGB30qaM0uZtm09Zm/mEL0zI3Z/GsLOx31cdsjidjYkvZePj73liHby5TE/Er3yNdcnHEYEmMtYfMHFnPfNtNWL+qJMVZxb/++CnxVzYndTpaNuDWyTgmQRmjJoaD+1vYiMAk9bnpN8xkCUdMEG/L6M5mlXg60rhl0YarjELlnIkWiQwOATcc7E5aSNvkT9/qq71pMWWzLqA3Sd9qWVfyj85iDTmraUh3333etMJ93PR3/8EnohN27k6Pu0uSSKT2J+qTUBps5KLIuwfHPqiHIVdoYLWEwloBMk0zByWq5aNgDoErcb1o2fABF2GlieAgCt9g0RyhwdIymNrgAsS8BQCTLjlfVUtO17Iq2trkVPoEHIKNTLQxxvMQaNZi/zn/niX+lBfp8dmrcpfE79qlT2A8nsX/tiVsP/38BclhTXF+4e6rJg/EuiKQPyYmVz72nuaSNJTuc8N2I3hLsHtqhB9ibsrqzYYCPxASWPRMEN7ZZQYtEhg6Amcb3Ac2XzSWvBVZWsiawWqXetM5C+y0v2iIShozNtLQ575cA5pYuEernh4fxLg4+yr41f9glBpDFB42l3YZUrH5pw/OvfDI18eqm22XDaZTX+WA9NCAj0lYNQGRJr1gXuV8wTqXK34+9sOiKDrZeERAsTACysROBcTohmwfyQ8D3RIoCcEalvkoldO1X3136LGWQ4KE5RzKaVWSsn/OoWg6LeWBv8RhVwh4zn2iTkPVa9OWLVaotIE9ifsOfeS2Zz22My83RMzT+3e0eporXHfh34kMJQEYqOmB6v5E3LPHw9uumwaaHV/HzwDIugEqPoQfVyYzjVRfR/KiKcigX4hIFOwf1HanP3GufrIRge9zi3RFuZf7zQI47csC/rdu0uI+4xmbJfnrf5eop/OeaicdcWvbJuJjr7szqO2yZL48dEMMa/i7E73ePQjgaEiEBEYNk0jadTJkkRZ/p+BKEu/C3pqhuWHrLt9mKuwBKrmhOvnufy4QQJDSKC0yXHi+ZPW86ctthRWDGVCGDul8FyLTuQt8jXvLgy6yPbh6kUE2maiS/sBfyUs64b/j1J01noPPl5+evFHR7YebGxtLFHi0SKBoSIwc+SUZiVvAvCjgXi1ar8LOmudq/88Jpi0x0URlB9PwAUJDDYBm0wb3ito2P6fgsZpnbrXATKIDDFblgWv/M8iU+Vgl8uz8/O+0j05e9Wp1QlpX2e9MHwGP/UphFanLe6zE9vCcouPZntfrbDEvkRgXNiYeQIhRa46EWJobIUfuvz9uOlXQW+fSGaaUr7kSP1MxY8WCQw2gZJ6x4kX8+pqypuc6uRGfJwciPDAlqXB1795fXD7XMuDXTLMb6AIPJmwau/q+FXTAehv3fIwFFQXp/z36JdHGm1NbTN3ue1ELxIYLAJjw8YUqnm53TiuxvXR06+Czv4dq1PbBemEPQESCetj+fB0JNBjAqwbXf6SjZW/f75xMvtMRisJMDH/SNJop761xPxPJQ7t4BMYjBxXx6f9nwBCLLvm6jPAdod91mfHswPOVOL88INxDTCPywnMGDkplsXamWMj02T6+sMb+nVIul8Fnf0rXsELyt28cD12tXMQ6AaVQL1dLn8xz3r8VNtYucQzp0CbCZDvblkWcsfrSUZsoXEofuAej3/48JqEtAQ2nv4bt+oGHSk9sWDryR07HbIDb350A4PegSegEbVBgXrjV0pO1CF8X/H3h+03QV+RVfddQojrtagEoHJSsCa+PwqIaSCB7hI4Z7Uf/OfpekOrDOpQDxPzw4JMZry5NOjV7qaDx3kzgcvLviZ+1a8pIYvB7eUv1pZ6fsNcZV1LY9uY5uWnYQwSGBACMyIn65WECaH3P3vmWZ0S7qvtN0EH2an+05hg1p5gos7WvhYPz0cC3SPAp239tKRpNju643lPIM9sWRoSi2PljIqfr2viVu4S9doZ7A/eJwoKJ5XHf3lyW0jxxbIDShxaJDDQBEYFR8YRIMVt+RCjrUFKbfP3fdsvgr48yzoROt6qJi+O1Ks3xvW9iJgCErgyAYdMm189Xb/3RK3rcTTl81zLvjC3vbU06PErn4l7/I3AY9MfvLgmPu02Vm/3z4V5f9GhhL2FB/ld8Kx3nu29yoq7kEA/ECCjQyLPKelQmar3nilxvbXKD2Bvz3edJ1Cq3n5v1JDcQIm0PYfu2osbJDAwBPh4+Qun6kvq7PJ8NQcK+6lWw7vY1ZaYug89SIARWB2/6hnW1TmXeUuZ4ysprS1P+fR4Fs4Hz2mgG3ACM0dNnapmwoaDnjq8cYoa7oOn74JOKWGJqN3tc8L1+ErDPlwQPLV7BCqbnWdZy1x0ynSScgbrTn22XAhatGWxEWcnVKCg7ZLAE3FpXzkk170WW5UDmmzN8/57+PMTrU57rRI3uBZz8xcCBo1uuEFrUP9ACg5Q333SFwZMi/tyOsC9WfVfYykoL7a4OCNEy//5sihckcDAECiosx96J79hOOsfdfUEMSFvoJR+fcvSkJ9kLyH4h3JgsPtcqj+ftaqWtdZvYJ+jXyuVs8vOaZ8c3VrXiLPLKUjQDhCBqSP46wjaEqeEPtDm69u2z4JOwKl2t0ebpCOEtL0yFXBBAgNA4EiNbc/HxU3TWdIm5oBSuEhBs3jLspD/8DA6JNBTAmviV/2G/SFMZc71Z1CmNPrzE9v1NY21p3qalicfj2XzLAJjw6KuI0CqeamYjXjq4Ma7uL8vrk+CvmJrw3BWEH6TiasMi0cYxrk8uEECA0Ago7R52/aKZj61p4Ynz36ASwWJzH97aeBhHkaHBHpLYE1C2tsCCLezP4gtPA3W6xOefXrP6FJLuToxDY9HhwT6iwDTTmG4OeKYkh6h8D3F31vbJ0GXRad6u71eEg6HaAV1Vq7eFgjPQwJdEfjwfGP2SYst2W3fKUI1CW8mB51xi0MvEug1gScSVn4uCDQJgFraEzHuLTgYn19VrL7Luj0ezWUEMKI3BGaOinFvBN/c1xe29EnQBZneq1QiJkhjVfxokUB/EaDs13XL2YadRfUO/pa09mTpToczaN5b1wdeaI9AgwT6hQC/WY6AuIi10NXP1sGSo3NPlJ/dAbgggX4mYNYHRkuidJInSwC0jXb4Jvf31vVa0O/PahoNBHj3J8/bmRCum8U96JBAfxGQKdhfO12/r7rVuVhJk/3QfuAYFrzs3RsI/oFUoKDtVwJPxD98QhKEBNb9royhCycrTiceLD6+rV8zwsS6TcCXDxwdMqJSqR+RidrrrcT1xPZa0GVqU+dtDxDJQYNE3Gbo6kkR8FgkcDkBBwXHP0/XHXJ/xpy11jdtWRpy17sziO3yMzAGCfQfgcdiV5bqzY65rINoj5JqfnVRck7xERR1BQjafiEwZdjEiW4JXf/HIxtD3MI98vZa0Fkuanf7zDCt60YSFocrEugzAScF55tn6g80Ouh1PDEm5GyFNVuWBq/iYXRIYDAIPDrp0bpGbQQb6qEfKPkVVpckHy/Pw+53BYhP2KGtRKAuYBTrdj/qKgUBUbTDcujl0itBd3W3AyS052mfHabjr4RrD6JBAr0nwLo55bfO1e9zb5kTAivfWhq8vvep4plIoHcE1s64x/ZE3Kq72T/K95QU8iryF+ddOLdLCaNFAn0lEB06+qKSBgFQG8tKXHdtrwRdBtt3lQxMGiFXK5BAJYwWCfSFwNvn6ndbWuWFahoEfvXWkuDNahg9SGCQCRBC6Ni48HsppV+0Z02Ol51acKaycHd7GA0SuCKB7uyYMnw8nwqW/W9kRxNY0ttu914JOrjd3c5a5zIrAq5IoM8EPjrfmF3dKqs3wAGlf2Ni/vs+J4wJIIE+EriH3OPUm518VkxFxIUjpSfmlVkvHOpj0ng6EgCDRj9MJ2mVzxJh3e739QZLjwX93gzLBCBkZntmLTOCtXHtfjRIoNcEvqpq2Vno9mgapeQfby0L+Z9eJ4gnIoF+JsDG1FsDtPQmCvR4e9Linvyc8ZbmOvXNWe3xaJBAjwmMCx/d4HZSN7vd3c5g3h4LOgH6bXaeaw3RCbmSCHpXADdIoJcECursh/dVtiqPQPJUPtmyLKjPsybxhNAhgf4kkDYjrQG0cD0T9ZL2dM2ZebsCWh2tNe1hNEigVwQmDpswg53oZI61mSHxqdy/j+T+nrgeCzrL6X4lg9gwnaT40SKB3hCoaZHzPy5uGsfOFZljvexwssEc1Ou7PHka6JDAQBJYMyOtQgTxdvZhbeb5MHGP/Px49gWn7HSFeRw6JNBTAjpRE6LX6A4q5wlUvEfxd9cK3T2QH7ciqy6GAEzkfubqp1/+ZjUWjSsS6B6BFie1vn2uXsuONjPH11onaG/4K/jlsQAAEABJREFUcA5p4gF0SMBTCTwe//BhVjbeLeq6kYm/pW3ryZ3KGCjbhSsS6DmBCeHR6iPglECPX9bSI0EH2XkztC9BWkGdVL49Cg0S6BGBN87Un5MBRqsnCcJt7y4LKFXD6EECHkxgdULah0zN/08pYoOtccHRkpM48YwCBG2PCYyPiOb3p7GPFQBrPCf3dG73Hgk6JeQWaF+mBGlcff3twcExmIvPEPiytDm72UnjlQoRIN99K8WszsqlxKNFAp5MYE38qt+xrvd3lDKeripYWNVQc0IJo0UCPSGgFTVBoiC65nbn5zXYyfXcdtd1W9CX76YGoJAC7cuMUN3Udi8aJNAjAvwmuFMWW5JyEqXw3JtLg15VwmiRgDcREIe1PsBEPa+9zJodZ/aH2J02fNdAOxA0PSMwwjxMndtdkOmtPTm724IuNddfTwjw8U6QBHI6QCJhPcnIC47FIg4CgQY7rfqkuIl3sws8O9a3tLdCCPox96NDAt5I4LGox5pFDbkNgLoeO+I3yX1xcscZb6wLlnnoCYwLH61qKyWg9op3p2SuH9XuHEiJrCY8yiiWdeccPAYJuBNg4k3fPNtQzmzbB5ZCpVMSv5a9hDjcj0M/EvA2Ao/NWpVPScfrpFvsrXMOFR/F8XRvu5AeUN7hpgj++Jqrh4cNRY5ef3gTD3erZN0WdEI7mv4zgrX4ZrVu4XU7CL2QVda8zSbLsxQUFIS7300yVSlhtEjAmwmsiXvkEzZ89AelDueqixfUNluxpa4AQdtdAiRQH6Deh0FlWb0Z/VoJdEvQ+eNqQEg0T4wANI0xafideDyIDgl0i8CFJsepE7W2jmldAX6xZZlZmUazW2ngQUjA0wmsSVj1SzaevrO9nNqsU3slpyyrjyK1x6NBAlclEBU8Sr3pnMgdN6Nf9SS2s1uCLlOnOjBv1gpHRAKuSUAAF08h4NHlsDtp03uFjQGskBJzbKgRst5aGvxHlx83SMDHCIiikMo+5BZeLUqd47LP7v2K+9Ehge4SGB8xJsbt2OS1Bzbz30+3qK693RJ0ATr+IUwwa+xdJ4WxSKBrAv8ubMyRKUS59lK44DCQb7r8uEECPkjgsdiVpQSI+nINS6MlsehiCYq6D17rgaqSXtKFi4J42pU+AdEo2m+AbizCtY55IIvyudrVZ+FmhmgnXesc3O9jBPpQHf6IWlWLM1FJggo09d2FQReVMFok4IsEnohf9SlQ+Cu0LzlFR0c7ZIfrLvj2KDRI4KoEIgLD1JvPKRW6NY5+TUFvoXXLlFxFQs6atMIIJYwWCVyNgNMJtk9LmkLdjtm8ZUlItlsYvUjAZwmIw1p+wUS9mFeQAo3cdS4nh/vRIYHuEBgXPiZYPY6COuytxnXhuaagA6XqZDKRASJOy9kFRIzqmsAnpY27Zbeu9mZCf9bFkRiFBHySwGNRjzUzIf+RUrnqhppknEVOoYH2WgRGBg2LZcc0MgeEwJincze4bkzn4Su5aws6AfXOZDZ+rrtSQhiPBNwJVDY7zxbVO9SudgDy0/eXhLhuFAJckICfEFiTkPYZBXhPqe6us19pKKXqHcxKPFok0BUBnag9rcTLQBYq/ivZqwr6LZ9QLuBzlJMnmjWTFT9aJHA1Au+fb2xl+11PQ7AftOy3lgW9xcKDv2KOSGCICWg1mjRKoZ4Xw0nlSYdKjimPtfEodEjgigRCTaFWZSehHY1rJe5Se1VBDwqon0sAXI8aCQSKDBJxHw+9NC0MIwEXgQPVLTttDjrdFWAbQYYfMIMrEvBLAv8z84cX2O+o+la2/Kri+BZHa7VfwsBK94jAqKDhgeoJhCxS/VfwCFeId0UTWVa720O1ouvmDtcO3CCBKxCwybR+34VW9cU9rGXy1JvXB+df4XBvj8byI4FuEWiMr3wWgJ51HUzAtPPcfuVlLq4o3CCBrgiwcXS1V5wCnflU3kumro5T4q4q6GysR+2zH2OSWM+pchpaJNA1gc+Lm3LZB0WZq/2CUwj6XddHYiwS8B8Ca8lamRL6E6XG1qb6xTWNtaeUMFok0BUBjagxi0R0/REkQASx2T6/q+OUuKsKOiGQrBw4IUjCx9UUGGi7JFBrk4uKGhzqZ4a1SH7+7hKCz952SasbkXiITxFom+udfqFUatfZr/ClRAoMtFckYDIYy5WdMu3oNVfi3O0VBX1FZv10AKI07+uH6yWcUAZwuRqBj843qhMhsOMOvbUs5BVmcUUCSEAhQKVVQMF1l7tddkw/V1W0V9mFFgl0RSAyaDjpiKdXHUe/oqBT6lS7240agl1DHUTR1wWB8mbHKWurvEDZRamQpvjReiQBLNQQEFgz56FzrOdqs5L10dK8cOZno1RsiysS6ILAqODI0Uo0U/bedrlT9RniUQYNdpsqRNF2SeDz4mb18Qr26/TZlmX4JrUuQWGk3xPQaLW/oRRcb2BzUufEM5WFe/weCgK4IoEgfeBYtrOGObYS47rDG+KZp8v1ii10Ah23yLPx86Auz8ZIJMAIlDY4jjfY5bnM27aK9BdtHtz6LQGs+BUJtD/G9nflgKNlJ0dRoLISRosELiWg1xpYz057rFO4Yrd7l4K+YmvDcCAwvv10iA6U3F/lpkSjRQIuAp+VNPFJZFx+tnlnS3LIQWZxRQJI4AoEJKH1D6yV7ppshlIafari3O4rHIrRSACGB4Y3KRgIgDocrsQptktBJ4IzQTlAQ0ieJBCDEkaLBNwJ8LHzZidt6wKiIFNCn3Tfj34kMAAEvD7Jn8b91EIE8melIicrzkYqfrRI4FICo4KHhXTEtf/edkSovi4Fnf1jnKUcEawTqhQ/WiRwKYHssmb3Ga/e3rIkpPDSYzCMBJDA5QQCNPKfWSvd1fKSqTyh1FKBb2O7HBPGMALhptCJzLSvZPLmA5s17YFOpktBZ0eogj7CKOLYDgOC6+UEmuy0qqZFnqfscUjSHxU/WiTgtQQGqeBpM9IaWPfp80p2R0pO4G+tAgNtJwIaQWMkRChRIutFB38TmxJUbZeCzrpNZypHjA6QzIofLRJwJ5BZ3nSchV1z/TOb+W5y4FFmcUUCSKCbBJxU/ItyaJO9ZU5DS+N5JYwWCbgT0Gt06jwfMhVUjXY/5jJBT8miEqFkmnLQKKOk3hynxKFFAk4n2ArrO/4lEugYD0Q6SAAJXJFApx0/m/PQeUrh7fZI8tX5wzhk1Q4DTWcCwQFBruEZVyyV1V50V7h9c5mgjwTLDCDgihcIKdeLBB9ZA1wuJXDgYss+FhfMHF9Pvbk06BPuQYcEkEDPCIhEUIeqLjZaEuyyvbFnKeDR/kAgwhiqc6tn9wQdqKAeaJCg1C0B9CIBlcDhapvbq3TJs+oO9CABJNAjAo/HP3yYAj3QfpIxryK/9zfHtSeCxvcIDDOFDVdqRQiZrfjdrasl7h7hfod7uF7EGeLc4aDfRaCy2XnWJtPpPMC6C1uFAPPr3I8OCSCB3hEQgLyknJlfXRSh+NEiAYWA2eCaMc7WHg79y4HNlz3qKLTvdDdqC320QaN134F+JMAJ7KhoVm/OIIT+6435pI7Ho0MCSKB3BBpk8VX259g1HazD6Zha21h7pncpDehZmPgQEiBABEmU1BnjnOTycfTLBJ0SUO+eGxUoDhvC8mPWHkjA7oTWiibnHKVo7PPyouJHiwSQQO8IrJ3zUBMB+Jdy9qHSk+orM5U4tEjAqDO0z+kOIAuyqtUKmU6CvvxLGsQ+VCOUncMMotvD7EosWn8mcLi25SsKEOBiQGnRliUh2S4/bpAAEugTAVmkLysJXGy0dPmcsbLfJy1W6poEwgOCncpBhBK1N12J6yToomhVW158ylflILRIQCFwpNqmV/ysB0j9AVLj0IMEkECvCDwZm5ZFKSjPoZvPVRXt7VVCeJLPEgg3DVPnhaFAr95Cp5RMVUiYdaRG8aNFApxAk4PWNDmp+qdPpvQNHo8OCSCBfiJA6LtKSmcrC1lnmBJC20cCPnF6eGDwaKUihMIUxa9YQfFwKwAdyy13wVrJzi06JKAQOFTdymeGcwXZv8PDby8LVm/QcEXiBgkggT4RoILwjpJAg60x1ik7m5UwWiSgl3T8CYi2zwQhhr8efWG4O5VOgg4EVEGPMBBlSk/ABQlwAiesdnWSIULJFh6HDgkggf4j8GTsyv0AtKg9RUN+dVFuux+NJxMYxLKJbnO6t9rs49yz7iTolII6zWuEVjS5H4h+/yZQb5MrWhyyOpmBIGjx2XP//khg7QeKACVqK/1MVZFmoLLBdL2TgFajq1VKLhCiNsJ5XCdBJ24t9BA9PrLGAaFrI3C81ub+XGzOG0sC1Df/tB2BWySABPqDgEw6ut2bbc2zndTZ2h/pYhpeS6BTwY3agLYudxZLQe5a0Jcfo3wSmRB2DF+dZq1w2Sw0fAc6/yRwps7u1lKgH/snBaw1Ehh4Ak/GP3yAAq1qz0lXYa061u5HgwQgSN/21LALBSVdd7lrqizqG9YEAsWug3GDBBgBJwVnnU1Wn3kkVEBBZ1xwRQIDRYAAUV92dLb6PE7BPVCgvTDdoICgjkeH3W5k51VRu9wpgNp014tXf2QNcPErAoX19iPs86H8Lax+c1nQfr8CgJVFAoNNQJBVQb/YcFF9VGmwi4H5eR6BIL05WCkVIaDqNrBFFXSQQd1h0gr4+j7ARSFwotamztXOugKxda6AQYsEBoiA06H5XElapvKERlsTTgWrAPFzG2QwjelAQCZ3+AFUQacE1L74MJ0oux80uH7MzdMIlDU51Tn9iVtXoKeVE8uDBHyFwM/mPGSlFHYo9Sm6WIpzPigw/NyKgmggABZoX9zfuqYKOqEdgh6qE3Xtx6LxcwIOJ7TYZarOSOTQk61+jgSrjwQGhQAR6HYlo/K6KjbqpYTQ+jsBUZTUHhtZdKiNcVXQ3Vvo4VpBnUDE18BhfXpG4HyjPY+d4fqcsF+Uc+8uDLrIwrgiASQwwATY8NZuJYv65nr1pVlKHFr/JaCTtFal9g7oaIy7fqj5DtZCV/vlQ/Uin16OR6PzcwJn6x1q1w4BusvPcWD1kcCgEXCKwh4lM6fsnGSXHfVKGK1/EzBoA9S5CQQgqnYLKhZCzO1+GqAhKOjtMHpmfO/o0ka7cnc7yEBQ0H3vEmONPJTAz2etqmWtdPX9CRfqqtwnd/LQUmOxBoNAoEbPOkzbc6IQ3u5ruykudWfjSCWCDbZjl6oCAy002ulEFQMR1S5ANQ49SAAJDCABorbSSy0V6tMmA5ghJu0FBAxag6gUk/3p6yzo1C6HKjtFAmoXK+DiUQQGuzCWVrmU5dn22aC08e0lJpyxigHBFQkMFgE2zLVXyau2yeo2oYgSi9YfCRi0Oj6za1vVKWn7jWYhV5c7dTrULnZBwGfQGRdcGYGKZicXdOYDYP07h10e3CABJDBoBGRBOKpk1mxrxhvjFBh+bg2SzuCGoHMLnRCiRugEUCd+dzsBvf3ybgkAABAASURBVD5P4PIKFjc6mjpiyZEOP/qQABIYDALNDkHtFZMpHeugTttg5It5eDYBvdZgVEpICFX129VCZ+PmYcpOnUjwA6PA8HNb2ezo6NYBwBa6n38esPqDT2DtnIfYn2p6Vsm5ttGi+pU4tP5HQK/RKTexs95Touq3S9ABOlroRg1xAi5IgBGot8nDmWlfhT610NsTQYMEkEDPCajfvar62pqen45n+BoBnaRVRZwNiAZRSlm7HNrucgcC6qC6UWrXeF8jgPXpMQEHhQnKSU7BpP6oKHFokQASGAQCpOPPdFXjRXkQcsQsPJwAAcKF2jW5DPf/MS/dpeE8kgm8rPbBB0pE8vC6YPEGgUBNq1yoZEMBKt5dQjz4FY5KSdEiAR8kIFN1Hvem1ka9D9YQq9QLAgIh6hNpok1waXiboLt1uQdqBPdx015kg6f4AoGaZqfatUcoFPhCnbAOSMAbCRCRqn+uWx22EG+sA5a5/wmIRFQbWZJMXV3wLkEnAK4Az9KoEQzcovNvApUtzkY3AuoPiluc33ixokhgKAk4iVP9/jllZ9RQlgXz9hwCoiiqT6TJcpuGuwSdFdHVXGcWAiUhkFt0/k2g1uaUFQKUYAtdYYEWCQw2gSdnP1pCKXW052toddpr2/1o/JiARtKq87lDey97m6ATUG+B10lEnbsbcPFbApZWWX2FLna5D+THANNGAt0hQIqUo+qa6ysUP1r/JaATtcqfPKBAgzkJl6BTCi7rinDz8zA6/yTQbKfqnzz2aVF/TPyTBtYaCQwtATYsqn4HG1obcE73ob0cHpG7RhCpWhBCXBPNuISckA5BB3c/4OKvBBxA1aEXItIqf+Xg7fXG8vsKAVqt1KTZ1oqTfykw/NhKYscDaewPn+v32iXoQGmbZXAEbKEzCriyEXRXFw4nIQs69Y53HkaHBJDA4BKghKjfwRZHi3Nwc8fcPJGAVtIwHVdKRjta6KxV3rFDcGutK8ei9SsCrB+H/X5AkFJps9GAY3YKDLRuBNA7iARUQWct9EHMFrPyVAJaUVIb4kDdutzBrVXOlJ2tnloFLNdgEGDj52r3HgXa/PwcYh+MfDEPJIAErkCA0ovKHtZCFxU/Wv8lIIkat8+BWwudtchUEe80nu6/rPy65o1O6n7TjSrufg0FKz/oBDBDNwIE1Ba63enQuO1Br58S0IoadRCdQtvTaR1NdgUK26N40fonAZtDblFqzv7puYu7Eo0WCSCBwSRAqPrH2u5w4PSvg8neQ/PSiJIq6Ox32vW4ebugE7XpLkCH30PrgcUaYAKCCOrnAfDzALj4IgHvqpMIRJ23W6ZOnM3Tuy7fgJSWCbo6Vwgl0HGXOyEdN8IR6PADLn5JQCBugk7d/IALEkACQ0HAIYM6O5yTyq47moeiHJin5xDQSFptR2muMIZOBRT0Dkj+6ZOAtdE7qi52eNGHBJBAdwj09zE6rVa9KU6m1NTf6WN63kdAEiS3nhri+pMn8GoQ2iHiBICtgIsfExCEjlY568pxfUb8GAdWHQkMOYGfzHiwUikE+4FGQVdg+LFlXe5u91K4tdCZhKs/2qy7VfX7MSu/rjr7g6febAFARb+GgZVHAh5AgBBC2Xex/Q2IINicdqsHFAuLMIQEWAvddSOcqwjuz6GzT4o6ybvDCTitoIuQ/24kgahjMwSIW7eO/zLBmiOBoSZAKahPn8hUxt/pob4gQ5w/IR09qezPnus3u601Tqn64aCkww+4+CUBkYBGrTilrg+KGkYPEkACQ0KA/YDrlIxF0vGnW4nrL4vpeAcB2U23AYhLw12CTkhbANjilAFnBWMc/HkV3QUdfzj8+aOAdfckApSogi4QEf9oe9K1GYKyyLLTJeKurAm0cusSdKAd3exOQEHnYPzZuXe5Mw5uN16wEK5IAAkMDQG3P9qiIHrpUNjQoPPFXGXZbdiF0g5BZ93srgCvtMNJsYXOQfixE9x+ODiGlCzqdpMcj0GHBJDAYBJYW/CK+x9r1u4azNwxL08k4KRO9d43cO9yZwFV0J0UW+iACyegdueYTIDde5wIOiQwRARCHfXu30H193qIiuOx2fpTwZyyW+ObuHW5E7fBdQfIbqrvT3iwru4ECAHlERnQ1zea3fehHwkggcElYKsXQpQcCSENih+t/xJwyh0tdELdBB3cbopzOAEF3X8/I2rNBQLq3NEC0HDABQkggaEjQAX1OygAwWfQh+RKeFamTrcudwptT6cJriLSjpviZIqC7mLi5xuRgNoKECiE+TkOrD4SGFICskjV76AoiGrv2ZAWCjMfUgJOSt0a321PqrUJutuz5w6Z4g0XQ3qZPCNzrSA0KyWRwaH+mChxaJEAEhg8AoQStYWuFbXqd3PwSoA5DTSBnqbvcDo7tJq4d7m33yHHE2SS33EQj0DnlwT0Qts/Pl559mOCgs5BoEMCQ0SAuvWSaTUafBJpiK6DJ2XrlNkAuVIg6v7YGm1Td77P7sQWOufg786oIeofOwLY5e7vnwes/9ASIEAjlBLoNHpZ8aP1XwKsM73jN7pzC71jjmAHhbaD/JcT1pwRMOvaRmOYFyiho7lFhwSQwFARIGOUnE06Y8eXU4lE63cEHE5Z1WoKxDXPf9sHg9A6hUazEx9bU1j4sw3Ti24TWZAJ/swC644EhpoA63Ifr5QhKMDkeve1EkbrnwRsjhZV0FkPjkvDXYJOQKiB9qXRPihd7u25ofFUAhFaIVgpG+tyH6v40SIBJDAEBAgdp+QarA8MVfxo/ZdAs92mCjoAqQa2CMwBBdoh6A4cnuFM/N2ZteJwhQH7fEQrfrRIAAkMLoG1dK1AgCjDXtSoM0YNbgkwN08k0GxvJmq5KLg03CXohLQF+M4mGxW59WqHhe8zAYNEgglAE0+IADGs2NqgCjyPQ4cEkMDgEDDnRqjd7YSQSpGI+G6FwUHv0bm02m2qVlNCOgRdprRKKXmLTN3nDFai0fohAUEgpUq1KZFxHF2BgRYJDCIBB8BEJTtRENTfaiUOrX8SaHXa1PucCJVdnwulhX5RQWKnoB6kxKHtRMBvAoEScY3LtFVYntVmcYsEkMAgE1C/e4E6Y+0g543ZeSgBh+w0KEUThLZedpegOwWNq7nOd9qdciC36JDA8ADJ/a1Os5EIEkACg0+AdbOr370wY6g8+CXAHD2RgFN2qlrtENy63EWxLcAL7aSAb9biIIbKeVC+owLEALU4hM5U/ehBAkhg0AhQoKqgDzOFBQ1axpiRRxNgQ+Xqk0iiXXQ1yl0tdGtdgCvQXnqc5rMdhL+bUQFSpMKAUIgFXJAAEhhUAmvpWn4D3FQl04jAEPXxNSUOrV8SoARA+XNHn5jzkGt41CXon95KWtm/QOXtWkKrTPH1fL75GelRrYJ1An88pu3NToQY78toxsfXekQQD0YCfSMQcChiBgHi+p1mtlwjapUfccDFfwm0OFpdAs4JUErVe+BcHxQeCRTUyCYHCrqLCW5AK0K+gkEWWucrfrRIAAkMAgEqLFBy0Wt0JYofrX8TaLa3umaG4xSI22PnHYLePtMMP6CxVVZa6zyIzo8JRBok9Y8ekcnVBd2POWHVkcBAECCULlTSHWYKb+stUyLQ+i2BFluLm0Z3PI2kCjpTeddzbJyQ1YGCzjmgAxgXpFEfY6SELkYmSAAJDCIBQhcpuY0KHh6i+NH6N4GG1ibXpF9tFKiq3aqgU4DzbTsBalvlZsWP1r8JjA/UqJNaEArxD2RRVeAHmQxmhwT8isAzx18MBSDKTXCOYebw6YALEmAE6lvr1UeKKRBVu1VBZ8cUMudaq1ucLosbJBAgkTCBQIGLBAGhBSzY7Q64IIGBJyC3ti5VctGKmhMiwSlfFR7+bq3N9R3aTWnb7zODokYSStTIerusY/twRQIuAqE6seNmHCokuiJ9bYP1QQIeRkAGkqQUKdQYot7LosSh9V8CTbZmdY4QKnRotyrostDeCmOMmuw0mBlckYCLwOQgjfo5ISDf6IrEDRJAAgNKgAC9SclgbNhok+JHiwRsDrs6Xwz7nKi96+oPtUaUihRMNpmqE4oocWj9l8D0UO0MVnvKHFAg8+84QNV/hzwO3TUJ4AFIoEcEnjm0aRQAmQxtS9PwoAicqbGNBW4ZAZnKY5hxrdSgP+fysI0q6K8nGcspgIPFASEQ1OLEZ9E5C3QAOoEEaQVygrMgAJLRalFbDjwOHRJAAv1LQJbpHUqKBq3hmERErRJG698EWHd7BSMgMsdWanky5gf1zONaBde2fcN+rFWlt7Y6+Unte9D4O4ExgaL6aAQAwW538KAFi+JzBGQK6p/mqJDIFp+rIFao1wTqWhsr1ZPd7n3jcZ0EnUWoffGVLTK+po8BwbWNwLRgXUSbj21Jx48NC+GKBJBAPxMghN6gJDkhPFrpelei0PoxAUuTVW2RU9IxkydHckVBr2lxqs+58QPR+TeBMSZpOuvBcb3Eh9lx92XV4sta/OMjgbUcZALrDm64FYAYgS0CEc4FaA0jmBdXJOAiYG2ut7s8bMN+i9V731gQOgk6U3v10bVaGz6LzgGh6yAwTC+6xtF5jEzJPdyiQwJIoH8JECqo362RQcOL+zd1TM3bCTS0NrSPn7OauD2DzkKdBZ1FqF3uFptsYGFckYBKYHaYruPudkrvV3egBwn0lgCe14nAWrpWohS+rkROHjFutOJHiwQ4gebWlkBuXc7tGXQe7tRCB0pUQW9xUPU5N34gOiQwOViTwChYmANCyJh7Myzx3I8OCSCB/iFgODjsVkLA9cy5IJD8EEPwxP5JGVPxFQJ22T5MqYuTyKpm87hOgt5oNh/lkdw5KYxzOsHG/eiQgEIgQi+qnxECoHYNKvvRIgEPIuB1RWE/yPcqhY40j1Dn6Fbi0Po3AYfsbJIpHcUpUKByy+zqU9yvOPb5UbwAH84hTewgZcxGqLQ51DH1jqPQ588EZofq1KEYQuh3gFKm6/5MBOuOBPqHwFN5L7GWOf2GktqUEeNdP9xKGC0SqK6vPqtQIEDy1pK1rrljlLhOgt4eeaTdQkmDs1rxo0UCnMCUYE08AXDd7Q5AIlOz6tUJMAAXJOBPBPq5rkJjy3cBiA7YIhLxbIghaBLz4ooEVAJVjTWuIc/2CFWr28NwmaATStQu1YomRyf1V05C678E2PieMMYkqZ8RAvJD/ksDa44E+pEAgZ8oqU0YFl2m+NEiAYVAZYOFtafaQwSuLegARD2oqsXZcTcd4IIE2ggkjzDwG3UoD7HNLct3NKnzCvM4dEgACfSMwNOH0hcDEP69ArY0TR0xaQ6zuCKBTgQaWupD3CJUrVbiLmuhAxHUg5odNEo5EC0SUAiYtcJog0QO8jD7u0gkm+1H3I8OCSCB3hGQnfCwcmZwgDlHEsSOR0SVHWj9noDD6RyvQBAkqmq1Gqd4FPvWksATlLbd3c5aX8Na7LRW2YcWCSgEEiL07vNLP7gGM4rCAAAQAElEQVT8GMWXRyhw0CKBHhD4Q+6zfFpl9e72WaNiQntweu8OxbO8jkBdSwOfFc71R49SaHp8ZppyA7taly5a6IQCoSeVI4qb8U53hQXaDgKxodqFrHV+wRVDYLh0wfodlx83SAAJ9IiABqSfEkIkfpIkSicjAsOncz86JOBOoLq+Wr2vghB6wH2f4r9c0Nke9kN9mBnXWtrgUCeCd0XgBgm0E5gaolX/+FGAx9qj0SABJNBNAs8UP2Ng3x21u31a5GT3u5i7mYrHHYYFGgACVQ217u9Xuay7nWfZpaDTTne6OzvmjeVnoEMC7QQWj9DzmeNcf/gIgampmdbb2nehQQJIoBsEnFWGH7IGlOtGJwFI8cSI6HndOA0P8UMCF5ss6hwgQKD7gi6QjkfXrA4Zp4D1ww9Pd6qsFYhpjEnKUY4llD6u+NEiASRwdQKUtZwA6BrlqMnDxxUSIIISRnsFAn4a3WJvjVSrLlx+Qxzf1+WHR5AkVf3tTjqVH4gOCXRFYOnIgI7PB4Elqdtq47o6DuOQABLoTODp3E38BUeu2eAIIZXTR8Ykdj4CQ0igjYBddtTLVFYfDxZDbapGtx3Rtu1S0F9PMpazcZ2KtkMAztc7jit+tEjAnUCgRIYP14s7lDjiJL9T/GiRABK4MgFK4P+UvdEho04ofrRDSsAjM6+wVKpztlOgJx+Leqy5q4J2KeiuAynsdFm2ya+34xSwjAOuXRO4YXQAfzZSeZHPralZFpwUo2tUGIsEXATW52z8FgFom9qVtc5jo2bMd+3ADRLogkCp9UJDRzTZ1eHv7LuioFNC9yiHFjc58BljBQbaywgE64RRkYGi+nkhFP7fZQdhBBJAAi4CrrFzQn/tCrDNhPDok6Ig6JkXV18n0Mv6VTdcNCunst/X3Yr/UntFQScgqP8C6lrlyYALErgKgZtGGWPYbqUb6FYcS2c0cEUCXRBoGzsnbdO8EiibMWrKgi4Owygk4CLAutjlVkfrNFeAbQRRVrWZBTutVxT0CmLOYQm5fqDZeHpYnU0u6XQmBpCAGwE+lj7aKO1XoogT/qL40SIBJNBGYO2xd7Ts9/T3bSGAmOHjz0lExB5QBQjaywhcbLSeZpGuHhzWu1PzeOwjPMyiLlvhioKevYQ4WNP+K+WUs3V2Pu2cEkSLBC4jcOPoAD7DVWPbDpJ8b2bdnW1+3CIBJMAJBLRWP0EIuO5WFggpnB6Jd7ZzLuiuTKC4tqxtRk7XIUS9AdkVvGRzRUHnx1HSMfheWG938jh0SOBKBAIkEj4lWKv+CSQg//lKx2I8EvA3AuuOpY9gdf4lc641Nmq62w+1Kwo3SOAyAhfqqzVKJCVUvVldiXO3VxV0gA5Br2qWh0EPFzzc/wgsGWGYz1oe5bzmBGBCaoblCe5HhwT8nQCxkT+x1nkA5yCJ4rFxYWNwVjgOA91VCTS1NkarB9AOTVbj3DxXFXRBQ9W76eyUTnbI1DWm7nY+epFAJwKSCPp5w3T5aiShv16+vT5CDaMHCfghgacPpl/Hqv1d5lzr4gnzXC9jcQVwgwSuQKDJ1lwhU+qafIhSaHkyYdXeKxzqir6qoL+ZGFwLlCoTHghFDQ71ZRyus4d0g5l7KoGEcN0ijUBcnxUCJFByODd4almxXEhgoAm8Q98RKSX/UPIJ0pt2hhmD+VMhShRaJNAlgVLLhQK3HepwpltcJ+9VBZ0f6T6OfsbqqONx6JDAtQjcHBXgcDvmntTMuq+5hdGLBPyGQNHBql+wyiqPHTUsnDBnIgvjigSuSaDMekGZsAvYcM1Vx895YtcUdAGImkhZk93ET/IHh3XsG4HoQGnm8ABxu5IKofLzd2XVBithtEjAHwj86dCG6QDkN9C+TB4+NjdAa+A3x7XHoEECVyZQ22QZruylRFa1WIm71AqXRlwWptptSlyTg86wO8H9nazKLrRI4DICd0Yb4wlApWsHgeF6SvCudxcM3PgLAUEmale7RtQcmzlyGr6AxV8ufh/r2eporXHKTnVoRh/YD4L+5jJDEaXgGg9l5dPlN9qPMotrnwj4x8lagQQmRRrUG+QIwPfvy7Te5B+1x1r6O4F1uek/I0CU9xo4kicvCGRMCHO4IoFrEiioKclTDmIavOPRSY9ec8j72i10liIB8jkzrvXERVv7xCGuIG6QwFUJzAzVzg/UCPuUg2Sgr2HXu0IDra8SWH940wyg8FulfqNCIncG6QPHKmG0SOBaBM7XlLkf8pl74Er+bgk6+xH+VEmgvMnhmuVICaP1PAKeVqJ7xgdOJAA1vFzMRugpqN2QgAsS8DECz555Vkcd9F+EENejaaIg5V0XPWuxj1UTqzOwBGh9a/0MJQtRJKoGK3Fd2W4J+tvLgr+glDbxBGQK4+pssmviEB5GhwSuRSBAImE3RgWoUwcTIHeuyKpTn8m91vm4Hwl4E4HWevFpQmBKe5mblsUsChSJ6BL39jg0SOCqBKoaqvnj4kH8IKa9FY/HrjzI/ddy3RJ0VyIEslyWbY5ctJ1hBle/JNC7Sk8ya+IjA0X1BktKnRuW72ga07vU8Cwk4JkE1uWk3wxAHoH2ZXrk5FyTzji6PYgGCXSLQH51cZV6IIFPVP81PD0QdEFt8p+12l1vfrlG2rgbCXQicNfowAWiQFx/BlkrPVCytX60/BjFN011ooQBbyXw56PpUYSQN5TyG3WGvTEjJmJXuwIEbbcJVNRVhqsHE9Kt8XN+fLcF3Slr3ucncNfgkJVJEngQHRLoFgFRBO03xwYKBMA1fAOEzBQrra+A24JeJOCNBNYee0frtMHHrOyhzIFAhPPXxySqY6A8Dh0S6A4Bm9NucTidbZ8dCk59oEO9Kf1a53db0N9dFlAKFFytK5Zo4Lk6e7f69NmxuCIBlUCEQZiQFGk4okQwcb/v3gzLSiWMFgl4IwGjrfoV1jqf2V72hqUxC52SIAW2h9EggW4TKKop5ePn7cfTPd15XK39YOi2oLedQNW+/BMWm7UtDrdIoGcE+KNsY01StnIWa7JvvDfLOl8JD5zFlJFA/xN4+mD6Kpbqfczxlc6Jnp0XpDeP4wF0SKCnBIpqimXlHEpcvT5K8Jq2R4JOSMc4emmjc+Q1U8cDkMAVCNw2xphs1JD9ym5C6X+Xb7Pgj6ACBK1XEFh3KP1GSkm6UtjRIZHbokNHKZPJKNFokUC3CVhb6qeqBxPo9vg5P6dHgm4fZs6itG3qV4dMJ1ta5VKeCDok0FMCrKud3DfBFCMK4HqbEAtHiE74wpsnnekpAzzeuwmsO5geS2T4t1ILfhPcvLFxKUoYLRLoKYGqhurj7Jww5gAoVK+JSzvk8ndz0yNBf3cGsbEfXvVu99yaVmVMvZvZ4WFIoIOATiTmFeNNGhZjYQ7YZ2uinpJPH8ii+BQFB4LOYwnwO9pBhq0AxAhskUTp5A0xSbOZF1ck0GsCJyryq5WTWXf7vxR/d22PBJ0nKgvkbW65O1NnV98Ew8PokEBPCQTrhNF3RhuL2Xmul/4wUZ/fQi1bWBjXTgQw4CkE/nByQ5hsh0xCiKslRYCU3zwteZgoiAZPKSOWwysJ0Or6avcnyHr8O9hjQTeA+X0KtJnjsjvp1JpWuZD70SGB3hKICpRmJkUa1Kcm2A/knakZ+Dhbb3nieQNHIP1YeqCmWcgAIBOhbalbFrO4WSfpXOLeFoVbJNBzAuXWC/zpnwh+JtPYC2viV6kTcfG47rgeC/o/lpAWoOQjJfEDVa3qlJ5KHFok0FMCs0K18yebtdnKeYTQB1Zk1P5VCaMdWAKY+rUJ8Dnam2yEPxOsdK07F45PKAgymMZf+2w8AglcnUDehXPqk2MEQO0Jv/pZnff2WND56YR0ZFbcUJvI49Ahgb4SuDHKkDIsQNyupkPIT1ZkWn6uhtGDBIaIwDv0HbGlTvwvy34hc3yVZ42ati8yaLgi7jwOHRLoFQFKqfNiY+0s5WTBTWOVuO5YoTsHXXpMlLbiCwIOV3SL0yiUNFx0+XGDBPpKYPm4wMRwnbDTLZ0/4Itc3Gh4pde7C81+bEnhweq3CSE3tteETh85Zc+kYWMVcW+PRoMEekegpLacDTmSYNfZFIofj0vb7fL3cNMrQV+3OKbeJFXzG5lc2R2vrXVZ3CCBvhIgAOTeCaaFwTpB/UBTKr+yIsPyIOCCBAaZAKWUrD+46W32ufyGknXMiPE7Y4ZPWKSE0SKBvhI4deFci1savepu5+f3StD5iVqx/k1uuTvfaOQGHRLoFwKEgLBigmmeWSPsBbawH1MCBF5IzbKmsSCuSKATgYEKrKVrpacPbvwPAViu5DE5Yty26ZExOMyoAEHbZwJO6rRbW+pjlYRkIgy+oNePbFgrgM1VhlanAQrq1MfnXHG4QQJ9ISASEO+bZJpj0gj7oH0hlG5YkWX5ZXsQDRIYMAL8ZSsBByM+AyB3QvvCxXzm6KnJ7UE0SKBfCJy/WJrLEmqb9591tz8Z//ABFu7V2usW+j/GLWkJkGrUiWVO1tb1qgB4EhK4EgGJgHT/JFOCu6gDhd/dm2l56krnYDwS6CuBp/JeMhltVV8SIMsA2lJDMW/jgNv+J3C6ssCppirQV1V/Lzy9FnSel4Y2vswtdyVN2O3OOaDrXwJc1L872TQvSNvW/c5TZx/aNWxMXR3y4XHokEB/EOAzwAmNrbsBSBK0L5Mixm7Hlnk7DDT9SsApO5sbWhrVJyWcotzr7nZeMPbbyE3v3MbkOX9i3e6Un22T9XDiYjn3okMC/U5gxUTTHCbqe9SECaxIzazded8OS4gahx4k0AcCTx9Mv062k0NAoO1d1CytmBHjd8waPU0VdxbVrysm5t8ETl04y7vXXa1hCvTkz2b9+GhfiPRJ0HnGJqnyELfcHa91v1GPx6BDAv1DgLfU75tomhsZKKqzJxEgi6gNDty3zTqpf3LBVPyVwFO5G78my4TPgRDazqCFCfkevAGunQaaASFwpqpI+byx0UR4qa+Z9FnQdVLtH5VCVLYEQ52tSQmiRQL9SkAkIH4jOjB5boSOP6feNu5EYDx10v0rsqw3Ay5IoBcE1uem/4b9EH5ACCgvBapKmbywcFLE2AW9SM6DTsGieDKBupaGIofTMV0poxOcfRo/5+mwzzE3vXd/W5j4rl642MJToCBAbvUF7kWHBAaMwNxh+sW3RQXwrinXW9pYRsFA6aepmZbfMz+uSKBbBP6Q+2zE+pyNGQDkf6F9EQUx75bpS5xhxuCY9ig0SGBACBwsPu72HhT6r1/EP1rV14z6LOi8AAHSRT4lIvfCuTqty+IGCQwkgXFmTex3JpkaWKv9nJIPAfjFisza7BVZdeFKHFok0BWB9bkbFkhUPMLGy5cq+836wN13zb4pJkBrGKHEob0yAdzTNwI1DTXqzXAEiHqDeV9S7RdBF/XNq5VCNDsD4ay1UgmiRQIDRsCsFUb/YIp5hFEi+zsyIckgy8dSY3oaXwAAEABJREFUs2pTOuLQhwQ6CKw/uPHnAMJuQogi3PL48KhtN0xNwqlcOzChbwAJnK7M300BgqFtKX0iftWnbd6+bftF0J+dk3jeJJXnK0U5UtOgeNEigQEloBWJ8YEp5uva39TGviMsOwLDiUwyUjNrf7P8HSqyGFyRAKw/vGnYupz0TKDwBwUHE/WL88YlHI6LmokTxihQPML6diFOX8g3dNSQ9kvrnKfXL4LOEzJo6//MLXflLcHQ4rBxLzokMOAECADhb2q7KSogBwDaZjgiIBA2NiqGW3cuz2oYAbj4NYH1BzelgIMeZwK+RAEhCsKpm6Ylt44OHh6nxKFFAgNNoKG1qbTVYVOmeqVOWXqxv/LsN0H/2/y5G7VCg40XjLJGUW51GfeiQwKDRmCSWTPnWxNNdRoBjimZEoD5EnWcSM2s+5oSh9a/CKw7mP4UUJrFxsvVeyvCA8O23THzxmijNiDSv2hgbTmBoXRHSk7wGVbZTxOwziK69WdzHjrfX+XpN0HnBQoQLn7GLXdn6rCnk3NAN7gEgnXC6AdjgqaON0vZLOe2R9sAQgjIH/DZ5ZbvtqrPfbL9uPowgacPpl+3Pif9JKFkjVs1q+aPi8tNnjQvmbXQ9W7x6EUCA06AApUr6qtmKRkRgfZb65yn2a+CLhBZvTmu3m6G4oYangc6JDCoBEQC4q1RxpQ7o40nWL97KSgLgRVSCz11b4ZFfXuWsgutbxFYl5v+NKVkPxCiPn6mk/Q5t81cRkYFR8b7Vm2xNp5F4MqlKawp/opSqjQqLq6OfeSdKx/d8z39KujpibGnjVK12n1woMra8xLhGUignwhEBUozfzDFbBquF3e4JRnORP4d1lr/D46tu1HxEe/TuRuS1uVsPEuAPK5WiUJ9zPDxO26fuTRBL+nUbnd1P3qQwCAROF56uuO5bgp9nkjm0mL3q6DzxNk4+npuuStvDgZLayP3okMCQ0JAJxLz8gmBiXdEBRwWBFD/bAKBu0RqP5OaZXnyRweoZkgKh5n2G4GnDj87el3uxncoCNsIgQlKwkadYe+tM5c1TR+J7zBXmKAdGgIXGy2nW5029QZMEWh6b0pytXP6XdA3Lo7doBXqXCouUxH2V1ZcLX/chwQGhUC0WTP7R5ODho01ucbW7TxTAiSQUPhTvdWad29m3Z08Dp13EVhb8IqeCfn/E5xSMQFQh1IIIRfmRM/66uZpS+YbNLrh3lUrLK0vEsgtPuo2Exz94LGEtLP9Xc9+F3RewACh9gVuuctvMHODDgkMOQFJBP3tY4wp94wPLDJIJFctEIHxAsjvs274L5Zva5ipxqPHowk8fXDjd421zax7Hf7PvaAjzMOy75h5vSE6dPR17vHoRwJDRaDJ1lxhba5fpORPiaD2ZCtx/WH7LuhdlKK6YtYTEjS77jB2yFrYXeE2ZW0Xx2MUEhhMAsMM4kQ2th5//aiA/QKBjg8ngRtEp+PwikzLv5ZvrZ8GuHgcAUopWZebvoKNk+dRCv8AgFHMudZArXHPTVOTzy+aMCdFI2qwJeGightPIHCw+HieUg4K9MCauJW7lHB/2gER9HfvIc5Aqfp9paDHLTqQ2bdPCaNFAp5AICZYM/fhqUGjZobp+LhrLS8T67ZlK3xDEpzHWYv9LXw1K6fiGe7pnPSvrz+48SgB8iYhMEUplShIeYkTrzt+0/TkBYF64xglHi0S8AQCTtnJmueVCUpZCBX+oPj72w6IoPNCWon5hwKxu6bibHUGwPGL5Ty6pw6PRwIDSoC10DXJI/TJ359sJlFGaRvLzDU5ErMABFJlBz2ZmmF5NzXLMgdwGXQCa4+9o12Xu+n7rFV+jBLyHhNz9XWThJCyGaOm7rpr9o1Thpki1PhBLyRmiASuQuBoWd5+9lti4ocwQSx8Iv5htbHL4/rTDZigv5kYXRsoVu9VCnvkous+JCWIFgl4FAE2ph5851hj8rcmmipDdMJuVjj23QMgBETmvkkofJWaWbszNaP2bqCUAC4DSuCPRzaGrMvd+H8BtqrzBOhLBIi7YNeND4/adufsG8OmDBvHxyXJgBYGE0cCvSTAutfl/KrzkztOJ+sIYb8mHRH96hswQeelJIaGH3HLXa0tGArrq7nXcxyWBAlcQoDPNHf/RNPCb4w3ngrQED43vHoEAbKIfRn/vSLTepa12J9csbUB755W6fSP56mcjfPX52x8WbRDGQH4fwSIO+PmcFPYtjtm3SDzl6mIRNT1T66YChIYGAJnK4v2MVF3TS/MWgi1UkQzv+9jYDJjqQ6ooD933XXHAqVKPm8tywogp6rtvRmuAG6QgAcTiDRIMawbPmH5OOOpcJ24kxXVxlzbSmA8+4/9JxAcFamZlvdSM623te3AbW8IPHP8xdCnctMfZ93qfGa/PUDge4SAOi0rE/WKsaGjs5mQtyZPnJesFTXBvckHz0ECg03gRPlp95sz//5Y1GPNA1mGARV0XnAtaXqMW+7Km8PgYovfvFqVVxmdlxMYHiBNSZ0YuJiJu3WiWZsNBNyeJQUWhK+zLuGPWFd8yYpMyzom7vMAl2sSWH/4VePTuZu+zbrVP3C22moEIE8z4Z7qfiIT7iOxo6fv/XrcLSMSomelsDAKuTsg9Hs0gXJr5WGH7FCHihzg2DDQBRYGOoP0xNiP9GJthZLPzooLihctEvAaAqz7PeLmKEPKyilBQUmRhr1GiXzFCu96NJNZIITwx6dWM3HfuyKjthDFnVPp7NxFHJwNDawr8lUCcOlb8Gp4t/qSyQtPsxb5rAkR0fM7p4IhJOAdBHLOH1V/HwDo5l/EP9qpMTAQtRhwQeeFZq109aUtxU1hUNNSz6PR9YUAnjskBEQRtLNCtfO/N8V83QNTzNXTQrTZAoECcF8IiWZBl7izlnspE/eXmbtn+Zc0iMX71fqnI3+fycbEV7Pu9K3grK+5gog7DVrD/rjRM/feFXuTmXerhxqDJ/sVKKysTxGosF440upobXsJEAWnLDp/NxgVHBRB35w0/XXWSq/kFaKUwLayAf+jwrNChwQGlECgRIYvHWlIWTUtaNydY43HhgeI21mGnd5IxFruI1nc95h7WxKtltRMy14m8mvvybJcvzyLBrJ4n1r/fGjDZD6D2/qc9OeZiFeKDvEIEFhHgCwDIDpwWyRBPDUhPGrbbTOXXbx1+pK54yOi5otE1Lgdgl4k4JUE9hcekpSCU4CXnpz9aIkSHkg7KILOK6CTrE9wy11ZSyhUNnX63ePR6DyHAJakhwSijNKM5eMCkx6KCdInjTDsYWLfqUteSY4AzGMi/2uRwpcStdanZlhymchvvDfLmroiqy5GOc4bbPqx9MC2t5ulr1mXs/E/rCVeJcvCKcpncCPkhwRIRBf1qBlmCtvGu9TvnH3TlNiomcl6SdfVcV2cilFIwPMJnL9YesAuO6cpJRW1dFBa5zy/QRP05xbFvmaQalytdGCt9O0VNTx/dEjApwhoRNDNCtMuYN3x1/1girk+KdKwh7++lYlblzMrEQJxBGClQOlbQOWTrGuersiw7GP2ZTYW/z/MvzQ1q3YsDOHChfvPuc/N5jO1MeH+/frc9P8yW9RkI/VtbzcjT7F63AUEuno1qUMraQ9HhYzMTpo09/jX424JSZw4Lxm71IfwgmLWA0ogt/i4253tdMPjM9OKBzRDt8QHTdB5ngHaqse55a6iOQxKGi5yLzp/I+An9eWT1bDx9gXLJwQmpk03R94/wVQ0K0y3jU9cIxC4chccgbkM0feAkL8AgQxCSQETeMpa8meZwH/B/M8x9/PULMsPVmTU3ZGaaZ3XW9H/Q+6zEX86tGH6U4fSl6zP3ZTK3KNMrH/P3BYm3Pt5q5sLtwzyIUrIe0y4fwFA7mD2ilOsSqJ4jN/YljBm9v47Z9/YcsfM62fPHRubEhEYPp0AGdTfHMAFCQwigXNVRXudskO9/0OSpQGb5rWrag3ql2vD/PmvG6WqtlY6K82uC/hcOsOAq58QCNEL0Ukj9Ml84ho27j76gcnmquRIw97oQGmbThIOMwxXvVuUAExgAn8DO+4h5v5AKLwIRP4vv7OetIs+E3p6Lbc+dyNVnAakSlEWjgkyyQRgvQRA/0YI/IK5ewHIdSy/rlrdoCwCIUVGnWEvn7lt8cTrjn4j7la4c9ZNM/iNbWPDRs2VBMnn7hNQ6o4WCVxK4EjpSffho2d+OuehLnvmLj2vv8KDKui80GZt5ePcclfVEgIFdTh7HGeBrt8IeE1CgRoSMTNUO/+OaGPyD6eYZj8yPcj0nUmm8htGBXzF754P1Qq7NAI5ycS1dqgrJRDhvE7S5fKW99QRk3fwl6HcNfum5rtjb4m+edqS+XzmtuGmiJlDXU7MHwkMFYG8C+d2yVSe4Mqf0mY7OP7k8g/iZtAF/Zn5i143ipVlSh33XMCJZhQWaJGAWStETgnWXMfvnr9vkmnRQ1PNU9OmBYX8MMZcx6ejTRll2DcjRLuNt+r5DHYBIjmgEZnoA1G/Uz2kWMvEuoCPc/OWNhvb3j4qODJ76ohJOxeMn3Po5mnJJbzVfXfszWNun7ksnre8p0VOTBxmipguCqKhh3nh4UjAZwmcLD89WqkcJfC3wXjuXMlPsYMu6DxjjbblQW65u2jjrXR8jI2zQOcFBIaoiDqRmCMN0pQZwdp5KSMNybxV75rBLsY856EYJvrTzSNZCx+u5NyLzQXazYUwsR7Hx7l5S3vJ5IVJ88fFpUyLnLR4ZNCwWKPOqP5IuaeBfiSABDoInCg/tUOmlM8/wSJpg4bYnmKeQV+HRNA3LZj1qVGqPq3UdseFAZ3eVskGLRJAAkgACSCBfieQV5E/UUmUAnnmp3E/tSjhwbRDIuiuCmrpd12WbepsQZBbNWh39rMccUUCHkkAC4UEkICXEdhbcDCbAo3kxaYAtbIsPsP9Q+GGTNBfnD9pb4BYuUep9IFqLdicblPfKjvQIgEkgASQABLwQALN9tYLpZbyBUrRCJC1P5vz0JDNmjZkgs4BXNQ77xDBLnO/TdbD9rIi7kWHBJDAQBDANJEAEuhXAtvP7slnCeqYA6A0rzHuwoC/Uc2V1xU2Qyro/5k3tcYoVfxTKdvp+mCobcG73hUeaJEAEkACSMAzCVTUVx9paGlSW+eCAD9YS9a6GqhDVeIhFXRe6cjEGQ9qSX0L98tUhIxSdd4ZHoUOCSAB7yCApUQC/kSA7sn/Sp00iY2dv/d4XNruoQYw5IK+lhA5UFP9YwVERUsY5NfhY2wKD7RIAAkgASTgWQSOl+XtlGU6vq1UtJWKjv9p8w/tdsgFnVc/fXHci0axSn2n9PbyVpAp+8/Dd6JDAkgACSABJOAhBOyyoz7vQr46KyIF8tSTsx+98rsZBrHcHiHovL6CsflOAm13uTc4TLC/8jyPRocEkAASQAJIwGMI7M7PyWWFCWYOgEJ5kzb89y6/B2w8RtCfnzPrqFlT8d6403kAABAASURBVKnC5HCNAZrsrUoQLRJAAkhgoAhgukigWwQaWhrPV9fXLFYOpgL8ZO2Me2xKeKitxwg6B1E0Qnu3SFoc3G+nOsguL+VedEgACSABJIAEhpxA9pk9/AYvkReEAuxaE7fqXe73FOdRgv7ppEmtAULt/ypwChpCoagO38am8ECLBJCAFxLAIvsEgTOV+btaHbYEV2UoOKkIP3D5PWjjUYLOuTyfPPVPesFygfspJZBZ1gpOeUgf7eNFQYcEkAASQAJ+SqDF0XrxaNmpqWr1CfztydmrTqlhD/F4nKBzLlJA7c2k/Qa5RmcgbC/HGeQ4F3RIAAkggUsIYHAQCOw8u/8kpTS0PavSxhDDL9v9HmU8UtBfmBt3KEhb9qFC6qQ1CKqah2x6XKUYaJEAEkACSMDPCJRaKnKszfWLlGoTSn6wdtz3XJOhKXGeYj1S0Dmc4Ytm3KUV6l3vVZXZYMXnxUPyNjpeFHRIAAkgAf8k4Oe1dsrO5n0FB0cqGCiFt59IWPm5EvY067GCzmeQM2oqvqMAs9iDYV8Fdr0rPNAiASSABJDAwBLYmX9gv/pqVApWSa9dNbA59i11jxV0Xq2Ni677l1kq5Q/x8yDkXjRCfaur0e4K4wYJIAEkgAS8loBHF7ym0ZJXXV+TpBZSgCcem/7gRTXsgR6PFnTOiwY03ySRFtcUck6qgc9Lynk0OiSABJAAEkACA0LASZ2OHWf2SSxxwhxQCjvWxK16kfs92Xm8oD8/Z051oOaC+mw6f3nLiYtlnswUy4YEkAASQAJDTaAP+ecUHd3JRH0iT4IC2CSg3+d+T3ceL+gc4KbFs/8YIFYXcz93Oy+I0Oz0mNn2eJHQIQEkgASQgA8QsLbUFRTXlqW4VeX3jyWknXULe6zXKwSd0wsUG28gYOdesMl6+LTII15u4yoPbpAAEkACSMD7CThZV3tW3m7X9OO8Nqx1fmZsXJcvX+G7Pc55jaD/bfHsU6Ga0pcUgmXNYZBbpTbalWi0SAAJIAEkgAR6RWBv/kHW1S5PUk6mAvnWPeQe1z1cSpwnW68RdA5xQ2Lsg0axqoz7udtXHQCW1kbuRYcEkAASQAJIoNcEKuurjlfUVSYrCbDW+a+fjF25XwkPqu1lZl4l6K466mrmSdDsmtzdKUvwUVE1yJShd+3EDRJAAkgACSCBnhGwy476Hee+CmFnue5qB0r3rY5b+VsW9qrV6wT9xfnzS4K1JT9RKPMJZ3aUFypBtEgACSABJIAEekQgK2/XEaDgmhGOtQ/rZcn5TUKI17UUuynoPWIz4Af/ffF1G8xSqdoVcswSDGWNtQOeL2aABJAAEkACvkXgXFXR3vrWxo652gn50ZOzH/XKu669UtD5x0kbqU3SCnWuaeMoFeDzkkawO73m3gVeBXRIAAkgASQwhASa7S2Vh4qPT1eKQCl9Y3X8yi1K2NusRwh6b6D9fdKkVpO2/G7l3EaHCb4swbneFR5okQASQAJI4OoEtubtLAcCprajaBE16le2+b1z67WCznFvWDjv81BtwZvcz11BQxicslRwLzokgASQABJAAlckkFN8ZJvNYZvND6BAZVkQ7nky5gf1POytzqsFnUNPXxx3v0G8eIH7+R0M2yoINNjdX1XL96BDAkgACSABJNBGoKrh4snC6hL1ETVChN942yNqbTXpvPV6QefVkYSmuSKxuQbQbU49/KewEpyy68k2vhsdEkACSAAJIAEXgVanvXbHmX38ETVXGCjd90Tsw79pC3j31icE/fnEGecDpervAfA2OoDVFgSflwzOo2zeffmx9EgACSAB/yFAKXV+cWLbedbFPqK91hclKt3tjY+otZe/k/EJQec1ei5x2muB4oU3uJ+7/PowOFRdwr3okAASQAJIAAnAznP7d7qPm1MKd/10zkPlvoLGZwSdX5AXkmO+ZRBq1Kb5nsoAL38+ndcKHRJAAkgACfSVAH/evLK+Rh03ByC/XpOwagf40OJTgs6vS6tenq0lja3c76QifFLcAo14kxzHgQ4JIAEk4JcErM31+YdKjs9yq/zWNfGrfucW9gmvzwn6G/Mn1QVoqtVXrbY4A+D9wgqc772LjytGIQEkgAR8nYDNabdmntopsnoGMAesm/28zuT4Bvf7mvM5QecXaNPi2TuCpIo/cD93tbYQyChVe+J5FDokgASQABLwfQL0ixPZ52RKo11VpbRZ1jhvf3TSo3WusI9tfFLQ+TXalDTzl4Hihd3cz91payicrPWZex94lTzcYfGQABJAAkNLYG/BwW2tDnu8UgpK4Ac/m/Xjo0rY16zPCjq/UGfkyck6sf4i9/MH2rLLNVDRZOVBdEgACSABJODDBApriveXWspTlCoyDdi0Jj7tLSXsi9anBT17CXHYJDFeoG2TzjipBj4sasab5Hzgk4xVQAJIAAlcicDFRsvpnPNHZyr7KaW5TXGVjyphX7U+Lej8or25aGRRoN6ayv3ctcoGeK+wEmxO18RyPAodEkACSAAJ+AiBRltTedaZPcGsOgbm+FopicLX1pK1Dh7wZefzgs4v3uZFk/5llCp+y/3c1dmC4P3C89yLDgl0QQCjkAAS8EYCdtne+MWJ7U1A6TBX+SltBpEseyx2Zakr7OMbvxB0fg1fTIr5v0Cp7BPu566yJRS+KM7nXnRIAAkgASTgAwQ+P74tT6byBF4VClQmhHxj9eyVx3jYH5zfCDq/mC8kTbvNKF1QVfx0XRgcqCzmu9AhgUEjgBkhASTQ/wQyTu3c0eqwJSgpEwIPPxG/6lMl7A/WrwSdX9CzzslTDGKNhfu521cVCPmWSu5FhwSQABJAAl5I4GDx0W2WprpEtegUnl4dl/aCGvYTj98JevYS4ggQrdO1pN41PSwFAT4vI1DRpGq8n1x6rKZvEsBaIQH/IlBYU7o/v7o4qaPW9F+rE1at7gj7j8/vBJ1f2g2L48sCDI1zRWiVedhJtfBhEc75zlmgQwJIAAl4C4Gqhosncs4f5o+nEV5mSmGvWZbu435/dH4p6PxCb5ofc8SsqbgLoO1JBuVxNr4PHRJAAl0TwFgk4CkEGloaz28/s3c4K4/r8TQm5uckvfa2h+Y8ZGdxfrn6raDzq70xcfaHJqlyFQDlQeCPs71xphDs+Iy6iwdukAASQAKeSKChtans87xtEitbGHP8F7wWqHjTY9MfdM0MyuP80fm1oPML/nzStE2BUsUz3M8df5HLvwrOg0N29cbzKHRIAAkMCgHMBAlcm0Cro7Xmi5Pb7EzFR7qOprSZgHzbmjkPnXOF/Xjj94LOr/0LSVMfN2nKXuZ+7mpaQ+G9/CKQ5baWO49DhwSQABJAAkNLoNVpr/3kWJaFtr89jXWzt1BBuGF1/CN7hrZknpE7Cnr7dXg+cdoPWEv9g/YgVDFRf7+wAGT2iVHi0CIBJOC9BLDk3k3A5rRbPz2WWSW3TxzDayMAuWtN3Mpd3I8OQEAIHQReSIq5K1CsyFRiyprD4MOiAiWIFgkgASSABIaAgEN2Nn1yPLPMKTsn8+xZC91BKLn5iYSVn/MwujYCKOhtHNTtC8kxy8xi+V4loriRi7rfD80oONAiASTQJQGMHCgCTllu+fR41hmn0zlVzYMIqSjmKg3Vg4KuoujwbE6eusCkKVfn/y1qCIcvS7Cl3kEIfUgACSCBgSfgoE7bp8czTtgcttk8Nz4/OwXyzTXxK9/jYXSdCaCgd+ahhp5PnDqTjamrTfNT1lDYWVao7kcPEkACSGCwCPhjPqxb3fnF8ezDrQ57fHv9KSHk2yjm7TS6MCjoXUBRol5InDLJKFaUKOFDtSGQWYotdYUHWiSABJDAQBBwUmfrpycyc5rtrdep6VP4weq4VW+qYfRcRgAF/TIkbhGE0NFJ5eOMYlWFEnvCEgofF6kvbFOi0SIBJIAEvJSAZxXbLtsbPz6acarZ1jpXKRkBWLk6YdUrShht1wRQ0LvmosauJUsc1gsTR7Pu93IlsqAhDN4vyMdH2hQgaJEAEkAC/UDA7rRZPz6aWWx3OmYpybF2VdoT8aueU8Jor0wABf3KbNQ9795DnDckHokySWXnlciSpjB4L78AZ5RTgKBFAkgACXRBoLtRLY7Wqo+OZdQ4ZWdM+zkUCNz/RFzaxvYwmmsQQEG/BiBl9z3kHufzSdOizZqSPCXuQksYvJtfBDac+11BghYJIAEk0GMCfG72T49mtsgyHa+eLMipOGau0uiWBwW9W5g6DtqcOGNqkKb4gBLDp4l9O78UWhw2JQotEkACSAAJdJOAtbk+/4uT20QZaJR6CqVfWx37yDtq+Ioe3OFOAAXdnUY3/c8lzrwuSFOYrRxutQXBlnMXoNHeokShRQJIAAkggWsQqGq4ePLLvB1hlFL+GlQASpuBkmWrE9I+vMapuLsLAijoXUDpTtRzibFLQrXn1H+QDQ4zbMmvgbrWxu6cjscgASSABPyaQEV99ZHtZ/aOIQBBLhCU1oFEl6xOWKlOv+2KH8KNt2WNgt6HK5a+OOHecO3ZfyhJNDsC4e2CeqhotChRaJEAEkACSOASAueqivbuOruf3/xm5LsoQK0gCimrZz+yj4fR9Y4ACnrvuKln/X3xnO+xlvp61lfkimt1GuA/RQ44bVEfXXfF4wYJIAEkgAQAcoqOZB8qOT6fsdAyx9dK1uW+6PHYlQd5wH9c/9cUBb0fmLKW+ppQbeEvlaScVANflurgQKX6lJuyCy0SQAJIwC8JMNF2bj25Y2fhxZIUBQClcF6kdNGTCWknlTi0vSeAgt57dp3OTF8c94dw/an7BGJjvUe8vS7A3qog2FqMs8p1AoUBJIAE/I6AQ3Y0fHw044i1pX6xUnkK9JBAxYTHEtLOKnFo+0bAXdD7lhKeDX9fOO+tCOncUg00OhUceXV8App8cMhqlLILLRJAAkjA5wk021svfHRka3mr0xbnVtlPpYjWhU/MeajaLQ69fSSAgt5HgJee/tfEBdlhgQWzdYJVfYatvDkMtpwrgRZH66WHYxgJIAEk4LMEapvrzn16LFN2UnmSUknWhfni6vhVtz4W9VizEoe2fwgMnqD3T3m9IpW/zF18PEh/ZmyAWK3e7m6xBcOb56rhYku9V9QBC4kEkAAS6AuBMuuFg5l5O4ezrvVIJR0m5r9eE7/qh0oYbf8SQEHvX55qan+bf/2FqEkZo9znf29yBMK7BU1QWF+tHoceJIAEkICvEThelrdjT34O72IPVOpGgHyHiflvlDDa/ifgK4Le/2T6IcW1Ix9qapv/vShLSc4u6+GTYgH2X8A74BUmaJEAEvANAk7qbM06vWt73oX8RLVGlDYTItz4RPzK19Q49AwIART0AcHaOdHNibOXBknn/wLAOpzYLpmKsL86yPUKVpsTb5ZjSHBFAkjAywk025rLPzyyteBiozVJqQqltEIg4oIn4h7+UolDO3AEUNC7w7YfjnkuadZjgZqSH4ipPL9HAAAQAElEQVRgl5XkSprC4M2zZTiurgBBiwSQgFcSKLWU535yPEvv9upT3n7JoZLzusfjHz7slZXywkKjoA/iRXshcebLxoC6GK1Qr94Z1+AwwzsFLXCqtnwQS4JZIQEkgAT6hQA9UHQke2/BwViWWghz7Svd3KgLX/jk7EdL2iPQDAIBFPRBgOyexeb5E878MyXKbNaUHWqPB4eshS/LDZBRmt/eKa/sQYsEkAAS8EwCdtlR/8mxzANFbTO/ubSEUmgCICtWx6c9vHbGPTbAZVAJuC7CoOaImbkIbE6cFjdMf/qvBByuMFACJy1hsOVsATTZ8Xn1Nii4RQJIwBMJWJrrzn14+EtLs73luo7y0bOyKM9dHb9yS0cc+gaTAAr6YNK+JK+/LZz70zDd2Zs0pMmu7KppDYU3z12E0oaLSlTfLJ6NBJAAEuhHAvlVhXsy8naOpECjlGQpwH8bZWn2z2IfOa7EoR18Aijog8+8U45/XzT/CwiwRgZIVepYU4szAN4/D7DnQmGnYzGABJAAEhgqAnbZ3phxaueOgyUnFrAyGJgDoMAbI4+viV9159o5D7HudlcsboaIAAr6EIF3z/bVeVNrXkqaFBWkKWZdVW03wVMqQk51CLzNuuAb7eossu6neYIfy4AEkIAfEKhprD310ZGt1ZamOvX5cv5IGhHootXxq57xAwReUUUUdA+6TM8lzlwRqi16QCQt6sPpVawL/o2zFsivq/KgkmJRkAAS8BMC9FDJ8W3Zp/eMlymNVurMutu/dBDnrCfi0r5S4tAOPQEU9KG/Bp1KkL447p8glkQZxcoyZYdNNsCnJRrYWlIA7EulRPu+xRoiASQwZARaHa01Hx3dmnuuqiiZFULDHOthBxsldPXquFU3/SL+UWxlcCge5FDQPehiKEV5PWlO+YvJk0eFavLVqRIpJZBnDYU3zhSDpbVRORQtEkACSKDfCfAXq3x4dKvc6rAldCROz4oCmb8mLu1pQgjtiEefpxBAQfeUK9FFOdIT478TJp5aphPr1JtNrPYgeOtcExy7qDbguzgTo7pBAA9BAkjgEgJO6rTvOncge09+TiwBEqHupvSFxpCAmY/HrjyoxqHH4wigoHvcJelcoA3J8zJNI1tDTVLZbmWPk2ohu9wI/y08BzYnv8lU2YMWCSABJNA7AvWtjSWsVX62oq4yhaVAmGMrtbDewTtWJ6T9aO247+HduYyIJ68o6J58ddrL9vdJk1qfT5q2KER77mEJWtUb5s43hsOrZ6rgjKWi/Ug0HkMAC4IEvIQApdR5sPjoti9ObAt1Op1TO4pNt2s02pg1CSs/6ohDnycTQEH35KtzSdk2Lk7YLJOKsXqx5ryyq8VphM9LDfCfgnyotzUr0WiRABJAAtckUNNw8eQHh78oyK8u5je+BbhOoGCnQH/+RNyqlP+Z+cMLrjjceAUBFHSvuEwdhXxjyeySV5InRJu1Zc8R6OhuL20Kg9fPNsL+yqKOg9HnqwSwXkigTwT4POzbzuzbln1mbwwbN5+oJkZpnkyEhWvi0/6EN76pVLzGg4LuNZeqc0E3L5620qArm2kQLqqvaXNSDeyvCobXzpyHiiZL5xMwhASQABJgBPKrivd+eOTL5uqGGt4qbx8rZzso/X9srHzqk/EPH2AhXL2QAAq6F140pcgvLZp97OWU8SNNmtLfS0Jr2xRzbKfVFgTvFVLXc+t2pxrN9uCKBLpBAA/xSQJNtuaKj49lHDhYcnQ+GzcfplSSda8fILI4lYn5WiUOrXcSQEH3zuvWqdTPJ07/lUGsGmeULpxWdlAquJ5b/+eZCrxpToGCFgn4KYHc4qPZnx7PMrfYW+d0IKANlND/WR23au4Tcx7K64hHn7cSQEH31it3SbmfT5xx/sWkKVOCpfxHJdKk3gmv3DT37/x8sNqaLjkLg0hg0AlghoNIoKK++sj7hz87VVBdzB9Fa7vpjeXPWuhfiIIQsyYu7W84Vs6A+MiKgu4jF1Kpxqak+L+DLTLIJJXlKnHcljWHwRtnWyC7tACwG54TQYcEfJdAo62p/POT23fvOrt/llOWpyg1ZUJeIxP6rTUJaTc9FruyVIlH6xsEUNB94zp2qsVrN5HG55OmJYSI51I1pFGdDEKmIhyzhMI/zlyAk7XqvXSdzsUAEvBqAn5eeCbeLfsLD2V/djw7qKGlYeElON4UqBTzZFzaG5fEY9BHCKCg+8iF7KoaG5MT3n51yShDkKbkTYHY1bmXW50BkFEWAG+dLcS74bsCh3FIwAsJnKsq2vvBkS+qi2vLOnWvA4VjQMiS1fGr7mdj5dVeWDUscjcJoKB3E5Q3H/Zc4oz7I4JLxpuk8hPAvt1KXWpaQ+C9Agqfns+HZqdNiUaLBJBA1wQ8MtbaXJ//4ZEvDx0qOT6fUnm0WkgK1RTIqsb4ytmr41Zmq/Ho8VkCKOg+e2k7V+yvcXGFzydNnT5Mc/Ieg1jToOylIMC5+jD452kL7KsocpN75Qi0SAAJeCIBm9Nu2XZmz7ateTuimT/WvYwU4O+S0DppTfzKTWvJWtl9H/p9lwAKuu9e2y5r9rfEhe++nDzBFKHLe14LjeoX3SHr4KuaYCbsxXCiY66aLtPASCSABAaAQA+S5HOvs1Y5rW6o5ZPDiMqpFOgnlAiT18SvevSncT/F2aUUMH5iUdD95EJfWs1nF81/KNx8eniwpjBbcJtCtsFuhszyAHjt9HnIr6u69DQMIwEkMEQEnNRpP1KWt/3fhz690D73eohSFNYiPwOULFsTn3bbmriHzyjxaP2LAAq6f13vTrX985wl1ZsSY5cEBxbMMAoXTrnvtNqD4JNirevGucJ6vI/GnQ36kcBgEzhRfnbHfw9/UXnmQn4SpXS4kj8T8lo+OUxTXOW01QkrM5X4LixG+QEBFHQ/uMjXqmL63LnHX0yZEhOkL7zZIFR1ejaV3zj38XkNvH2uAMoaaq+VFO5HAkig/wjQM5WFe1iLvOhkxelEmdJRHUnTBkrhDxrSOp5PDsPGyR0d+9DnrwRQ0P31yndR7+cWxn7+csqk0WHa06kBUo3a385aAVDVEgr/Pk+AzzhX2VTXxdkYhQSQQH8RKKwp3v/+4c/PHik9sYC1yKOVdJmINwGFp0WdLnpNwqpf/jTOQ8bJlQKiHVICKOhDit8zM9+weO7bLyVNGBauP/OwQbRcVEtJCZQ1h8E7BRQ+KMyHmpZ6dRd6kAAS6DuBUkt5LhPyEznnj851ys5J7imyP9Z/JxIZtzph1erHpj/Y8b10Pwj9fk0ABd2vL//VK//3hddtfjl5bFiwtnClXrBY3I8ubgyDLfkOeC8/H4obatx3oR8JIIEeEjhTVbjng8Ofn9pbcDCeCfk05XQm4jbmnpNkceSa+FWPrp69slLZ50cWq9pNAijo3QTlz4dtWhz73CspY0OCNMU/0ZE6q8KCv9GtnLXYPyiS4M2zhTidrAIGLRLoBgG7bG88VHJi278Pflp+pOTEAofsVOdc56ezrvZ/yLI4iQn5yp/OeQjnauZQ0F2VAAr6VfHgTncCzyXOfPYfS8YEm7Rlj2mFhk4t9outIa7pZF/OK4XcqmJwssE+93PRjwSQQBuBFkdr1d6C3Oz/Hv7Sca6qMJkCjWzbo2zpSyA6x69JSPvez+Y8dF6JRTtABHwoWRR0H7qYg1WV5xdP+8s/U0bzFvt3jEJ1iXu+Tc5A2F1phpdPXYAdZYXQYre770Y/EvBbAtaWhsKs07u2f3w0w1xqqUhhIIKYa1sprWP/gf9AtTRydXzag6tn/7igbQdukUD3CaCgd58VHnkJAdZif+3FlIlRJk1eokksP0bAqR7R6jTA4doQ+MdZC3xRnA8WW5O6Dz1IwJ8IXKivOfrp8ax9W09uH3ux0ZrE6q5jzrWy8fFC/hx5I5Ui1ySs+uWaGWkVrh248RUCg1oPFPRBxe2bmT2fOH/n88lTZ4aGlYw3iyUZAvD7eNrq6pC1cLouDN44a4O3zhbAIdagd8rqjLNtB+EWCfgYgWZ764WcoiPZ/zn0WcHOs/tmNtma57lXkXWzHwJBvpeNj49zPUc+5yH8x+sOCP29IoCC3itseFJXBDbMnl2wOXnG9TZ9hDFYW/yqhjSr/e2UEqhpDYWdF0zwwqlq+LgoH0oa8e74rjhinHcScFKn/VxV0d5Pjmft/+RYRnjhxZIUmcrjOteG/puAnLwmPi1udewj73TehyEk0EMClxyOgn4JEAz2ncC7C0nzpsUzv/vqkkhtqCb/KYNY20m5HbIOChrC4P1CCf5xqhh2VRRCg72l7xljCkhgCAhcbLSc3nZ237b3D33ewF9h2mxrnsuKob4wBYA2AqUbRUonsfHxbzwR/8h2th9XJNDvBFDQ+x0pJuhOID0x/mcvJ48LDxEK5pqksu0itHbqb29wmOFgTQi8eqYJ/pWf73r0TaZsZNE9EfQjAQ8jYHParUdLTm774MgXJ7NO755cXV/D33qmviylrbj0K9Yx9cNGWRq2OiEt7bGEtLNt8bhFAgNDoJ8FfWAKial6P4GNKXFfPZ80LTnAPEwfpClay1rtFe61kqkIFc1hrkffXjxVCZ+wLvmiumr3Q9CPBIaUgFN2Np+pLNzDb3D78MiXhtNVBckOp2Oqe6EoBStz6QSE6aw1PndN3KoX1+L4OOAyOARQ0AeHM+bSTuD5OcT+XOLs//dy8rhIA5TEBooVXwjQ2unFEjanHvJZl/yHxRp4Ma8MthbnQ0VTp8fe21NDgwQGlgAbF3cUXSz7amvejl3vH/7cyedWb7/BTds5Z7qHEvo9aVgLv1v9kSfiHz7ReT+GkMDAE/AqQR94HJjDYBJ4eemMwy8kx9xUSoYZjNqKn+oEa+Glne0tTiPk1YXBvwoI/ON0MWSXFcDFlobBLCbm5YcEKqwXjrCu9O3vH/q8/kDRoeuszfWLGIZA5jpW17Pj9G+krTW+cE1c2j8ei3qsGXBBAkNEAAV9iMBjth0EspcQx4uLY/76j5TocaDVjAqUav7CxL0MoLO8N9jNcKw2FN4654TXz5yHPRVF0GDDm+k6SKKvLwRqGmtP7Tr7Vfa/D31atis/Z9bFRgt/ZvyScXG4yKdkpZTc0aiLiFiTkPY/2BrvC3U8tz8JoKCrNNHjCQS2LDaWvZA04bF/pESPAiJGmKTSDQbh4gX3snGZt9iCIKcmGP55tgVeO30eMkrzoYCNufN97seiHwlciYDdaa8rqDm/j7fE+Xzq2af3TKmor0phgj3S/RwKtIp9rl5kcTesjl8VxkT8e2sSVn60dsY9NhaHKxLwGAIo6B5zKbAglxJ4a4m5+vmk6T9+OWX8iCB94egQTf7mALGqgrjNSMdaSmC1B8FJSxh8zMbcN5+sAn63/P7KIpyd7lKgGIaqhosn9xceyv7w6NbD/z3ypTn3/LF5vCVOL5tPHUpZB9FfSdsz48PWxK/6IRPzrYgQCXgy22jRZgAACbhJREFUART0Qbo6mE3fCDy3MLZ0Y2L8wy8lT4qUjJXhIdpzTzNxLybQ6X46cMha4HfL768KZt3ydnjlVAl8ej4fTtVWgN3Z6Ym5vhUIz/YKAs32lsq8irM7vzixY9d7Bz+p3X5m79Ti2rIUm8M2+9IKMFE/yUR8PYjyfCbeo1cnrPopPjN+KSUMezIBFHRPvjpYti4JvDpvas3GxQmrmbiP0Y47aojQnP65WVN8TEsaOyaTbz+z0WGCc/Vh8GWZAV48ZYEtZwsgs7QAzlguQKvzssPbz0LjrQSa7a0X+KNl287s2/b+4c/zPjmWOex4+enF9a31/Ka2zuPhFOxMwDNZF/tjwN9uFp82bXXCqjWrZz+yz1vrj+X2bwIo6D5x/f23Ev8Yt6Tl2cS5f9qcOHPmP5eMkiIDDn47TJu/1SDU1AHp3CJ3UhGqW0PhhCUUPi/Vw4t5dfAqG3//pCjfNcd8XWuT/4L0wppToDLrLj91tOzEdt4C//ehz0o+OZYxnD9aVt1Qk+yUnTGXVouJdw0T8dcpkG8G6GgoE/BlbEz8L6tn49vNLmWFYe8jgILufdcMS3wVAs/MX/L6hsXxN7ycMiHIJFaMDNEW/ilQunBCAHtndWdpUBCgjo2/82fe+Rzzr561M5Evg/8U5MPeC0VQ1ljLfvvZgbh6BAGH7GgotZTn7is8mP3R0cycf+d+2ph1eveU0xcKk3gLnFJ59BUKehgI/T2AvJCJdzgT8W+viV/5XtqMNHz+8QrAMNo7CaCge+d1G9RSe2tmzydNK9+4OPbnLyRNmf7G0ghRK9XcbtKUvxkg1pwXuxB4YEuL0wilTWFwoDoY/l0owHMnauC1M+fho6JzLpHns9dhVz0DNcAr7zo/f7H0wIGio9mfn9y2+z+HP83/4PAXAXsLDsaX1JantDpaEoCAqatiUEqPUgrPEwIPiAIZzcbDY1fHpf1qdfwje7o6HuOQgK8QQEH3lSuJ9bgmgX8mTfj4+cSp97+UPCH6dSbwAVLF4mBNYTprwR/XkrouH2h3UgmstiAobAh3ibxr9rpT9fDyqVJ4Lz8fstl4/MnacsDu+mviv+IBvNv8VGXBrl3nDrCW99YcfvMa7zr/qujwnKKLxSkNLY0LZZmOZwlc/ntFaTPres+gAL8jlNysMzmCWCt81pqEVQ89Ebfqn4/Frixl5+GKBPyCwOVfEL+oNlbScwgMXUleSorZtSkx9hHWgp/xzyVjDCbz2ZGh2oJfmDUlOwLEi7XkkjvolZJSSqDJEQjlzWFwjI3HZ5QFAO+ufz7vArxx+rzz/cICe0ZJYeuBqpLWs3VVrbWtjZ1vxVcS8hPLu8prmy1n+RSqR8rytnPh/vLk9t3vH/78BBNv4N3mx0pPLqqoq2Qtb1sCw9L55jUW0bHSIibgbwGlPxYEEh8dH2FaE592/Zr4Vf/7RMLKzx+d9Ghdx7HoQwL+RQAF3b+uN9b2KgSenzOnPH1x3B83J85Ieil5fKi9Okwaps27MUx3al2wtjDTLJUV64RaG7mC0Nuceqi1B4kljaGak9YQ3d5Kk+6zYq3ujbMOacNxK7xw8oL91TMlLf8pON+0tbioed+FkpY8ywVbWUOtw2Jrlq9SNI/dZZcd9Q2tDcUX6muO8klacoqPbOOvEv3sRNbeD458cfLfhz69+MHhLwIz83ZP5FOonrmQn8SFu66lYaFTdk67YsXa7kA/wva/JgN9gtkbHBKEro5PG7smPu2+1QlpGx6PXXnwHnIPPqrA4OCKBDgBFHROAZ3PEuhLxd69hzj/tnj+lxsWzXty0+LYZZuTpo35R8o4XaD5PePIgH3LR+iPbQjXnN4dpCmpMEg1dpFcfeKwVlmvqbOZ9KVNQQF5dcGGr6pN+q2leu2/iwTp9TM2gYv+phPVrhvzXmXj9m+fK4T3C/Jdz9Fnsa59PlnOsYtlcNpSAfl1VcDH84sbaoDfvFfZZIXq5jrXPPdWWxM02lugxWHvsvo2p93S4mitarY1l9e3NpZYWxoKa5vrzvGu76qGmhMX6quOllguHDxTVbiHt6j3FR7M5o+BfX5y++6Pjm49+MHhz0/9++Cn5bx1/d/DX5g+P7E9aufZfTNzzx+bV1hdklxdX5Pc2No8n7+JjFIa2mUhOkVSCwWaQQn9Cx/3pqKcsDphlZa52avjV33nyfi0PzO79eezVtV2Og0DSAAJdCKAgt4JBwaQwLUJPD/noaY/z7/pX39ZuPjHf0+cu+i5xBmRLydN0C6IeNc0IWDHbSMNB383XH/ig1DN2ZNmsdiqFy/Sa4m9kquTaoDfmFdnC4KqlhAoaQoD/hz9cda1zyfLyS43whelBvikWAt8PP+DIsl18947BQBb8im8ec4Jr52xwyunW+HFU03A/yRwp6TP7YdHvgz++GhGxCfHsyK/OLFt9NaT28dm5u2cwLu+t5/ZN23n2a9m7ivIiTtScmIBb1GX1Jan8MfAGlirutVhi3PIzilMgCN5Wt11lMJ55nYAhdcB6G+B0B/JIF/fdtNaWsga3m0el/YYH/deM/uR3O6mi8chASTQQQAFvYMF+pBADwl0Ppw/BvW7+Xd88ucFS/73rwsX3pWeOGfa5uSZwa8kjxdig94ZO8W49e6RAQd+M0x38u0QTcE+k1R2Xi/W1GmFersArZ0T865QKRP4Q8x9xkT7eaD0V0y4v00EmuiUxWjWuiZrElZFM5fEWt3fXh2f9n+r49JeeDL+kQy8ac27LjSW1rMJoKB79vXB0vkIgSfiHylaO++b7/95/vW//tuiBakbE+PmP580LfqV5AlB/0yJ0r6xdDiZG/JKyBjznkTWwn9guP7YLyL0eX8L0+a/Gaw5/5lZLN9rFC/kGYSLJXrRUqUTrBYtqWvQCXVNWqGhRSM02iTS5JBIi1MSWmWB2KkAXXe5A1DexV3F0DIhBv7K2jPMf4K5wxToAQDKH+/KZsL8H+ZeYCL9B9Z1/hgB8h0q0JtkEK5zEDIuQEtNq+NXEeZGsxZ2HHO3MNF+aHVC2u9XJ6x6/YnYtJ0/m/PQeZYurkgACQwCART0QYCMWSCB7hD4adxPLU/NuWUna+H/868LF//x2YXz/2fD4vj7NyXOumVz8tQFLyZPmfpyyvioV5LHDvtHSnTIP5eMMf0jZYzxnymjDa+mjNK9tmSk5rUlI6TXUoaLbyyJEN5YGkHeWhp8mVsdn8a7uIetjl/FhHjVuDXxqyYz/3TmYtfEp123Oj5t4er4VUtWJ6R9nbkfMZH+5ZqEtL88Eb/ytTWxaV88Gf/wgZ/HrSzkPRLdqRcegwSQwOAQ+P8AAAD//5gUcRgAAAAGSURBVAMAyrQ85ldfDXIAAAAASUVORK5CYII="/>
          <p:cNvPicPr>
            <a:picLocks noChangeAspect="1"/>
          </p:cNvPicPr>
          <p:nvPr/>
        </p:nvPicPr>
        <p:blipFill>
          <a:blip r:embed="rId3"/>
          <a:srcRect/>
          <a:stretch/>
        </p:blipFill>
        <p:spPr>
          <a:xfrm>
            <a:off x="3587504" y="2136603"/>
            <a:ext cx="1968992" cy="1968992"/>
          </a:xfrm>
          <a:prstGeom prst="rect">
            <a:avLst/>
          </a:prstGeom>
        </p:spPr>
      </p:pic>
      <p:sp>
        <p:nvSpPr>
          <p:cNvPr id="3" name="Text 0"/>
          <p:cNvSpPr/>
          <p:nvPr/>
        </p:nvSpPr>
        <p:spPr>
          <a:xfrm>
            <a:off x="496186" y="737757"/>
            <a:ext cx="8151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Challenges and Considerations in Systematic Reviews</a:t>
            </a:r>
            <a:endParaRPr lang="en-US" sz="2820" dirty="0"/>
          </a:p>
        </p:txBody>
      </p:sp>
      <p:sp>
        <p:nvSpPr>
          <p:cNvPr id="4" name="Text 1"/>
          <p:cNvSpPr/>
          <p:nvPr/>
        </p:nvSpPr>
        <p:spPr>
          <a:xfrm>
            <a:off x="637953" y="1836454"/>
            <a:ext cx="2595132" cy="443023"/>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Common Challenges Encountered</a:t>
            </a:r>
            <a:endParaRPr lang="en-US" sz="1410" dirty="0"/>
          </a:p>
        </p:txBody>
      </p:sp>
      <p:sp>
        <p:nvSpPr>
          <p:cNvPr id="5" name="Text 2"/>
          <p:cNvSpPr/>
          <p:nvPr/>
        </p:nvSpPr>
        <p:spPr>
          <a:xfrm>
            <a:off x="637953" y="2364514"/>
            <a:ext cx="2595132" cy="2041230"/>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Challenges include the heterogeneity of biomaterial types and applications, variability in study designs, and the rapid evolution of the field, making comprehensive searches and synthesis complex. Ensuring consistency in terminology and reporting across studies is also difficult.</a:t>
            </a:r>
            <a:endParaRPr lang="en-US" sz="1105" dirty="0"/>
          </a:p>
        </p:txBody>
      </p:sp>
      <p:sp>
        <p:nvSpPr>
          <p:cNvPr id="6" name="Text 3"/>
          <p:cNvSpPr/>
          <p:nvPr/>
        </p:nvSpPr>
        <p:spPr>
          <a:xfrm>
            <a:off x="5910915" y="1949795"/>
            <a:ext cx="2595132"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Important Considerations for Rigor and Validity</a:t>
            </a:r>
            <a:endParaRPr lang="en-US" sz="1410" dirty="0"/>
          </a:p>
        </p:txBody>
      </p:sp>
      <p:sp>
        <p:nvSpPr>
          <p:cNvPr id="7" name="Text 4"/>
          <p:cNvSpPr/>
          <p:nvPr/>
        </p:nvSpPr>
        <p:spPr>
          <a:xfrm>
            <a:off x="5910915" y="2477854"/>
            <a:ext cx="2595132" cy="1814426"/>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Considerations involve managing large volumes of data, ensuring inter-rater reliability during screening and data extraction, and critically appraising the methodological quality of diverse studies. Addressing publication bias and selectively reporting positive outcomes is also paramount.</a:t>
            </a:r>
            <a:endParaRPr lang="en-US" sz="110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eAAAALCCAYAAAAGWAA1AAAQAElEQVR4AeydB3wcxdnG37k79ereu40b7samuNtAANNDsIEQwkc1JAGCDUkgoaSATQtgA4FACB2HEHp1Lxh3bDDuvYCbetfdfvOsNKuzLFntJF159Nu5Kbs7O/Pf0z077V2X8I8ESIAESIAESKDBCVCAGxw5LxipBC5bmNXisi+z+kyemzV60rz0n06emzFl0tyMeyfPTZ+u3cxJczJemjQn/e1Jc9M+nDQ3fd7kOelfT56b9q0Ob9fhH3V6lj7OMu7aBTus6atm5cxYNeuQ9ndNXz1zgw6v1OGFOvzJjNUz35mxeta/tf/s9DUzH9P+A9NXzbx9xqpZVz2y6pmzp3/z9OBH18/sEKn3g/UmgcYmENkC3Nj0ef2wIHD+Siv+irnpQybPyZg8aU7GPVogtZhCSCGiad9pAT2o0yxPsfegx+X9TsQ7X1kyW8SaqcR6QEOYqt0UpaxrlJLLlKjzlMgYUTJMRPXV4S463FKJSpRyf/r4eL2vufY76v29dXiIDo/U4Z+IqEtE5Oci6kZlqdu1f69S6jF9zCuWsj5VXtcqX5HarUXa0uKcpd326atnfa0F+sPpq2a+pNP/OmP1M79+ePWsC2asmtX/4Y3/TBL+kQAJBIwABThgKJlRuBNA6/XyuZkXajGdOnlO+vOT56QtmDw3bX9iZkaOJbJSlPW6FtEHNQctphBS0SKq+iiRFhL0fxB31UWXdZgW6POUUtfoIv9OPyT8Xf9IvKfTvnHlFmTOWD3ryPRVM1fNKGldPzp99axfzVg18/yH1j3VjwKtiXEjgRoQ0P9bNTiah4YTAdalEgJXfJneVYvspZPmpD04aU76x7oFu0PHLbReXeL7nz5tuhak60SpUSKqjVT/L0P/w+2Kccv6pCjX161i3Ys6J3nm92kSPX9gs5gFw1rELB7RJm7phHbxy89pH7/mgo4J313WLWHLlT2Sdl9zUvKhG3onZ5/fUdLM5dyu2JwLB5ydO7Hf+CM/6TN67/heI7aN6nHqhtO7DvlmaKcBKwe277usb5uTFp/UquvCrs07LGjXpM385onNFiTGJiyN8cSsdrvcW7TQHjT5VdNvqs8ZLGK3ru9QIk9qDu+7i93rINDTV8/cM2P1zPenr551/8NrZl30yOqnOwn/SIAEKiSgfw8qTGciCUQEAbtVOy/jyslzMx7Vrdq5k+emp1ku2aYr/x8tNPcoJedokems4yfc9D/SrkSPWtE+wbPg5CbRC05rFbvk7A7xKy/tmrDxFyclHbi1b4polzKlb0qn63ul9NNpwy/rljhyYseEMePaxo0Z0Tp29LCWsSMGNo0+vVdq1LBuKVGDOiZ5+raK9fRoEu3qmBilWkS7VKK+ji5OSVGUbm57XO54LabNEmIS2qfGJXdrkdi0T5uUVgM6NW03tFuLTqf2at19RL+2vUYN6tBv9KmdB40Z3WP46LN7jz5di/bgiwac3eOSgee0vHTQuTKx/5lpE3qP2HFG1yHrINwnteq2EIKdGp+8SOe/2qXUrpKrnvhTiWovos5XIn90WfKuJa6dWoyP6lbz3BmrZz06Q48/P7T26b7CPxIgAdH/z6RAApFBYNK8tM5XzM24Wrdsn5o0N33ZpLlpuXar1rJe1V2td4iSsZpEqnaVbYdiPa5vWsS4F/VpEj1/fLu4ryd3S9p+c6+UQgjrNT2TT7moc8LoMW3jRg9pHnNGj+SooW3iPL2Solw1aSVXdu3j0i3L0jp3XHKtEmLcUU1SYpO7tE5p1R/C3a9tz1EQ7PE9R4yEWF888JxOWqy9Z/cZs++0rkPWomUNgU6JTVoc7Y5e61Jqn76wV7vjNl3IJkopsAXjV9w+17dajC0tzF9jctgjq2f+9K+rnwyBbvrjqsYEEqgTAQpwnfDx5GAmcBlmHM9Lv1F3Ib+JsVplqR2WWC8rpW7VojBciYqrpPz5US75tk28e+EpLWMWoSv4hl7JOboF2+K6nkkDLu+eOBKt1t6p0cObxbq6ut0SLQ3052ug61R0Gc3NnRgT365tSquBaFlDoCf0Hjni/P4TBmqBbnfRwLOLdRf4971ad13UNCF1ocft+U7nk6ddhZsSGabvye2WqNlR4jk43Z7FPfMfupX8y8dWzexe4UlMJIEwIkABDqObGelVmTQvfejkOWm36a7kd3VX8iG0bsWSZ/UP/eVS+Vhtdqxu1bbTXcentopZjDHXm/ukRN3YO+XkS7skjhreInYkuoKj3SpBguAvQP+w9VITt3LH6C7w3n3b9Bo59qTTR13Y/6y+utUcPa7XiG192/Zc0jKp2YJod9RaffEM7Y7blKjeotT1ouRFr1Jbpq+aeWDG6pmzp6+e9atH1z4z6LgTmEACIU4gmP+fQxwti1/fBCbPy2x++Zz0m7XYfqSFN1tZskKUelyUXCQizbU7btPjqBswTjuiTdzSyd2TdupWbSJatRfrruOhzWNHYMzVrcQt/AsIAbSam8Qld+vVqtsZI7sPH31+/zMH6jHnlLP6jN47qH2fr0pFeV1FF9PnthZRP1UiT/p81motxHosedabuqV8NbushX9hQIACHAY3MZKqcNmC9C5acH+nW7lLxfIdcimZpet/rqgKW6hFMW5Z3ynJM//MDvErb+idnKVdH4zTDmwafXqzGFdnfS63RiCQFJPQvmuLzqeVinJ/3X1dNKrH8A3dWnRekBibuFSJ2lO+WEpEjyXL5UrUy+iynrFq1kotyg/OWP30aeWPPWGcO0kgSAi4gqQcLAYJVEpg0tyM4Vpw/zZpTvoGj1e26wP/Kkoq+tEtiPWoNd2TPfPPaR+/5qbeycWYcXx+x4QxPZOjhurWb1gZktAtREuzCIvNrdxRLRKb9RnYvs/os3uPOv2SQed0mNhv/JEhHfstb5Paen6MO3rNcRVVMkSJ3CPiWjpj9awj2r0xffVMto6PA8WEYCVAAQ7WOxPh5Zr8ZfqZuqX77KQ5afuUWMu04N6tlPQuj8Wj1CaspZ3YKX6d7k6Oua5n8qCfdEgY0y0lapDHpeLKHx/qcf9JWIGcBR2MXGI8Mc06N+sw7PQug8dM7D9h0AX9J2RgLDkxOuErXd5c7fy3pjoySfm3jlfN+v1DK5/rqNO5lRFgKIgIUICD6GZEelF0K3fcpLnpz2nhPSQu+VzzuFEp1Vb7zqZEchM9ruWDm8csurpH0oGb+iT3xFrazolR/Z2Dwjjg/w+r2YRNC7g6tyzKHZ3SS48ln9139Gm6y9o9tFP/FanxyYv0uUe0O3ZD61jJX9wuL2xkr5i+ZuadD3/zZPtjD2KMBBqXgP//c+OWhFePSAKT52WO0K3cp7TwHtCt3DlaYG/QIJpr52wuJXvbJbgXwLDFDb1S3Nf0TBp2eqvYkcnR9bO+1rkwA0FLwK3cMZ2atj8F65R1d3WTM7oPW9cqqfkCpVx7yxdaiRqqLDXD5fXsmbFq5rKHV8/8LV9CUZ5ShMSDrJoU4CC7IZFQnMvnZ5wyeW7Go5Pmpu0Wy7dIt+RuVSKt/euux2u/g7ELGLqY0iel/cWdE0fDsEWUW2KEfyTgR0CJcrVOat5/RPdhoy8Z+JP243qdsaVdapv5LqWOt96l1HCXqEdKX0KxZMbqZ349/duZrf2yY5AEGoyAq8GuxAtFNIFJC3I76C7mP0N0XT5rOSxP6R/ODv5QPEq2nZQaPf/KHkm7buid3BfGLmDowv8YhssIhPsYcFlNaxZqEpfS49Qug8ZcPPCcTmNPOn1Tm+SWEGNY6iqf0en6e/h3VagOzFg168Ppa54+t/wBjJNAfRJoYAGuz6ow72AkcPmc9LO06L6nvIW7RckfyouuEtmDSVQwgHFTn5RuZ7WLG9Mk2kUD/tW4mUqpiBoDrgaS4w5pmpDa8/RuQyHG7bDMCeuOlagfjjtQyXnKcn00Y/XM7dNXzZz2yMrnjhkGOe54JpBAAAhQgAMAkVkcS+DKZVby5XPT7pg0J32TS8ln+gfvAv8jlMhBGMO4uFPCd7f0TemASVQwgOF/DMNVE2ALuGpG/kdgmRPWHesx41YYM26e2GSB3l9uApfqopR62HJ5D81YNeuVh1fNOlUfw40E6oUABbhesFacabin2raX56Y/68tJ3+8S9ahScpJ/nVOiXV+d0yF+tRbdljCG0S7R09d/P8M1I6DYAq4ZsLKjFcaMR/c4TY8Zn5M6pOOA5XHRcXpYRI59mYSSq/QD5FfTV89cM33NrOse2/NY2C1rK0PCUGMQcDXGRXnN8CIwaV765ZPmpC20bS+L3CiqzCqVUpKGLuareyTt/3mPpNO6JUcNDq/aszahTEAp5e7crN2wc/uOHXZO37GHOjRpO1+n7fevkxI1UHf2P198MPZH3UX998fWzerqv59hEqgtAQpwbclF+HnoZp48N32aFt69+sfpTf2jNdIfiUepTcNbxiy+sWdKHLqYk6Ndbf33M0wCwUYgPjqu9bDOA/V48U9aD+s0cGVCTNwyESnWzt6UkiQR9WtvsWzTQvzO9DXPnCH8I4E6EKAA1wFeJJ46aXFO20lzMx5DN7Ou/8NKqXbaN1tRkxjX0gs7Jay/qU9yz1NaxI7wuCXW7KQfWAIcAw4sT5ObEuXq0LTt0J/0GXvqef3GpXVu2n6+S7l2m/0lvrpEWdZirCuevmbWZSVp/CSBmhGgANeMV8QefdmC7H6T5qa/pgqLYBrydlHK//V8h7onR8+/pmdy2pXdk07vkOjpF7GgKql4fSQrjgHXB9Zj8oz1xLYY0qk/WsUdT+0yaLVuJX99zAFKDdc9QG9PXz1rx/Q1M38z89uZicfsZ4QETkCAAnwCONwlcvmcjHN0V/Mcj7d4nRK5wp+JyyW7hzaPWXRjr5Tkn3SIG5PoUS399zNMAuFEoF1qm8F6nHj4uF6nb02JT1qs61aknb3p/43OylJP5BSovTNWzZr+8OqnOORik+HHiQhQgE9EJ4L3TZ6XcdXkuWnfupT1scYwTjtni3apDaPbxC27uVdK+1NbxY6kdSoHTYMGQqcLukGx1PvFmsSldp/Qc+SIc08efxRGPvQFM7SzN6UkRZRMdYl73/RVM1+iyUsbCz8qIUABrgRMpCZfPif9sslz0jeLZb0iovpK2Z+V6HEtx1uHbuid3Kdf0+hT9Y8Nvz9lfBiKMAJxUTGtYOTjwgFnubu16LxAiTrgj0ApdQ1MXmohfuKvq59s4b+PYRIAAf6AggKd/Gxu5hl6jHeZS8nb+gm+hx+Sohax7kWXd0vajpcgRMpbh/zqH7RB/QNPS1hBcHc8Lk8i3mN88cCftOzfrs9St8u90b9Y+j79xmN5ts1YNfO+hzf+M8l/H8ORTcAV2dVn7S9fkNV70py0D9ziW6xEhvsRyeuY5Jl/zUnJ6Zd3SxzZItbVzW8fgyRAAuUIaKF192jZ+fSLBpzd65ROA1b6C7FSkiRK/Unl5m/DZK1ypzIaoQQowBF64+3lRHMyXnJ5weCo4gAAEABJREFUvRuUUhP9MBS1iXcvvKZncuYFHRPGJEYpdp35wWGQBKpDoGPTdkMhxIM7nvy1S7m2mXOUqBbKUk/MWD1z5/TVM6826eHrs2YnIkABPhGdMNx3xaL0JpPnpk9XhUXblLKu8auir3mMe/FV3ZN+uLRL4qhEj2rlt49BEiCBWhDo0qzjcN013RVd0/pB1+/1iKqTFuOXZ6ye9Z3umj6/FlnzlDAgQAEOg5tY3SpMmpt2u1UkeBqfqs8xBjKslGjXV5d3S9oxqXviiNQYVwe9j1sIEOAs6BC4SSVFVOiavnjAT9r3bXPSYpdS+0qS7c8+umv6/emrZ81/aO3T/pMe7Z38CG0CVZWeAlwVoTDYP2lu+njMbNZP3I/p6jTRzt7i3WrlpV0SNsJGM8d4bSQh9aFbVFZIFTjCC6vvl7tX6+4jLhhwVsuTWnVbqOM/GiRKZLTb5/pWC/Gsx757oalJpx/eBCjAYXx/r/gyvevkOWnv63/uL0VJD1PVGLesv6BTwrpreyUPbRPv6W3S6ZMACdQ/AbdyR/Vr23PUJQPPadW1eQe8EjHHXFX/r97sLSjgRC0DJMz98BbgML95lVXv559ZCZfPTX/YcunuZqWc8SX9z/3jGS3jll7fK6Vfx0RP/8rOZzoJkEDDEBjUod/oc08el5MSmwTLWqU9GipVWeqJ6atmbXxk9axzGqYkvEpjEKAANwb1erzm5HmZvyiOSt+ib+w0v8sU4ZWA1/dKThzUIvp0v3QGSYAEGplAXFRsywm9R44Y1ePUjW63+3tTHKWkp1bkj6evnvnl9DXPOj1YZj/90Cegf6dDvxKsgcgVc9OH6LHeZWL5/iWi2oiI4C/OrVZf2SPpwMSOCWOi3SoBaXThQYCTsMLjPppatEhs2vui/mf36tu25xKddkg7e1OixivLt3n6mpmPzfjm3/wftqmExwcFOMTvI7qbJ89Nn6mflFcqP0MaLpfsntA2fsX/9Uoe3CTa1THEq8niV0BAKaVvewU7mBTKBFSvVt3OuHDAWXFtklvM1xUp0s7elKVut7xZG6evnXmWncCPkCdAAQ7hW/izL9PG6u5mmL2bYqqhRTi3d2r0/BtPSmndq0nUKSY94nxWmARCmIDH5Uk8vdspY87sPXp/bHTcclMVJaq98qnPpq+a+eojK59rbtLphyYBCnAI3rfLvrBSJs1N+5fbpeaK/oeU0j+s5/1Fz+Ts8e3ixrjdEi38IwESCGkCybEJnc7rO3bY0E79V+gej7JlS0pdaSnv9zPWzDrmFaEhXdkILDwFOMRu+qS5Ged5XBmb9ZPwL0zRlcjhsW3jlmM9b6KH7+Q1XCLYZ9XDjECnpu1PmdhvQmxqfPIip2pKmoslr+nW8GcPf/NkeyedgZAhQAEOkVs1eV5m80lz0t9WYn0oSlqaYjeJcS29tmeyq2+T6GEmjT4JkED4EYh2R6WM7zli5Oldh36jlGuvqaFuGZ/l8rq/f2TNTGcoyuyjH9wEKMDBfX/s0k2ek/ZLy+fbpJRcZieUfBxCq/fK7kmnx3lU05IkfkYSAc6CruRuh3lym5SWA87vP75J88RmMOJROhFPJVqWmjl91ayvHl379ElhjiBsqkcBDuJbiRcn6LHe90SpF7X4OiLbLNa15P96Jkex1RvEN49FI4F6JBDlikoY3WP46FE9Tv3epdROcyn9O3Gq1+taM2PNzOtNGv3gJUABDtJ7o7ucR1hF1ndK1AWmiPof7YcJbeNXTu6WdIZu9aaadPqRSUApVdr6icz6s9YiLRKb9rlgwFlt2qS2nq95eEVEP69LvFjqH7o1/O7f1s1ybL/r/dyCjAAFOMhuCIozaU7ag2L5FomfQQ28KvD/eiXF9WoSNVT4RwIkQAKlBNzKHXN6l8FjxvQ4dbNLKeeVh0rJRZ4i+e6RtTNHlB5KL8gIuIKsPBFdnEkLcjtMmpv+lVLqHj8Q2WPaxX2NVwXGuFSKXzqDJEACJOAQaJbYtPfE/hOal9qVLklX0sbyqUW6S/rPJQlh/hli1aMAB8kNmzwv7SIpLlivRE41RfIotemq7knpJ6dGDzdp9EmABEigMgJRemx4Qu+RI/q36/OVPiZbu5LNUn+YsXrm8hnfPNWlJIGfwUCAAtzId+GaeVasbvX+Q4/ZvKtbvk4Lt32CZ8H1PZO7pMa42jdyEXn5ICXAWdBBemOCoFg9WnY+7aw+o9Pdfi93EFGnWMXubx5eM/NK4V9QEAiwAAdFnUKmEJfNzexZYGWs1a1e/xmL6We1i191UeeE0bRmFTK3slEKqh/YOAmrUciHxkWTYhLan99vQo/WyS0xQcv+riglSS5LvTpj9azXHtvzWFxo1CR8S0kBbqR7e/nctEvc4l2jL99TO3uLcsm31/RMLjgpNWqIncAPEiABEqgDAbdye87oNnTMaV2HrLXEct6wpLO8ovhQzIpHVj/dSYe5NRIBCnAAwVc3q0lz0//qEvWOEmWeQH1dkz3zr+uV0jvRo1pVNx8eRwIkQALVIdA2pdUg3Rp2xXiiV5nj9e9PX0vU2hmrnhln0ug3LAFXw14usq925TIrefLc9E+VyO/8SBw9p0P8N+d2SBjjVuIW/pEACZBAPRCI8cQ0m9hvwuAOTdqiS9pXcgmVKsqaM33VzNtL4vxsSAIU4Aaiffmc9G7e3IzV+nJna2dvHpf6/uoeSQXdkqMG2Qkh/cHCkwAJhAABNazzwDHDuwz5Ril1VEr/dPix6atmvVkapddABCjADQD6Z/PSJyixVimRbuZyzWNci68/KblbcrSrjUmjTwI1IcBZ0DWhxWP9CbRPbTXo7D6jC9wu1yaTrpRcPmPVrNV8s5IhUv8+BbieGU+emz7NbckXSjlGNIoHNotZOKl70gi3W/jOXgmPv8aohf5OWY1xXV4zPAgkRMe3Ob//mZ2TYxMXOzVSMkgVu9fq1vBIJ42BeiNAAa43tCKT5qa/o7N/WDt70y3gwxd2Ttg4onXsKDuBHyRAAiTQiATcyh1zZu9RI05q1W2hLkahdqIf7JopJQunr5n5G8Tp6o8ABbge2E7Gu3vnpq/QgnuJyR5LjH7RM9nbIcFzskmjTwJ1IRA8XdB1qQXPDQYC/dr2HDWqx6nblKgDpjzKUk/MWDXzHyZOP/AEKMABZnr5l5knWT4vxnudlya0incvvO6klJMSucQowLQjOzvFtyFF9hcgwLVvkdi097n9xsVEezzfOFkrdb0eF/70vpXPxTtpDASMAAU4YChFdzlnDFfKu1z/MHY02Z7SMmbRZV0SR3G81xChTwLhRSCcahPriWk68eQzT06NT1rk1EvJ2QnK+9UT659v5aQxEBACFOCAYBS5fG7aJUqsZVp8bXvOSiT37A7xq4e3iOVkhgAxZjYkQAL1T0D/hrnH9xw5slPT9lgvXHJBJf2LiopWPbL62T4lCfwMBAEKcAAoYqazSxQmXNm5afE9/NMuCXt6JEcNthP4QQL1QIBjwPUAlVk6BIZ26j+mf3v7rUpFpYntLPF+/ciqZxxbBiKle+jVioCrVmfxJIfApLnpmKTgzHR2Kdn18x5J+a3iPY6NZ+dgBkgggAR0S4XLkALIk1kdT6BHi86nndZ1yHd6T4Z2elOJlrI+nbFmpv8LZHQ6t9oQoADXhpo+B68R1C1fmJV0vojRLrXh2h7JycnRfIWgRsSNBEggDAi0TWk1cELvEUeV3wxpsdQ/ZqyaNT0MqlenKtT1ZApwLQhimVG+L2OpPtXpikmMViuuPSm5a2yUaqLTuZFAvRNgF3S9I+YFSgmkxCZ3OefksW63y7OxNElEydTpNF8pdfmjANeQ3uQvs1uJ5VuslDj2m1vEuhf9onvyEI9bYmuYHQ8ngVoTUFyGVGt2PLHmBOKiYltO7De+o/ZXmLOVss1Xfmji9GtGILQFuGZ1rfPRl83JbSeqGC1fZ3y3d2r0/Mu7JY7UX0SyrDNhZkACJBDMBDwud/y5J487JTU+2X+Z0nnTV8/8PJjLHaxlo2hU885AfD1SsESUdC09xRraPGbR+HZxY0rj9EiABEggIgiM7zliZIuk5s4yJT0+fOaM1bPmzfx2ZmJEAAhQJSnA1QB5xZy8TiXiqzqVHm6d2ipmyamtGnWNb2lR6JEACZBAwxMY1X3YmHZN2jgirEswJrdAvnxyy5PJOsytGgQowFVAumxeRnef5OuW77HiO7R57IgqTuVuEqhXApyEVa94mXk1CJzaedCYHq264kUOJUvilBqen+Ve8Ld1szgZtRr8KMAngHTZ3MyeHp+1WCnVrvQwu+VL8S2l0Zgery36e1nyo0cWJNCIBPq37TWqf7temBtjfx91d/RAd7G16JGVzzVvxGKFxKUpwJXcJlt8xbdYlBj7p9aI1nFfUXwrAcZkEiCBiCXQo2XXM/q377NMAyjWTv9sqr4+5V382NpnTOMFyXTlCFCAywFB9PJ5WSe7xYdZfuYJzgvxHdgs+nTspyOBRiZgX55d0DYGfgQJAVjNGtppwFpdnALtRCnpWey1Fjy+8rk2iNMdT4ACXI7JFV+md3X5vHOUSIvSXd7RbeJWUHxLadALGgJKKbvLL2gKxIJEPIFOTdsNPb3rUBjryAEMpaRbkcu74K+rnzS/p0imKyVAAS4FAe/iJVktfS5rvihpibh2tvj2axp9qg5zIwESCAYCLENQE2iT0nLAqO7DduhCloiwSA+PuBc8tPI5+01xOp1bKQEKcCmICxZbSbEFxXOVqA6lSdYZLeO+pviW0qBHAiRAAtUk0CKp+cnDuwzZrA83Y8K93co7h+uENRG/jQKsYeDFCvEF6Z+KqL5S+jewWcyiQS045luKgx4JkEBwEAiZUrRPbTWof/s+MFtp2YVWMiS3UH1238rn4u04P4QCrL8E+VbGe0opZ4JVz9To+SNax47Su7iRAAmQAAnUkgAmZmmHCa0mh9MTXMWf3LfjJdrN10QiXoAnz0l/XYmcpVnYW7sEz4Iz29G8pA2DHyRAAiRQRwK6FTyqfWqb+WXZqFEJaXkflMVrEAqzQyNagCfNSX9GlEw297RZjHvRxZ0TRps4fRIgARIggboTGN5l0JhmiU0W+OU0YfqqWe/6xSMyGLECPHlu+u+UkpvMXU+Odn01qVviGSZOnwRIgARIIHAExvQ4bVRidPxXJkf9+3vRjFWzXjHxSPRrKMDhgWjyvMxf6Jr8VTt7i/eoVVd0TzpFfyEikocNgR8hR8CyLD16EnLFZoEjl4Ca0GfkKdGeqDUOAiVXTV89634nHmGBiBOcyfMzTxPL9y9zn2Ncsv7q7sl9PUo8Jo0+CYQCAUVDHKFwm1hGPwJu5fac03dcT4/b871J1k+Rf5yxZtYVJh5JfkQJ8BULMnqIz/eRucFupbZefVJyJ49bqjUjz5xHnwRIgARIoHYEPC53/E/6jG7pErXHycGS16avnhVx829cDoAwD1yxKL2Jz2t9ruPJDAwAABAASURBVKtpXpN16KoeiQkxbsV3V2oo3EiABEigoQjEeGKajes90itipftd893pa57t4RcP+2DECLBVZL2ruzo6l97RvMu6JaQnRbnalMbpVUmABwQbAY4BB9sdYXlqQiAlNrHziO6nohVc8vIGkSZ6ePDzSHqNYUQI8KS56a+JKNO94TuzXfy3rWI9EfWkJfwLOwIcAw67WxpxFWqV1KzfwPZ9MSnLQuXRSPK5ij9BOBJc2AvwpHnpd+mbeoW5mf2aRS/qmRp1ionTJ4HqEOAxJEAC9UOgW4tOp3Zt3mGhyV2JGqrHg/9j4uHsh7UAXz4vc6Ky5CFzA1vGuxeObh1nWsImmT4JkAAJkEAjEhjUod/opgkpfiIsl85YM/PPjVikBrl02Arw5C+z+yvL+7ahmOBRKy7rnDjCxOmTAAlUlwCPI4H6JzDmpNNHxEXHLHeuZKk/TF8907FU6KSHUSAsBfiypRlNLVX0ie7KiMO98rjU5p/3SDpZKb58QvhHAiRAAkFIQP9eu87uPaZflMu9wSmepV54eNXM3k48zAJhKcCePN+7Sqm2uFcupX64qkdSqselbDFGGh0JkAAJVJcAj2s4Am6XO+6svmNaaDE+gKsqJfEuJe/fF6avMAw7AZ48J/1vopR5lWDRxZ3j0xI9qiVuJh0JkAAJkEBwE4j1xLQY2WM41gcXlZRUdU9wFb9cEg6vz7AS4ElzMy8QJXebWzSwWczSNvGesO2+MPWkH5kEuA44Mu97w9a6ca7WIrFp7x4tOjsvbhBRP52xauatEmZ/YSPAl89J7ybifc3cn+Qo17IRrWNHmzh9Egg3Aoq2oMPtlrI+fgT6t+8zKikuaYmTpNRTj6yaNcSJh0EgLAT4/JUWxgk+1OMGibgnesxg1+Ruif0RpiMBEiABEghNAuN7nj7UpVzbTOktJe89vubxVBOvb7++8w8LAU7IzHhFg+qlne6BltzLuyZ5o9wqHnE6EiABEiCB0CTgVu6Y8b1GeHTps7XD1q7IF/0WAuHgQl6AJ83LuEWJXGJuxqg2ceuaxbq6mjh9EiABEiCB0CWQHJvYaUjHfs7SJD30ctaM1TPvDd0alZU8uAW4rJwVhvS472BlWU+bnW3j3Qv7NY0+1cTpkwAJkAAJhD6Bzs06DGud3HJ+WU3UAw+vnTm2LB6aoZAV4CuXWclKWf8z2KNc6vuLOieeZuL0SYAESIAEwofA6d2GjIp2R+PFDXalXF712t/WzTKvl7XTQu0jZAXYm5P5dyWqQynw9MndElNdSqJK4+HgsQ4kQAIkQAKlBPTvveusPiM76i7oH+0kJW08xdZLdjhEP0JSgCfPyTxft36vMczHtY3bnBztamPi9EmABEiABMKPQIwnptmpXQbbVrJKaqcufGT1Mz8vCYfeZ8gJ8OQvs1uJ8v3boG4e517cp0n0MBOnHyYEWI0qCdAQR5WIeEAYEmib0mpg86TmC0zVLPE989DK5zqaeCj5ISfAlqsY4muvA9NdEvsv6ZQwKJSAs6wkECgCuivOClRezIcEQonAGd2GnOZ2eTaXlFkluF3eN0rCofUZUgI8eU76dUrkrFLEvgs6xx+NdquE0jg9EggXAqwHCZDACQh4lDt6bM9TMecnv/Sw06evnumYIS5NC3ovZAR40oLcDiLWE4Zo12TPwg4JnpNNnD4JkAAJkEDkEEiJTe5yUosuX5saK1F/m7FqVkhZQAwZARZv4duiSlq7WHJ0VvuEEQY8fRIggTAiwKqQQDUJ9Gvfe3SMJ3pV2eHWW/fteCm2LB7coZAQYN31fLcSMQY28n/WLTHBowTmyYKbLktHAiRAAiRQrwQm9B7ZSYk6bF9EqV4Jabkz7HAIfAS9AE/+Mru/KPmbYTm4RczyJtGukJzxZupAnwQCQYCzoANBMejyYIFqSCDWE9N8aJcBu8pOU7fOWPPMmLJ48IaCXoDFVfyywRfvUatObxk7ysTpk0AkE+As6Ei++6y7P4GOqW2HNE1IXeikWb4XnXAQB4JagCfNSb9TsxuoHbbsn3VL6oAAHQmQAAmQQBgSqEOVRnYfNliUOliSheoyfdWsv5SEg/czaAX4ii/TuyolDxp0A5vFrE70qJYmTp8EIp0Au6Aj/RvA+vsT8Lg8iYPanbzdpCklvw/2WdFBK8CWy0LXsz2bzeNS35/ROnakAUufBEhA9MO+soR/JEACDoGuLTqcGh8d5yxN0juCuiu6nADr4gbBpruerxdRI6Tkz3txFz36K6KEfyRAAiRAAiRwAgJjTjqti96drZ1o1Rgyfc3M30iQ/gWdAF+8JKulKOsxw6tDgmdxq1hPDxOnTwIkQAIkQAKVEYiLim3ZrUVnZ22w8snfHv7myfaVHd+Y6UEnwDEFxS8qUYmAov0D53WMb7AXLeCadCRAAiRAAqFNYGD7PqPcbvf3di2UinMVe16ww0H2EVQCfPmc9Mu06J5nGJ3VIW6fHv+NM3H6JEACJEACJFANAmp0j1NhrMlrH6vk7OmrZ062w0H0ETQCfNkXVooSedawSYpyfd0jOWqoidOvbwLMnwRIgATCh0CTuJQerZNaLHJqZMlTf1s3q4kTD4JA0Aiw253+F6WkaSmTvEu7JmIgvTRKjwRIgARIgARqRuDUroOHK1EHcJZSqpm7SJylrUhrbBcUAnzZvIzuGtItBsbJTaKXc82voUG/IQjwGiRAAuFHwO1yxw3uePIeUzOl5JZHVj/bx8Qb2w8KAXZbvkcMCCWya2SbOLMEySTTJwESIAESIIEaE+jcrMOwaHfUWnOiZfmeMuHG9htdgCfNzxypRF1oQJzVIf6wW4lb+EcCJHBCApZlqRMeUO2dPJAEwpvAiB7Dk3QNzYSscTNWzTxfxxt9a3QBFq/v74aC7nZe0SM5aoiJ0ycBEqicgFKKlrAqx8M9JOAQaBKX3K1pQuoSJ0FJULSCG1WAL5+XMUkpGVQKpejCToktS8P0SIAESKBBCPAikUHgjG6n9Nc1zdROb6rT9DUz8bIfHW68rVEFWPl8j5qqt0/wLG0S6+pk4vRJgARIgARIIFAE9DhwatfmHdaY/JRP7v3r6idbmHhj+I0mwJPmpN+plGpbWun0czvGDy4N0yMBEiABEmgQApF1kf7t+5yulGuvXWulkqMsd6O+srBRBPiKRelNlFj32hD0x+AWMeuiXQqD5DrGjQRIgARIgAQCT8Ct3FGDOvTZ5+Ss1PWPrn3GDIM6yQ0VaBQBtgrVH0U/faCSbpdsPa1lLF81CBh0JEACJEAC9UqgS7OOw3V3tL0sCRfy+qzH4TeGa3ABvmJOXidR1m2msj9pF5+jRPQm/CMBEqgBAS5DqgEsHkoCfgRKlyVZSNLiM3r6qpk/QbihXYMLsE8VOF3PsPfcJTlqQENXmtcjgXAgoLgMKRxuI+vQCASwLCklNslZlqRE/bURiiENKsBXfJneVYn8n6noxI4JjToDzZSDPgmQAAmQQGQROLXrkK66xoXaie6DHTRj1TMXSwP/NagA+1zWH039UqJcy5rFugDAJNEnARIgARIggQYhkBgT37Z5Yuoy52LK+rMTbqBAgwlwSetX/cLU69yOCZFudMOgoE8CJEACJNAIBIZ1HtxLXzZfO2x9Zqx+ZhICDeUaTIAtl/WAqVRKtOsrtn4NDfokQAIkQAKNQSAuKrZl66QWZa1g8TXo6wobRIAnz8vUTxnqSgP43A4JrUyYfoQSYLVJgARIIAgInNJl4CBdjBzt9Ka6T18z8xodaJCtQQRYfL4/mdqkxLjY+jUw6JMACZAACTQqgWh3VEq7Jm1WOIXwqfudcD0H6l2A7davEqdf/dz2CWz91vNNZfZBT4AFJAESCCICQzqefIouToZ2opR0nLFq5o0I17erdwG2fGV96mz91vftZP4kQAIkQAI1JRDlikro4veiBhHl9NpKPf7VqwBPnpvVVyn5qSk/W7+GBH0SqDuBkLWEVfeqMwcSCDiBAe36nqqbvwftjJW0mb5q1g12uB4/6lWALSmeasrO1q8hQZ8EAkNA0RJWYEAyFxLQBNwuV2zXZu2/10Gz3WUC9eXXmwBfvCSrpRLlrPs9q21cs/qqBPMlARIggRAhwGIGMYGT2/UeLJZkoYhKSdfpa54+F+H6cvUmwDEFXueFC7Ee1zet4j0n1VclmC8JkAAJkAAJ1JVAlMuT1Dy52WonH0vd4YTrIVAvAnzZUitOiXWrKe/wFjF5JkyfBEiABEggQgmEQLWHduyHxqIPRdW9uOOnr5k5EOH6cPUiwJ68zOtEVJLoPyWy5+Qm0cN0kBsJkAAJkAAJBDWBhOj4NgkxccudQvrkN044wIF6EWBLWbebcp7cLGa77kuvl+uYa9AnARIgARIggUARGNCuT5zJSyl1zRPrnw+E/QqTpeMHXBgnz02/VLd6u5ReIeuMljFs/ZbCoEcCJEACJBD8BNqktBrgdnk2mpIWFhU5Q6omLRB+wAXYssSZut0xybPK41JxgSgo8yABEiABEiCBhiLQq3W3I+ZaulE5xYQD6QdUgCfPzzxNKYFJL5TRN7ZNXE8EgsWxHCRAAiRAAiRQHQI9WnYebol1qPTYpjPqwTxlQAVYfL7flhZWUmNcy5KiXG1MnD4JkAAJkAAJhAoBt3J7OjZp950pryXKmdtk0urqB0yAr1qYA7G91BTozLZxzU2YfjAQYBlIgARIgARqQmBAh74D9PEF2olS0nPGmmfGIBwoFzAB9hYXOe9QjHap72h4I1C3iPmQAAmQAAk0BoEYd1STpLiklebals93nQkHwg+YAFsi/2cK1L9p9FETpk8CwUAgHMvAlzGE411lnYKNQL82PRPLyqQufXzN46ll8bqFAiLAk+ZnjlQi3UqLUjC4eczg0jA9EiCBeiKg+DKGeiLLbEmgjECblJYDlHLvQIpSElvki7kS4UC4gAiweK1rTWGax7lXRLtVgonTJwESaGwCvD4JkEBdCHRq1ma3OV+L8PUmXFe/zgL888+sBP0g7oz/nt4yNrmuheL5JEACJEACJBAsBE5u0/NkXZYi7bANmP7N0wHp5a2zABd7MiajRHBul+zomOjpjzAdCZAACQQDAZaBBOpKIMYT0ywxOsGZjCVeV0AmY9VZgHXFnO7nk5KjnWa6TudGAiRAAiRAAmFBoE+bHlGmIkqsq+/b8VKsidfWr5MAX/5l5kmi5LTSixed1ioWzfTSKD0SIAESIIHGJcCrB4pAh6ZthyilfizJTyUkpuVfVhKu/WedBNjlKlsTlRztWhXvUc1qXxSeSQIkQAIkQAJBS0C1S239vSmdJWX6Z9Jq6tdJgPXFfqmdvQ1vEeu2A/wgARIgARIggSAgEOgi9G/Xp7fO06ed3tSox1bN7K4Dtd5qLcCT52X8RF/VmJv88aSUqCE6zo0ESIAESIAEwpJAXFRMq9iomNWmcl6Xq05rgmstwJZPLjeF6Jjk+V4pqXUCoUt0AAAQAElEQVRewj8SIAESIAESCAECJ7XsYtuGtovq802y/Vp+1Fo0lfI5L14Y3CSmZYXXZyIJkAAJkAAJhBGBzs07YqltoV0lpXo9tO6pfna4Fh+1EuBJczPOE1FJov+UqP3tkzx9dJAbCZAACZAACYQ1gSiXJyk+Om6NqaTb63J6g01adf1aCbAS38/MBTomureYMP1jCDBCAiRAAiQQhgS6tejkNdWyfOrnJlxTv1YCrC9ysXb2NrhZjJmIZcf5QQIkQAIkQALhTKBb806DdP3ytBOlpOMjq2bVahJyjQV48pzM88Wv+7ldoqev8I8EyhNgnARIgATClIDb5Y5LiIn7xlTPkrJJySatOn6NBViU1+nvbp/A7ufqQOYxJEACJEAC4UWgW/MuWndL6qQDji6WpFTvs8YCrC90icl6ELufDQr6JOBPgGESIIEwJ9C1eYeBuopON/SM1U8bs8w6uXpbjQR48ry0i5SoOGSt/f0dk9j9DBZ0JEACJEACkUUA3dCJ0QlrTa0tS9W4FVwjARafcmY/s/vZYKdPAiRwDAFGSCBCCPRo2cmpqW6UOvroJFYRqJkAi3WByY/dz4YEfRIgARIggUgk0KlZR2c2tChpU9PZ0NUW4J/NzTxDlEoAZCVymN3PIEFHAo1HwNJ9Xo13dV65EgJMjiACbpcrNi46br2psiUW3pFgolX61RZgl3jPNrk1jXVtMmH6JEACjUNAKWU1zpV5VRIgAUOgQ5NW+SZsiXJ00qSdyK+2AIuos6T0r2dKdGmIHgmQAAmQAAmUEohAr2vzzj1MtZWSkTO++bfdU2zSTuRXS4Av+8JK0d3Ow0szsvo2jT65NEyPBEiABEiABCKWQEJ0fBuXcu9wABTnOI1VJ62SQLUE2OPOcJrV0S71fYxLpVSSH5NJgARIgARIIKIINE1I3S0idp1rMg5cLQG2RBxFb5/gPmhfhR8kQAIkQAIkQALSuVl7/27nak/EqpYAa77O8qM+TaOb6jg3EiABEiABEiABTaB9k9Z4J3CBDooeB+74yMrneiFclatSgC9fkNVbj/+2KM0op0NCVN/ScNB5LBAJkAAJkAAJNDQBt3LHxEbFlC1HUt5qtYKrFGBXcbEz/psc7VrvVuIW/pEACZAACZAACTgE2qa0znEiIoERYEuVrWvqnhxV5HcBBoOKAAtDAiRAAiTQWAS6Nu/Ywbm2Eqfh6qRVEKiyBSxijTbnndwkursJ0ycBEmhcArSE1bj8eXUS8CeQEpfUVYk6YNJmrJ41wYQr808owJfPyzhVZxiHk/WBu3QXdBuE6Ugg2AhESnl8fhVVtITlR4NBEmh8AsmxiducUih1hhOuJKB1tZI9OtklPieDpjHuPTqJGwmQQCMSOOE/bCOWi5cmARIQaZva0jIcLKtMP01aef+E/8+Wr0zBu6R4nIzLZ8I4CZBAYxLgtUmABIKBQJvUNm1NOZQlI0y4Mv+EAqxERpkTuydFtzNh+iRAAiRAAiRAAscSaBKX3E2nZGonolTc9DUzB8oJ/ioV4MvnpHcTJc1Kzz3aLNbVtTRMjwRIgASChgALQgLBRCA+KrbsbYF+vcgVlbFSAXb7DSAnelxbKzqZaSRAAiRAAiRAAmUEWiQ1d9YDK3XibuhKBdgnljMBq2OSJ7cse4ZIgARIgASCgwBLEWwE2qa2TvUr00i/8HHBSgVY+Qlwt+Qo0xV9XAZMIAESIAESIAESKCHQKqlZTx0yKwbbPbp+ZpmBDr3Df6tQgC9YbCWJKGPzubhdgqe38I8ESIAESIAEgohAMBbF7XLHRbncG03ZfEUupzfZpBm/QgGOK8h0pk9Hu2WDR4nHnECfBEiABEiABEigcgIp8amHyvZWvh64QgF2+XU/t4n3HC3LiCESIAESIAESIIETEWib0ira2W+pmrWARclQc3KX5CjbFKWJH+MzQgIkQAIkQAIkcAyBNiktOzoJSgY54XKBClvAlmX1M8e1j/O0M2H6JEACwUNA/5+q4CkNS0ICJGAIJMbEQzfTTPyhtU+bOVUmyfaPE+CL5qWlKqVsc1r6vzs3NcbV3j6SH+UJME4CjUpA/5/SPGyj3gFenAQqJxDtjt5l9rp9bqdRa9LgHyfAsSKO6SyPS7YL/0iABEiABEiABGpEIDkuKcOcoHurqifAyudyDmwa7U4zGdAngWMIMEICJEACJFApgRaJqWUNXCUnV3Rg2QGley1VNv7bMsFjFhOX7qVHAiRAAiRAAiRQFYEWSc2ammOUlOmqSYN/nADrxP7a2Vv7eHeyHeAHCZCAPwGGSYAESOCEBJokNOlRdoDqMuObfyeUxUtCxwuw3wzodgkevgGphBM/SYAESIAESKDaBDzKHa2UciZiiWQe1w19jABf8WV6V6VUfOkVDsW6VUppmB4JkAAJlBDgJwmQQLUIxEfHHTAHWn7zq0zaMQLsdZVNwIpzqz3mIPokQAIkQAIkQAI1I5Aan5JvzlB+vcsm7RgB1gPFzvhv0zh3ljmIPgmQAAmQgE2AHyRQbQItE5rHOgdb6sRd0FqAnQPaxruPEWcnEwZIgASCgoBlWSooCsJCkAAJVEigeVLTNs6OCpYiHSOyliXdzcGt4zz+LxU2yfRJgARIgAQilQDrXSMCybEJsAldXHpSy5nfzkwsDdveMQKsUzprZ2/NYt2t7AA/SIAEgpKAUoqmKIPyzrBQJOAQUC6l9plYboE6ZmWRI8CXLbXilBKzcNib6FEtzUn0SYAESIAESCDCCdSq+lHu6CPmRJ8Sp5Er+s8RYCnKcbqfXUp2633cSIAESIAESIAE6kAgLjomx5zuElWxAHuKfc6OWJdyFNucSJ8ESIAESIAESKBmBJJiEr3OGZbVxQnrgEu70s1yBDgpxpVbmhhUHgtDAiRAAiRAAqFEIDkuKcqU1xJxdFb0X5kA+/VNN4tx+/Q+biRAAiRAAiRAAnUgkBqbmOScrqyKBdiSsh1NY9wxzgkMBAkBFoMESIAESCDUCCTFJbUwZVaW9DRh+GUtYEscZW4R4+JbkIR/JEACJEACJFA3AgnR8a11DiVrgZWKe3zN46k6bm9lAiziCHCTGDeXIAn/gokAy0ICJEACIUpAufzWAhdJtKO1tgCXWwNcEB+lnCZziFaYxSYBEiABEiCBoCDgvxZY+VzOTGhbgP3XALuV7A2KErMQJEACpQQq9mgLumIuTCWBYCPgvxbYEt+xLWC3t9jpco52qYxgKzzLQwIkQAIkQAKhSkCPAztrgZVSjpnnkhawkuamYrEelW/C9EmABIKXgP5HtoK3dIErGXMigVAnEBsVo0wd9D9tMxO2BVhZykmIdauS2VrmCPokQAIkQAIkQAK1JhAbFetxTrbKGry2APsrcrxH+ZwDGSABEiABEmhEArx0OBCIj4p1bGsosZweZ1uARXxOQnyU22kqh0PFWQcSIAESIAESaEwCcdGx8eb6lhKnx9kWYK24TkKSR5U1lc0Z9EmABEiABEiggQmEy+XiPLGJfnVxGry2AFtSNgacFO1ymsp+JzBIAiRAAiRAAiRQCwIxUdGp5jQlZXY2bAEWq6xJrMeAnaayOYE+CZAACZAACZBA7QhEuaNg3tmZX/W3dbOaIKcSAfZbhpTgdpW9uQFH0JEACZAACZAACdSJgCXWEZOB2+uyu6FtAVaW5YwBx0cpp6lsDqZPAiRAAiRAAiRQewIe5XGMXCmruEyARSk0j5GzFe1SbAGDhAg/SYAESIAESCAgBNxud47JyLLcdqPXddm8bLwqyU5XIofsAD9IgARIgARIgAQCRiDK7c4zmblcJb3OLnEVx5lEpcQ5wKTRj1ACrHbQE+DLGIL+FrGAJOAQ8Lg9jpVJnyV2r7PLVSz2OLB9lGV/8oMESCAECCil+B8bAveJRSQBEIhyRXvhwykl9rpgl8+lg0iBU8J/aHCgi3QCrD8JkAAJBJSAx+V29NXylQqwy6vKWsBCAQ4ocWZGAiRAAiRAAppAjCdaf5rNSkBIt4BFIWA7iwJsc+AHCUQyAdadBEgg4ARi3FGO1up+55IuaI8qE2AXu6ADDp0ZkgAJkAAJkIDb43GXUVAlLeBivy5oSzipowwQQyRAAhFIgFUmgXohEOOOdl50ZFmlY8AeV1kLWIeserkyMyUBEiABEiCBCCYQ7Y5yBFjEjAH7dUFzBDiCvx2sOgmQAAmQQL0RiI6KijGZO2PA/rOgdaLztgZzIH0SIAESIAESIIG6EYhylQmwSOkYsM+/C5od0MI/EiABEiCBiCRQr5XWXdCx5gLOGLBbFSmTqAOUYAODPgmQAAmQAAkEiIDH44kvy6p0DNhrRTmiq/uf/aZJlx3KEAmQQHAQ0P+jTkFoC9pBwQAJBD0Bl3JFmULq4V67NexyieUYiFZiucwBjeHzmiRAAicm4P8PqpRyHp5PfBb3kgAJNDYB/c/q//xchPK4fD7LDiDis8RvmjRS6EiABEiABEiABOpKwLK8TmNXi7Gtuy5flM8O2JkrYRe0NNYfr0sCJEACJBCuBLw+nyPAuo627rrcEu2XqCjAwj8SIAESIAESCCwByyoTYCVSIsBale0ALuUTi13QAEHX4AR4QRIgARIIZwI+PwHW9bR11+WRY1SZAqzJcCMBEiABEiCBQBLwWj6vyc8ZAy4uTrKVGDssi5OwwIGOBBqWAK9GAiQQ7gR8Pstr6qgsZeuuK79JSV906Q5nnVJpnB4JkAAJkAAJkEAdCeguaEeAdVYlAvzBUJWrI2azFwebCH0SIIHgIuC/kNCyLBVcpatdaXgWCUQCAa+3uGzCs7IKUWf/df2IS5FXCuwAP0iABIKOgP8/LA1xBN3tYYFIoFICRV6vLbo4QI8BZ8M3/8+HEYEr8lmZ8OlIgARIgATqmwDzjxQC+cWFdrcz6qu7rjLg2wKs1diOICHPZ+XApyMBEiABEiABEggMgUJvflkXtIitubYAi1USwWXyvT7/MWEk0ZEACZAACZBAwAlEUoa6Bew3hUP5CbASp9s5v8jiGHAkfStYVxIgARIggXonUFBcrDubSy6jA34CLJYdwa5cLwUYHOhIgARIgARIIFAEiooL9NBvSW5KVLqIiN0FreSYLmj/fuqSo/lJAiRAAiRAAiRQawIF3mLH0qRSJY1eW4B1jn4tYPFfLKx3cSMBEiABEiABEqgLgSJvsWPoSousrbm2AFt+k7AKinSsLlcJnXNZUhIIaQI0xBHSt4+FjzACPq832lTZ5VP2vCtbgEXJUbMjx+vVPdImRp8ESIAESIAESKCuBLw+b6LJw6XUEYRLBFhcPyICl11kOSqNOF2YEmC1Qp6A0gNJIV8JVoAEIoSA1/I2M1X1ua0DCNsC7PP57AgSCnwSD5+OBEiABEiABEig7gS0+GJycxOT09QBNx9E2BZgt9vtCHBhsS8VO+hIIIwJsGokQAIk0GAE8gvzfzAXs8Taa8K2AOeJ19npE2luxjs82gAAEABJREFUdtInARIgARIgARKoG4Hcwrz0shzUfhO2Bfh/Y5v47ZSEQp9lv6nBHESfBEggjAiwKiRAAg1KICs/z9FUJSXjvyiALcAIWCI7pfQvq8hy3o5UmkSPBEiABEiABEigFgRyirL8XkVYrgWM/JQlzjhwdoHXXiSMdDoSIAESCCMCrAoJNDiBrIJ8PbpbctmKW8CqTIDTiiy+EamEFT9JgARIgARIoE4E8gpz3X4ZHDsGXLKjrF/6aIHXaS6X7OMnCZBAsBGwLItGc4LtpgR7eVi+RiGQV5gfby6spIIuaL1zm3b2llbgVXaAHyRAAkFLgIY4gvbWsGAkcAyBIm+Rs7rI65btZqczCUvE7QhwRqEvwRxAnwRIgARIgATCgECjVEH3VHl9ltXeXPyuAVM2mbAjwF6f2moS831WCxOmTwIkQAIkQAIkUDsCWQW5MLxRMgZsyR7/XBwBlvjEHWaHzyftvBZfS2h40CcBEiABEiCB2hDIyM045JynxOlpRpojwLNPV3lSZiLLnV7oO0apcXBdHc8nARIgARIggUgikJ6f7qwqssRyxn/BwBFgRLRz1PlQrpfGODQQbiQQrAT02JIK1rKxXCRAAiUEjuZmWyUhEWUp59W/ov+OEWBLysaBDxZ4c/R+bgEjwIxIILAEOAs6sDyZGwnUB4Hsgpw4k6+lVOUtYP047bSAj+Tj7UnmNPokQAIkQAIkQAI1JVBYVOC8B9hy+Tb6n39MC9hniTMTOq3Ql+h/IMMkUBcCPDcwBPQTtGVyYhe0IUGfBIKXgM/ytTWliy72VC7ALsvjrE/KK7I6mJPokwAJBAcB5Wf9il3QwXFPWAoSqIxAdkE2JjOXdkFb6bcPvdF55wLOOaYF/MaExHVIhNOP2S3zi6w0hOlIgATqQoDnkgAJRCKBQ9lHHbvPlqhvyjM4RoBLd64t9WVfXrGzNtik0ScBEggOAuyCDo77wFKQQGUEDmYdyTP7lFjrTdj4xwmwJbLK7NyTXZxlwvRJgASCi4BSSv+7BleZKioN00ggUgmk5abHmrpbSlXdAlZW2UE/5HpLzGeZHOiTAAmQAAmQAAlUi0BeYX5rc6AWYGeI16Qd1wL2istR6YxinzN92pxAnwRIgARIoLoEeFykEij2eXN9ltXZ1D+v2PWtCRv/OAG24nzOQUVeq5tlic8cTJ8ESIAESIAESKBqAkdzjjpzqCyRLfcNvdExSWnOPk6AZ5+ectSyrN2lB0QfLvA5mZSm0SMBEiABEiCBKglE8gGHso/4m508rvsZbI4TYCQqEacbel9u8Y9IoyMBEiABEiABEqgegcPZaf69x9UXYBHlHLw3u6hQ+EcCJEACJEACJFBtApn5OanmYEuJo6kmDX6FLWDxO/hQvjceB9KRAAkEFwE9VKQ7q4KrTCwNCZBACYHC4kJnApbyuo9bA4yjKhRg5VZrsBMut8jqBp+OBEiABEiABEigagIZeVl461FKyZFW9rShNzovOipJK/msUIBfH52yRe+23wdsiTRLK/Tt0vFQ21heEghrAoqGOML6/rJyoUtgX/r+fU7pLbXECZcLVCjAOMYSayl8uG2ZhTAojSAdCZAACZAACZDACQjsTz/oDA/p8d/FlR1aqQArKVPtHRnFuiFcWRZMD0oCLBQJkAAJkECjEMgsyPZ/m+CiygpRqQB7xeU0mw8XeJ33GVaWEdNJgARIgARIINIJ5BcXwJZGJ8Mht0nc1yZc3q9UgN8el+wIsNeSbgVeK7P8yYyTQJASYLFIgARIoFEI7Ev7YXPZha2v7uvyy/yy+LGhSgUYh1lW2TjwjqzijUijIwESIAESIAESqJjA3owfCpw9lqp0/BfHnFCAlSobB96SWXicHUtkQEcCJBBkBFgcEiCBRiOQlpPeouziVqXjvzjmhALs8xsHPpDra4oT6EiABEiABEiABI4n4PX58r0+by+zxx0b4wzlmjR//4QC7FLinFzo9fX2WVLkfzLDJEACJBBkBFgcEmg0AgcyD32vL250dcMdfa87quOVbubACg94Y2zyYbEERjmwP2pPDseBAYKOBIKBgGVZKhjKwTKQAAmUENiXvj+jJCRiWXLC8V8cd0IBxgGW33rgrRlFR5BGRwIk0DgE/F+vomgJq3FuQjBflWVrVAIHMw+XvYDBZS2sqjBVCrByqfkmkx3ZRaW2LU0KfRIggYYk4P8PyxZwQ5LntUjgxASKfEU5hd6ifuYot9fzmQlX5vv/P1d4TLFbfWx25Bdb/Qu9Vo6J0ycBEmg8AmwBNx57XjkoCTRqofamHfhWF8Ctne5/ljV3Dr3xsB0+wUeVAjx7VNIhff4q7bC5N2cV4SII05EACZAACZAACWgCO4/sddb/WiKf6KQqtyoFGDlYYjmt4O+OFBYijY4ESIAESIAESKCEQFpORo+SkP35qf1ZxUf1BFi5HAE+nO/rXlmeTCcBEiABEiCBSCOQmZ+5QzdU26DeliW504ZMOaEBDhwHVy0BfmtsyjLLsuzp1bjIwTzvVpxMRwIkQAIkQAKRTmD74b27DQOlynqMTVplfrUEGCcrJR/Ch1t/tLDsZcNIoBMRQiABEiABEohEAvvSDyT41bta3c84vtoCbElZN/TOrKJknExHAiRAAiRAApFMwGt5C/KLCpzlRz7xVWsCFphVW4C93uSPcAJcnpfLkcCBrowAQyRAAiQQiQT2ZfyIlUExqLseql1/1+Bf7Ue4Oq7aAjz7TJVhiSwrzdS9JbPou9IwPRIgARIgARKISAI7Du/NNhVXoqrd/Yxzqi3AOFikzCjHt0cLnTVPwj8SiGgCrDwJkECkEjiafbSLqbvPbVW7+xnn1EiAdfPa6YY+nO/tqVvEekM2dCRAAg1NQP8/qoa+Jq9HAiRQRuBITtomn+XriBQthml3DbxlHsLVdTUS4LfGp67W//T2dGt9sZbbM4rWVvdCPI4ESCCwBJRS+t8wsHnWJjeeQwKRSmDTD1sP+NX9Hb9wtYI1EmDkqES9Dh9u9dGCLPh0JEACJEACJBBpBA5kHTrJ1NmlXG+bcHX9mguwy3rLZP5jnref1xKvidMnARIggcgiwNpGKoFD2Uc2iCVtUX/dFZV256CbvkC4Jq7GAvz62CZrTTe0vniTbeyGrglvHksCJEACJBAGBDb+sBUvKiqpiSWzSwI1+6yxACN73Q39Cny4NUcKcuHTkQAJkAAJRBaBSK7tj1mH+5j6W8r3tgnXxK+VAIvlcS52KN870OsVviGpJtR5LAmQAAmQQMgS+CHr8DrdEG2BCqD7+a7Bt85BuKauVgL8xoTEdbr7eUvpxZK2ZBZ9UxqmRwIkQAIkQAJhTWDTD9vSRJwqvumEahiolQDjGpaynIuuOZrPFjCg0JEACZAACYQ7AetQdln3s1LK6RGuacXrIMBl3dBH8n392Q1dU/Q8ngRIgARIINQI7M84+I3pftZlPzh10M3ztV+rrdYC/NbYpG/9u6E3ZBSurlUJan8SzyQBEiABEiCBBiWw4YdNju1ny6rd7GdT4FoLMDKwXOo1+HCrDhXUKS/kQUcCJFB9ApZlqeofzSNJgATqSqDY583NyM06xeRjudW/Tbg2fp1E0+WL/pe5aHaxb2h2sfWjidOvZwLMPuIJ6LEnK+IhEAAJNCCBDT9sWakvZ796UMTaetfAm5freK23Ognw6+PjdulfADP92rX0QP73tS4JTyQBEiABEiCBICaw/eAu2/IVimiJehJ+XVydBBgXtpR6AT7clqzC7pZ+LECYjgTqkQCzJgESIIEGJXAo++j3Xsvb3Vw0Nqn4ZROurV9nAX5rbMqbeiwqAwWwLGm/Jb2Ik7EAg44ESIAESCBsCKzbv/GwqYzWvNd+3ePXmSZeW7/OAowLKxFnLPjrQ1wTLPwjgfokwLxJgAQalAAmX6XnpA8xF1Uul9Pza9Jq4wdEgH2We5a5eEahb2husXXExOmTAAmQAAmQQCgT2Pzj9lW6/PHaiWXJ7rqs/UUexgVEgN+akLxZj/1+XZpp1LKD+etLw/RIgARIIJAEmBcJNDiBrQd3NDUXVUqcBqdJq60fEAHGxZUlTpP8+/RCZ6Aa++hIgARIgARIIBQJpOWlby3yFfc1ZS+S4hdNuK5+wAQ4JyblLT0wbb+aUDfR22/PLFpb18LxfBIggcoJ6P83Vfle7glLAqxUgxNYu2fDfueilvXu7wf/+pATr2MgYAL8/giVJUq9Ycrz1cF8W4xNnD4JkEDdCfj8slBK9zv5xRkkARIILAHd8s06mpPuWL7S/3PPB/IKARPgkkIpp3BpBb5hmYW+AyXp/CQBEggEAf9/WLaAA0GUeYQQgQYv6ro9GzD5Kq7kwtaOOwdP+aQkHJhP///nOuf45riUr3X384rSjDxz9+dtLg3TIwESCDAB/TRuBThLZkcCJFBKwBLLt+vovp6lUVGipptwoPyACnBJoay/lfgie3OKBxf6rCwTp08CJEACJEACoUBg68Fdy7QIt0FZ9ZNumqtFfp0tXyEvf1cjAfY/sbLwm+ObvKsLu6N0f9LiH/LRhC+N0iMBEiABEiCB4Cfw3YFNzf1KOfOODnfk+cUDEgy4AKNUSsnD8OG+TyvqWWxJMcJ0JEACJEACJBDsBH7MOrTe6/OeZMqp3OopEw6kXy8C/MbY1Od0IdO0EzThvzlSYIx0IClEHYtNAiRAAiQQCQTW7t6QbeqpNezFqQNuPmjigfTrRYBRQMtSj8GHW3GooBl8OhIgARIgARIIZgJ5hXkHsgtzhpsyWu7AT74yedebALuirZn6ycHuMy/2Wb22ZPItSQZ6KPosMwmQAAlEAoHlu9dj9U6JNlry2V0Dpmyqr3qXXKQecn99ZCq6oJ11wYt+yPO3IVAPV2SWJEACJEACJFB7Al6fN+9w5uHBJgflcj1qwvXh15sAo7Bet3oCPlxukTX0UL5vG8J0JBBaBFhaEiCBSCCwZs93X4uSJNTVsmTTnYNu+gLh+nL1KsCzR6fuEEveNIX/bG/OjyZMnwRIgARIgASChUCRryhn19G9g0x5lMifTbi+/HoVYBTa53L/BT5ceoHvtEN5bAWDBR0J1JVAQ5mirGs5eT4JhAKB1bu/hRXHFJRVt363Tx0y5VWE69PVuwC/NTbpW0vkv6WVUJ/uyQnYmyRK86RHAhFJQPFlDBF531npwBMo9BZl7E07UPbSBZfcG/irHJ9jvQswLun1uZ3KZBT5hh/IK96IdDoSIAESCG4CLF0kEFi5e/0aXc8E7cRu/Q6a8jrC9e0aRIBnT0jaoCv1n9LKqM/25GWWhumRAAmQAAmQQKMRyC8uOHog/Yey1q9Sf2iowjSIAKMyXsv9J/hw2UW+YWwFgwQdCZAACQQvgUgo2aqd69bpetqtX9383Th18M3OxGGdXq9bgwkwWsG6Jm9rZ2+f7Mp1TH3ZCfwgARIgARIggQYkgNbvD1mHTjWXtFzqjz0rLg8AABAASURBVCbcEH6DCTAqU+xz3w8fLtdrDd2TU/wtwnQkQAIkQAIk0NAEvt65dr2+Zqx2IpZ8O23QlNl22P6o/48GFWC7FWzJG6Zan+/JLTJh+iRAAiRAAiTQUATyivIPHs46cpq5nqXUfSbcUH6DCjAqVezXxM/zWoO2ZxatRTodCZAACZAACTQUgaXbV8LGc7R9PcvaOG3wze/Y4Qb8aHABnj02Zatu679m6vjl3rwoEy7nM0oCJEACJEACASeQlpe5LT03c4STscu62wk3YKDBBRh1Kxb3g/DhCi2r79ojhUsRpiMBEqg+AVrCqj4rHkkC/gQWb12OScDKTrOsr6cOuvU9O9zAH40iwLPHJW+yxJpp6rr0x/yuRV4pMHH6IkIIJFAFAVrCqgIQd5NABQS2Hdq1rLC4cIDZZbnkJhNuaL9RBBiVdEWpe8WybIMcPstqPW9/3ldIpyMBEiABEiCB+iDgtbxF6/Zt6GDy1r1I/5o26JZGm4fkMgVpaL/kfcGue8x1t2QWDssttg6bOP2IJsDKkwAJkEDACazd/d0S3eBrZzKOsjy/N+HG8BtNgFHZN8anPGWJbEVY+/Hv78yhjWjAoCMBEiABEggogfzigsM7j+4d5mSq1H23D73xgBNvhECjCjDqa1lyC3y4wwXeETRRCRJ0EU2AlScBEgg4gSXbVnyvM43XTsSSA1MH3Xy/HW7Ej0YX4LfGp36ux4I/MAx0K7jYhOmTAAmQAAmQQF0JlF92ZKnGWXZUvh6NLsAokE/U7fDhinxy8tojhZyQBRh0JHACApZllSyjOMExIbiLRSaBgBPwX3ZkibV22uBb/h3wi9Qiw6AQYN0K3mZZ8ogp/5If8zpwWZKhQZ8EKiaglLIq3sNUEiABQ2DTwR1L/JcdKbfVaMuOTJmMHxQCjMK4E1Ie1L8mhxDWYtx+zv4ctoIBg44ESCByCLCmASVQ7CvO/m7/xt5lmVr/mTrg1q/L4o0bChoBfu1UlSlKfmdwbM0sHnEwz2vPkDZp9EmABMoIsAu6jAVDJFARgUVbl6/W/ydNS/ZZ2VFR0beWhIPjM2gEGDjeHJv6T7HEtHw97+7IKdatYr1hLx0JkIA/AXZB+9NgOAwIBLQKh7KPfn80J32kk6mSO27rd/2PTjwIAkElwOBRrFy/hA9XZFm9FuzPW4gwHQmQAAmQAAlUh4Bu9XqXbF3u0ceWTFS07T3f8ryOB9UWdAJcYida/dFQ+jatcFh6gW+vidMnARIgARIggRMRWLt3w2Kv5ethjrFc7p+bcDD5xwhwsBTszXEpeFvSptLyxM3ennOkNEyPBEiABEiABColkFeUf3D74V1DzAGWJX+YNuimLSYeTH5QCrANyFXWFV3g8w34+lD+IjudHyRAAiRAAiRQCYGFm7/epnclaieWWN9NGzLlrwgHowtaAX5jTPJXGt6TBtqKgwX9s4usQyYeeJ85kgAJkAAJhDKBPUf3r8wuzDnN1MHtcgVl17MpX9AKMAroVal/ELHM+G/K7O1ZO5BORwIkoP8zLFrC4veABAyBYp83d8Xub1qbuKWsx3878OY1Jh6MflAL8OyxKluJ6zop/csptobRTGUpjAB7zC70CHAZUujdM5a4/gjM37IUa37bl15hn6d5gW7AlcaC1AtqAQaz18elfKY78t9AGG7xD3m9s4utoFrLhXLRkQAJkAAJNA6BbYd2LcvIzRrhXF2pq+7ocEeeEw/SQNALMLjlx7pv0366dthS39yadcDSPXCI0JFA3QmEZg4Wu6BD88ax1AElkF2Qu3/tnu/6lmVqPTl10M3zy+LBGwoJAX73jKSDPnFdYzDme62B82igw+CgH6EE2AUdoTee1fYnYM3dtOSoKElComXJtpwm8XchHArOFQqFRBnfGpf8nu6KfgFhuA1phaf9mF8clGu7UD46EggVAiwnCYQqgeU71y4o8hadbMqvBe3y+7r8Mt/Eg93X5Q32IpaVz1OccpslgjVeSIx+Z0eOu9grIQMbhaYjARIgARKoO4EjOekb96Ttd8Z9tTb8+c4hU1bVPeeGyyGkBPiVs1WOLvDlBo/PJ13f3Z293MTpkwAJkEDNCPDoUCRQ5CvKWbD5qwRddth7xoygddMGT7lXx0Nq03oWUuWV18elrrIs635T6h9zvaN0dzRF2AChTwIkQAJhTmDBpmVrLLE6mGoqy+00zExaKPghJ8CA+ub4JvdZlqxAGG7u/ryTcoutwwjTkUCkENAPoiVveomUCrOeAScQihluObTzq4z8siVHlrKm3jn0xo2hWJeQFGCA1v39k8WychDWLvXNbVm7tM+NBCKGAGdBR8ytZkVLCWTmZ+9at3fDgNIovKXTBt3yCAKh6EJWgN8an7pNRN0mpX+6BTzki315IbH2q7TI9EiABEiABKpJwGt5C+ZsXFysD4/XTm+6Aeb2XqUDtdwa/7SQFWCge2N8KpYlfYYw3Kb0wlHbM4vWIkxHAiRAAiQQPgTmbFq60mf5ujk1UuryqQN+FdLvBwhpAcaNKI5VV+ixsN0Ia+f6eE9ux6wi3wEd5kYCJEACJBAGBDYc2LooKy/rDKcqlsyYOmjKR048RAONKcABQTb79JSjXk/URL/Mmr62NTvdZ0mRXxqDJEACJEACIUggPS9z2/c/bB5mim5ZsmzqkCnTTDyU/ZAXYMCfPTpxvSXqSoThin1W73d2Zn+FMB0JkAAJkEBoEij2FWfP3bQEa31jSmtwUHnUhaXhkPfCQoBxF94cl/K67op+GmE4rA9edbhgCcJB6VgoEiABEiCBExL4/PtFG/TveidzkBLfZVMH3HzQxEPdDxsBxo14c3yTX1kiyxCG++rH/KE/5hZvRpiOBEiABEggdAis3bthQV5hntP1LJZMu3PwrQtDpwZVlzSsBBjV9SrPxVqEDyGsXcx/dubE53utDB3mFjwEWJIAENAtAxWAbJgFCQQdgYNZh77bdmjnaKdglnykx31nOPEwCYSdAM8em/iDpdQF5v7oAfv2r2/N2qpFWW8mlT4JhD4BGuII/XvIGhxPIKcw98CirStamz36N3x3fIw1ycTDyQ87AcbNeWtsiu6GVrcgDAcjHR/tzlmAMB0JNDoBFoAESKBCAkXeoszPNyzM1TubaSdafHN9Ud6Jt5x8Szbi4ebCUoBxk94YlzJLN3lfRxhuZ1bxmNWclAUUdCRAAiQQdAT0kIr30+/mb/c3tqGUXHh3/1+tD7rCBqhAYSvA4PPmuNQrtQivRBhu6Y/5w/ZkF4ftzUQd6UggyAmweCRQIYG5m5csLfQWDTQ7dev3xqmDp3xp4uHoh7UA44Yp5TpHi/BOhLWLem9XTof0At9eHeZGAiRAAiQQBATW7Fm/ID03c6RfUR6bNmTKP/ziYRkMewF+Y2zyYZdbnaUHEzJL72Dq61uzigu8lomXJtMjARIggXomwOyPI7DzyL7l2w/vGWV2WGJ9rFu+vzXxcPbDXoBx814fnbJFlMeZGe0T6fzKliw91kBzleBDRwIkQAKNQeBoTvrmVbu/6aevbS+p0+K70tOi4Kc6HhFbRAgw7uQb45IWWJa6GmG4fK818M2tWcsRpiOBUCRg6S90KJabZY5YAsdUPK8o/+C8LV+l6sQ47bDtc/k859zR4Y48RCLBRYwA42a+OT7lFRHrAYThjhb6zpi7P28+wnQkEGoElFJWqJWZ5SUBECjyFmZ89t2CTD002BJx7Wcqn3vCnUNvPGzHI+QjogQY9/SNcU3+pP13tLO3DWmFY9YfLVxmR/hBAiRAAiRQrwSKfd7cj7+dv9drebubC+lnyfO1+G408bD0K6hUxAkwGLwxLvWnYslXCMMtOJA3eEtm0WqE6UiABEiABOqHgBbd4k++nbep2Ffc11zBEvXTcLPxbOpWlR+RAgwoxXFqohbh7QhrF/3Zntw+FGFNglvIEOAYcMjcKhZUE7DE8n25YdGKQm/hIB21N0tZv5w2+GanR9JOjKCPCBLgY+/q7NNTjlqe6DH6S7GndE8sRHhHZtE3pXF6JBDUBDgGHNS3h4UrR2Du90uWZBfmnmaStfjeNm3QLf8y8Uj0I1aAcbPfHB2/x+tWo0WsA4hrF/vxntwee3KKv9VhbiRAAiRAAgEgsGTbyvnp+WWGNixL/qrF9+8ByDqks4hoAcadmz06dYdyu0brL8RRxC2R+Pd25nQONxFG3ehIgARIoKEJrN+/ceEPmQfHmOvq39hnpw2Z8gcTj2Q/4gUYNx+GOpTlGavH1DIQ1y4RIrwvp/h7HeZGAiRAAiRQCwKbD25fuvnH7Y6JST3k98a0wVNurkVWYXkKBbj0tr4xIXGdS6nx+gtiXnuV+O7OnLY/5hZvLj2EXsgSYMFJgAQamsCWgzu/Wr9v4+n6uiVWriz5cNrgW67QcW6lBCjApSDgvT4udZWlXGfqljDeR4mklP/szGnxY37xFkToSIAESIAEqiaw5dDOr9bt2zDc78j5utv5fL84g5oABVhD8N/eGpuyzCeec0yaHhtuMnubFuHc4k0mjT4JhBIBlpUEGpLAloPbl6zbu+FUfU2jL0vjoy2KrwZSfjOAyqdHdPzt8UkLlajz/CCkzt6R02ZvVvEGvzQGSYAESIAE/AhsOLB10Tq/bme9a6m7Rf6EW06+xQzt6SRuhgAF2JAo578+LuVjS9REv+Tk/+3O6UgR9iPCIAkEPQEWsKEIrNu/ceH3P2zGhCtVek1bfCPp5Qql9a62RwE+Aao3x6V8JD45y++QRIjwruzi9X5pDJIACZBARBNYs+e7BVt+3O6801fDmI+WL8VXkzjBRgE+ARzsemNC6heWssb6z47+YFdO9+2ZRWuxn44ESIAEgpVAQ5Rr2Y4187cf3jXa71rzpw6eMpbi60ekkiAFuBIw/slvjm0yX8Q1wbIss0447uM9ub23ZBat8j+OYRJoSAL6+6ga8nq8FgmUJ7Bw6/L5+9IP+BnZsL6A+JY/jvGKCVCAK+ZyXKrujv7a5RJ80dKk5C/msz25/TemFa0oifKTBBqWAG1BNyxvXq2MgO4R9M3ZtGjRoazD+E20d+i0L6YNvsV/yM5Ob7yP4L8yBbgG9+j1sU10t7MbkwwOl54W9eX+3FPWHS1cVhqnRwIkQAJhTcDr8+V/8u28Vem5WfgtLKmrJR9RfEtQ1OSTAlwTWvrYN8YlfVcsrhG6+2+fjtrbwgN5w5b+kL/QjvCDBEiABMKUQKG3KOOj9V9szyvKP8VUUbd835g6ZIr/ihGzi34VBOpTgKu4dOjunj0ueZNLYs8Qy9pVWgvX6iMFoz7YlbPAEtFbaSo9EiABEggTAjmFuQc+Xj/nSJHP28dUSYvvo7rlS/OSBkgNfQpwDYGZw18fH7dLrKjhWoTXmbRd2cWjX9mStazIKwUmjT4JkAAJhDqBtLz0rZ9uWOD2Wr6upi6WqClafO80cfo1J0ABrjkz54w3JiT+mJ1XomUjAAAQAElEQVSSihdMf2YSMwt9p720JWNzgc8yM6bNLvokQAIkEHIEfsw6sn7u90tb6cZGS1N4n5KLpw2++RkTp187AhTg2nFzzvpgqMp9Y1zqTyyR501ioVf6/XNT5hEtxntNGn0SIAESCDUCO47s/nrx1q9PEiVJKLtliW5Y+E6/a9CU/yFOVzcCFOC68XPOfnNc6g0+sX5rEnw+6aq7o2P35RZHov1og4E+CZBAiBJYs2f9gtW7v8UbjWJKqmDtsjwyfOrgW78qifOzrgQowHUl6Hf+W+OaPOZTrvN1Ur52mI3V/N0dOV03phWtRJyOBEiABIKdQLHlLfzs+4VLtx/e41i3ssRaWyTeU+4aMIVvhQvgDaQABxAmsnprbPKHSmSEDpu1wrFf7s8dOnd/3nydxi0SCNRjHX31mDezJoH84oLDH67/clt2fvbphoZlWZ8nRMvI3w/+9SGTRj8wBCjAgeF4TC6vj0tdVRwVPUSPl2w2OzakFY55eXPW14VeK8ek0SeBmhLgP2xNifH46hI4lH30+4+/nevVf73NOfo3bOa0IbeczdcJGiKB9fn/HFieTm6zR8bv9vpShumEudrZW1aRb/gLGzMPHcr3bbMT+EECdSCgWya6s6UOGdTPqcw1BAlsObhz6cIty7rp71Qrp/iWXDttyJRbnTgDASdAAQ440rIMZ5+pMt4YlzpedxtON6k63PmtbVlt1x0t5EQGA4V+rQjQFnStsPEkPwJacL0Lti5fsG7fBnQ5R2OXbvVmiaXGTx0y5SXE6eqPAAW4/tg6Ob81LvUun1iXWmLllSbGLTyQd9p/d2Qv9FlSVJpGjwRIINQJhFD5i7yFGR9+++W6w1mHnclWItZWj1iDpw652em5C6EqhVxRKcANdMveGtfkv16fZ6hYst1ccn+ud9TzGzM3667pAyaNPglUl4BuvbALurqweNwxBDLzc3Z9sH5uVmFx0SBnhyVzParwlDuG3LLVSWOgXglQgOsV77GZz56QtMGVkIIvvGM5q8hn9X15S1bsjsyitccezRgJnJgAu6BPzId7KyaQVZCz98vvF0Zblq+9OcISeUZ3OY+/fdDt6SatFj5PqSEBCnANgdX18NdOVZl6XPgnlqg/OnlZ0uSjPbkDvz6Uv8hJY4AEKiBgKWWZZMuy2AI2MOhXiwDE94sNC916OKyNOcGy5NZpg6dMMXH6DUeAAtxwrI+50pvjUh5Uon4ilpVpdqw4WHDGOr5b2OCgXwEBZZWJLlvAFQBiUqUEKhJfJdZl04ZMmVnpSdxRfQK1OJICXAtogTrl9XEpn/lEDdYtmX2leboWHsgbujm9aFVpnB4JVEpAf29UpTu5gwT8COQXFxzV3c66+8RyWr4Q3zsH3/Ifv8MYbGACFOAGBl7+cm+NT93mVe7xOt2MvXg+35fbd1d28Xqdxo0EKiXAFnClaLjDj0CRryjn0+/mH/RZVjuT7FPWVRRfQ6Px/DAS4MaDWNcrzx6XvElZ6mzdHW2sZMV+sCunEw121JUszyeByCZgWZZXi+9mr8/bq4yEdd1dg255rSzOUGMRoAA3Fvly1319fMpyEXWBlP0lv70tOz672DpYlsQQCZAACVSfwBebFi87dqmRdc/Uwbf8s/o58Mj6JEABrk+6Ncz7jfGpcy0ll5nTMFPx1S1Z6dWxH23OoR85BHTrhmPAkXO7a1zTlbvWz8/KyzrDnGiJPDt1yC1/MXH6jU+AAtz49+CYErw5NvU/lqXuNYnFPuukV7dmbfRa4jVp9EkABDgGDAp0FRHYc3T/yl1H/V8nKO9MGzzl5oqOZVrjEaAANx77Sq/85viUP+un1dfNAbnF1pD3d2UvNnH65QlETtwXOVVlTWtJIDM/c8fyXWsx5mv3kOjfkgXTBk/5aS2z42n1SIACXI9w65L1m+NSrxRLnBc27Mvxjt6QVqjHieuSK88NdQL8hw31O1i/5S/0FqV/+f0Sj75Konaif0P2eGKiL7HD/Ag6Avx/DrpbUlYgFS3n6X8gx3b03P15fdLyfbvKjmAokgmYMeBIZsC6lxHQ3wfvp9/N222J1cFJ9ahz7+h73VEnzkBQEaAAB9XtOLYwr49MTSv2eC7S/1B5pXsS39qeVVzklYLSOD0SIAESsAks3Lp8cZG3uL8d0R9akCdNHXDztzrILUgJUICD9MaYYs0enbhej+FcZeLFlnSbvT1rpYnTj1wCnISFe08HAlsO7lx6OPtI2WsFLXlk2pBb3sI+uuAlQAEO3nvjlOytcU3+a4l63CQcLfSdwRc3GBr0SSCyCRzJSd+4bt+GIWUUrIVTh0yZWhZnKFgJUICD9c6UK9eb41LusESWmeQVBwtOOVLg22ni9EmABCKPQH5xweEFW75qomseo5096aoozuKkKxtG8H9QgIP/Hjkl9HrcF4glP5YmxL69Lbu42Cv5pXF6EUZAj/HZy0wirNqsbikBff+9n3234EfttypNEsvju+j3vW89YuL0g5sABTi4788xpZs9KumQ1yXOeLDXsrr/Z2f2imMOYoQESCAiCCzdvmpRsa+4r1NZS66dNuDW1U487AOhX0EKcIjdw7fHpn7pE5luin043zty7ZHCpSZOP3IIcBJW5Nzr8jU9lH30+x8yD44qS7ee0+O+L5XFGQoFAhTgULhL5cr41rjUuyxL1pjkJT/kDUwv8O0xcfokQALhS6DY8hYu3vp1vK6h/futfws2TR18y006zi3ECNg3sJZl5mmNSMDrkUtFrCwUwRKJf3tHVpr29YYUOhIggXAlsGzbqq98ltXJ1M8X5XVe4GLS6IcGAQpwaNyn40o5e3TqDp9yOcbVC73Sf97+vIXHHciEsCVgWRYnYYXt3a24Yuh6/jHrsNP1bFnyh7v7/2p9xUczNdgJUIBre4eC4Ly3xqa8Zon1kSnKhrTC0w7l+7aZOP3wJsAx4PC+v+Vr5/X58ku7nu0HL/0AtnrakCl/LX8c46FDgAIcOveqwpJ6PZ5f6h1p2mGLfmd7drF+KvYhQhfeBPQPsP1DHN61ZO0MgaXbV3xtup71/3i+J0qx69nACVGfAhyiN84UG0uTxFK3mLhW355f7K33rmhzOfqNSIAt4EaE38CXPpKTtulg1hGn61mJddsd/ac4L2pp4OLwcgEiQAEOEMjGzOaN8Slv+HdFb84sHHMoj13RjXlPeG0SCBQBr+UtXrRluVvnZ/d4WCJLpg655Tkd5xbiBCjAIX4DTfELYjzX6i7JDBP/386sXBOmH2ACzI4EGpDAql3rF2sR7o5LouvZJb4rEaYLfQIU4NC/h3YN3j0j6aByuW61I/qjwCf9+MIGDSKMN/3AZbeIwriKEV+1zPzsXXvS9p9uQOiu56l3Dr51l4nTD20CFODQvn/HlP6NsSmv6u6p+SZxxcGCfrnFFu3CGiBh5jfSGHCYUQzq6ljzNi3N1iWM1k5v1grd9fy0DnALEwIU4DC5kaYaXrdca8LaT31/Z8732udGAiQQYgTW79/o2HpG17Pl80wOsSqwuFUQoABXASjUdsNAh1jyO1PuwwXeEbuyi7lQ3wAJI59d0I1wMxvokkXewozNP27vby6nlPxh2tAbucbfAAkTnwIcJjfSvxpvjE99yBLrW5P20a6cBBOmHz4ElFJ6xCF86sOalBFYun3NWh1L1U5v1tapg6c8pgPcwowABTjMbqipjkvUNSbsE+m6+If8hSZOnwRIIHgJZORlbT+cfWSEKaFS7ikm3Mg+Lx9gAq4A58fsgoTA6+NSV+miOGsF1x4t6FfotXJ0GrcwIcAu6DC5keWqsWDLV5h4hXW/ejTJ+vjOQTd9Ue4QRsOEAAU4TG5kRdUo9rjvFcvKtPdZ0uTzfbkr7DA/woIAu6DD4jYeU4lth3YtK/IWO2O/bpd1+zEHMNJ4BOrhyq56yJNZBgkB20ylUn8xxdmZVXxqVpHvgInTJwESCB4CXstbsHbfdx1NiXQPx99/O/DWzSZOP/wIUIDD754eU6M3xqVO161gs3A/9oOdObQfewwhRkggOAis2b3hK93n3BalsUTSvFHqfoTpwpdACAlw+N6Eeq+ZUr811zha6DvjQG4x1wYbIPRJIAgIFHmLMncd3TPYryh/+l3/KeYtZ37JDIYTAQpwON3NSuqiW8Hv6CfqZWb3x7tz80yYPgmQQOMTWLZj9RpdimTtdCPY2jtt8JSnEKYLbwIU4BC5v3Utpr7Rjp3oPK81mMY56kq08c/XY4Sq8UvBEtSVQF5h3oGDWUfK7D1byjGkU9e8eX5wE9C/y8FdQJYuMARKlyW9Y3Kbsy+30ITphyYBRUMcoXnjypV6ybaVsHAVhWTLkk1Th0x5FWG68CdAAQ7/e+zUsNjn/qOJ5BZbQw6EzFiwKTV9EggvAml5GVsy8rOc1q+IulP4FzEEKMARc6tFZk9I2qCfsP9jqvzJ7twcE6ZPAiTQ8ASWbVuVrq9q/w5bYq2cNuTmD3WcW4QQsG98hNSV1dQEvJb7T9qzt1yvNZStYBtFUH+wcOFJ4FD20Q25RfmnmNq5XEKjGwZGhPgU4Ai50aaaaAXr8Nva2dune3Jh9s4O8yO0CHASVmjdr/KlXb1rfYZf2id3DrxlsV+cwQggQAGOgJtcvop6LNhZ4J9TbJ1yIK94Y/ljGA9+ApExCSv470NtSphVkLM3uzBnuDlXuay/mjD9yCFAAY6ce+3UFK1gPRY82yTM3Zd31ITphw4BtoBD516VL+nKXd/AIp39+4uxX7Z+yxOKjLj9BYiMqrKW/gRcfk/caQW+YZmFtBHtzycUwmwBh8JdOr6Mhd6i9KM56aeaPcqSB0y4vM94eBOgAIf3/a20dq+PbbJWP3kvKT3As+BAHo2+l8KgRwL1SWD17vVrdf7R2unN2jx1yC0f6AC3CCRAAY7Am26qrEQ9bsK7sosHF3mtXBOnTwIkEHgCXp83b1/6gYEmZ0vEeVuZSaNvCIS/TwEO/3tcaQ1hI1rE2lt6QNKSH/NXlIbpkQAJ1AOB9fs3LRdRqaL/dA/U/mmDb/m3DnKLUAIU4Ai98abaPhGnFfxdWtFJliU6yeylH8wEOAkrmO9OxWXbcXhXZ2ePkulOmIGIJHAiAY5IIJFW6bzo1Of1D7nd9WyJ1eabo4VfRxqDUK0vJ2GF1p3bm/7jGp9ldUKpLUtyc72e5xGmi1wCFODIvfd2zd8fobJEyQt2RH+sPFwQrz1uJEACASbw3b6N+X5Zvnrf0BvtB1+/NAYjjAAFuLIbHkHpXuV6ylQ3v9g34Ei+b4eJ0w9eArrnQgVv6VgyfwL5xfmH/A1viMf3nP9+hiOTAAU4Mu/7MbWePTZlqyUyX0r/Fv2Qt7s0SC+ICbALOohvTrmifbN343c6yf691UM9300bcOtqHecW4QTsL0SEM2D1NQFLKacbem9O8UCfJUU6mRsJkEAdCWjB9e1J29fXyUapJ5wwAxFNgAIc0be/mi8VqwAAEABJREFUrPJvjU15TXdpGuPwKd8cLuSSpDI8DJFArQnsPLJnhRLVoiQDK1u5Et8oCfMz0glQgCP9G3Bs/V8x0VWH8yN3MpaBQJ8EAkDgu/1bPSYbS9QrUwdcnWPi9CObAAU4su//MbVXVpSzLCLfZw3MLPQZIx3HHMdIcBDQPRYqOErCUlRGAJOvCorzB5v9PpdvpgnTJwEKML8DDoE3JiSus0RWmoQFB/K2mTD94CNQT5Owgq+iIVyiLT/s2KCLbz8o6bHgtXcPvBWTsXQSNxIQoQDzW3AMAeW3Jnh3dnHvY3YyQgIkUCMCO4/ubeKcYAnHfh0YDIAABRgU6BwCOVEpr5uIbg233JNdvN7E6ZNA2BMIYAWzC3L3F3qL+pssLY/X+d8yafQjmwAFOLLv/3G1h2Us3VX2kdmx6nDBUROmTwIkUH0Cmw5u3eIcbVmL7xrwa86pcIAwAAIUYFCgO4aAS1xvm4R9OeyGNizok0BNCOxN+6GlOV65QqL72RSXfgMRoAA3EOhQukx2dPK7przshjYk6JNA9Qlk5mfvKvaWPbwWuRXHf6uPL2KOpABHzK2ufkXRDS2W9YE5g93QhgR9EqgegY0/bC2zp27JZ7/rPyWtemfyqEYj0AgXpgA3AvSQuKSL3dAhcZ9YyKAksD/jhzamYJayOPnKwKB/DAEK8DE4GDEEcqKS3zNhdkMbEsHl0xBHcN0PU5r84oLDXp+vp4n7fB7nf8mk0ScBEAgiAUZx6IKFALqhLbGcH461RwuOBEvZWI4SAkop/WxUEuZn8BDYeXjPxrLSWAvvHnqjsbFelswQCWgCFGANgVulBN43e/bneluZMH0SIIHKCexK21f2u6rUp5UfyT2RTqDsixLpJBq5/sF4eW9UzJemXEVeq3e+1+KTvAFCnwQqJmBl5+c4rx50UYArpsRUmwAF2MbAj4oIzB4Zv1unb9LO3jakFX5rB/hBAiRQIYFD2Ydh+znF3mnJ4d8OvHmNHeYHCVRAgAJcARQmlRGwLOsLE9ucXlRPY47mCvRJILQJbD+855BTAyWORTknjQES8CNAAfaDweDxBJS4P5fSv8OFXmdmZ2kSPRIgAT8CP2QealYW5fhvGQuGKiJAAa6ICtMcAp7ipLlOxJIWP+YWb3biDASEADMJDwKF3qKMYm/xyaY27pgo5+HVpNEnAX8CFGB/GgwfR+CVs1WOiLXY7PguvWi/CdMnARIoI7D36A/f65jSTv/LWF/f0fc6vsjEhsGPyghQgCsjw3Q/Ai5nHHhndlGS3w4GSaCOBMLn9P0ZBwpMbSwl80yYPglURoACXBkZpjsEvKLmmEhukdXdhOk3LgHL0j/zjVsEXt2PQFpuRhMTtUR9ZcL0SaAyAhTgysgw3SHw9rjkJU5EJOVwnq/M0LzfDgYblgAtYTUs7xNdzWt5i/UYcB9zjDfO5/8/Y5KP85kQ2QQowJF9/2tS+1Xm4B3ZHAc2LOiTAAgczU6D+UkPwpYl237f+1aabgUMuhMSoACfEA93+hH42oT35hQVmzB9EiABkb3pB/wE11pGJtUhwGMowPwOVI+Aci03Bx7K9TU3YfokQAIiP2YdjinjwPHfMhYMnYgABfhEdLjPIeBzKUeACy3rJJ8lRc5OBkggwgnkFuaf5CDw+DgBy4HBQGUEkE4BBgW6Kgm8NTrpe0usvNIDow7kFW8pDdMjgYgmkFOQs9eyrKaAoMd/86cNuHU1wnQkUBUBCnBVhLjfj4BaaiI7MosPmzB9EohkAj9mHtrj1F+JM1fCSWOABCohELkCXAkQJp+QgPPjsje3mN+dE6LizkghcDgn3THAoSzh248i5cYHoJ78EQ0AxIjJQpX9uGQVekteuRYxlQ++iupuzxKzh8FXtIgqUXp+VlRZhS0sRyqLMkQCJyBAAT4BnDDeVauqeV2eTebEQq+0NWH6jUOAhjgah3v5q+YX5KWaNKUs2IM2UfokcEICFOAT4uFOfwKzRyeuN3FLpFmB18o0cfokEKkEinzFnUzdC8VHATYw6FdJgAJcJSIecAwBy9pl4gfzvbtNOKR8FpYEAkQgvzj/kM4qUTu9WTm/H/xrxHWYGwlUTYACXDUjHnEMAbXZRH/MK043YfokEIkE0nIynNdzWqLWRiID1rn2BCjAtWcXkWdaynIE+GCutzgiIYR2pVn6ABI4mpvmPwzD7ucAso2ErCjAkXCXA1pHlyPARwp9fub3AnoRZkYCIUHgaE6GzxTUEs6ANizoV48ABbh6nHhUKQGlxBHgnCLLtv5TuoseCQQ/gQCXMKsgN85kyRnQhgT96hKgAFeXFI+zCShvWRd0sc/qaCfyo8EIOM0tfUWuA9YQGnkrLC5sYorgVrLVhOmTQHUIUICrQ4nHOARen5C63YmIxOV7rQy/OIP1TID/sPUMuIbZe31eZw1wUXHUjzU8vaEP5/WCjAD/n4PshoRCcSwRZ6mF7oY+GgplDscyKt3nGY71CqE66X8FcV7NeffQG/kwGkI3LxiKSgEOhrsQYmVQYh00Rc4q9maZMH0SiCQC+cX5eCGJsutsSdkLGewEfgQdgSAsEAU4CG9K0BfJUmUCXGjlBn15WUASqAcCuQX5aX7ZOv8TfmkMksAJCVCAT4iHOyskoMq6oDMKfYUVHsNEEghzAnlF+U7vj6Usjv+G+f2uj+o1oADXR/GZZ2MQsKyyLujsIst/Ym5jFIfXJIFGIZBVkJPvXNgStoAdGAxUlwAFuLqkeJxDQCmXMwkrt9jL75BDhoFIIpBXmOtYglNKsQUcSTc/QHXlj2eAQFaVTTjt928B53itqHCqG+tCAtUloMeAMQvaPlz/T1CAbRL8qAkBCnBNaPFYm4Ae73K62wqKLccSkL2THyQQIQTyivI9pqpKlNMrZNLok0BVBCjAVRHi/uMIuMRzREr/in1SDQEuPZheQAnoVpcKaIbMrEYELLHKfj9dPmdCVo0y4cERTaDsCxTRGFj5mhDwuXx+S48spxVQkzx4bN0J6HFHpwu07rkxh5oS8Pmssgcgn+JkxJoC5PFCAeaXoOYELFeeOcmnhGPABkYlPpPDk4Cl9Le/tGqWuPgwVMqCXvUJUICrz4pHlhLwic9v+YWiAJdyoRdZBLxadZ0au7w+J8wACVSTAAW4mqB4WBmBaIlyBNhnWXwncBkaho4jEL4JZf3Puo7sgtYQuNWUAAW4psR4vPik2BFgjSNaO24kEHEELMvn/H662AUdcfc/EBV2vkCByIx5RAYBT2GSMwasa8wWsIbALfIIWJYqawS7VIVd0JFHhTWuCQEKcE1o8VibwCtnqxw7UPLBMeASDvyMOAKWI8Beq5gCHHH3v+4VpgDXnWHE51DsFf8u6YjnQQCRQSBrf3rsD6v3yt6vdsiuedu7R0ata1JLHlsVAQpwVYS4/zgCEydOvDzvw6eLijZ+Jb78HCkWq+C4g5hQ7wQs3Qda7xfhBY4j8M3StTLz3qdl2cz5fTa/t162f7pR9szf8qz+v9h0/vnnjzvuBCaQQCUEKMCVgGFyxQT0D8ztSqk3vVu+jir4ZJbkPnOTvPbXO2OXfjRbfty9veKTmFovBPR94NrTeiF7fKYH9x+UD15+X/5w1e/kxYf+KZu/2XTcQfp+nKQT52ghfu2CCy5I0mFuEUygOlWnAFeHEo+xCegflgd04DHtjtkO7doSs/DdV+SlB26Tp++8Rj7990zZsvZrKczPP+Y4RkgglAgc/uGwLPxwgfz9rsflLzc9KF++84VkZ2YfU4V+/frJyJEjj0nTQnyFz+dbcs4557Q/ZgcjJFCOAAW4HBBGKyZw3nnnTdI/LPeavT179pRBgwZJdPSxq5Cy04/K2oWfyTtP/0Ueu/Vn8vJffitfvPEP+fareXL0x/3mdPoBIMAu6ABA9MuiIL9A1n+9Tt75x3/kLzf/WR684X47vP37Y3t2EhMT5dxzz5UZM2bItGnT5IYbbpD7779fWrVq5eSm/1f6ud3u5brHqIuTyAAJlCMQvgJcrqKM1p6A/hGJ1z8oM0wOAwcOlHvuuUfuuOMO+ec//2n/CJ199tnSvHlzc4jjH9ixRVbN+VA+/Ofj8o8/3CRP/HqyvP33+2XJh2/Jju/WSEG+/4om5zQGKiHAqbaVgKlhclZ6pmxet9lu4b496027lTvtZ3fKC3953k47uO/4twvigfM3v/mNPPPMMzJ58mRp3bq1c9WuXbvKX//6VznrrLOcNP0/00Y/JH128cUXN3MSGSABPwIUYD8YDFZMQP+I/E7/mNjdaU2aNJHf/va3xxyIbrirrrpKHn/8cZk+fbpceeWV0qdPn2OOMZH83BzZvn6VLPrfa/LW43+Sx2+9XJ6/d4p89NLfZc2CT+Xg3p3mUPoVEOA/bAVQKknKOJohOzftlDWLV8vcd+eILbR3PyG/v/JuuefqP8jMe56yW7hLPl0i5Vu5yLJFixYyfvx4+dWvfiXPPvus/cA5dOhQ7KrQoTfo5z//ufziF79w9uv/mx7FxcWvOAkMkIAfAf4/+8EIo2DAqqK72jrpH5F7TIaXXXaZCVbot2nTRn7yk5/I7373O3nllVfslvIVV1whQ4YMkWbNKm4IHDmwV9YvmSOfvTJLXrzv1/LQdRfIC3+8Vf4762+y4L+vyLrFX8rerd9LTmaG8K+MgL4vETkJK+1wmuzZtkc2rd0oK+evkHnvzZMPX/lA/v3oy/J3LbD3X/cn+c0Fv5I/XnOPPD71UfnX9JfkvZf+J7bQbtgmOVn+y9jLeMbHx9vfUwgoHiYfe+wxueaaa2TYsGGSkJBQdmAVoQkTJtj/A36HnTNx4sSf+sUZJAGbAAXYxsCPygjocawbzL5OnTodN+HE7KvMx1jxOeecI7fddps88cQTdvcduq51t7bdSkaroaJzD+/fLZtXfyVffTxbPv7Xk/LqQ3fJU3f8XI8rXy7//utUu0sb3djfr1gsB3Q3d1bakYqyYVqQE8jLzZNDBw7ZLdVvl6+XZV98ZU92gmC+9sSr8tz9z9gi+sD19wm6iCGs9137R3nk9uky648z5ZXH/i3/++d/5YvZn8uqBStluxbYowePVllrCOrJJ58s+gFTbr31Vrvn5rnnnpPb9PcUAlrRcEqVmfodgF6gU045xS9FbvGPMEwCIEABBgW6Sgno7ucJZufVV19tgrX2MYEFY2k/+9nP7FbyP/UY8l/+8he57rrrBD98HTt2PGHehXrMeP/2TfakrkW6G/u956bbE71mTv2l3XJ+6o6r5aUHbpPZTz4gn7z8tCx+/w27a3vrNyvkh13bJDsj7YT5h9JOfW9UMJU3Nzu3VEx3yHcrv5MV85bbrdNPXv9Y3n7mLbslivWzD//6Ibt1CjG9e9I0+fOND9gi+/yf/yFvPPW6vdwHXcbL534tG1ZtsMX5yI9HBJOkalLf2NhYQY8MhHbUqFFyySWX2AKL1i26lO+66y57LHf48KPjyMQAABAASURBVOH2cTXJuzrH+v+/6N6KMeedd16T6pzHYyKHAAU4cu51jWuqBTFF/3AMw4mY4XnSSSchGHAH0R09erQ9dgYxfuWVV+Shhx6yx9ww2UWXQzDOjDG5qi6ek5lur0fetm6lfLPoc1uAP9Nd2/956kH514O3y9O//YUt1FguhRnaSP/45adkoRbzlV9+IN8vXyS7N30rh/fvkbzsrKouF1b78/PyJTMtU7D8Zv+u/bJr807Zsn6LwPDEkk8X263M/734rrz+91flHw8+Z09cwmxhjKlCTH93xV2lYvqY/OOBZ+XVx1+xW6efvvmJLPlksT0Wi/Wz+3fuE4zP1hZeUlKStGvXTnr16iVoZY4bN04uvvhi+eUvfylTp061J0OhNfv888/bLVsI7fXXX28fg6GQurZupZp/qamp0r69PXXCPkP/L51mB/hBAqUEKMClIOgdTyAmJma8ScUsTxNuCB8/sGgpo4sQY3JY7oExuVe0OD/yyCP2zGtMeMF484ABA2rcgslOP2p3XaNlvG7RF7L0w7fkyzefl/f+MUNen/F7PQZ9i/z9tittsZ5x86Xy+K8myZO3/1xmTbtWnvv9jXr/rbago2v8jUfusWd2Y+nV/3SLHDO+P/7XU/L5a8/KnLf+KfP/+2/7QQDGSpZ//j9ZNfcjwVKt9Uvn2oK/SXe144Fh18b1suv7dfbscMS3rF0u2Idu9g1fL7Rb/Vu+mh9d9O0CKVo3V3JWz/Ms+GC+zPvfXJnz3y9tgfz0zU8ELU504c5+9m15TYslxkAhmE/f85Td0kQLFK1OjJHePXmaPV4KAb3r8qly7y/+IFh+8/Cv/iaP3fmoPP2HJ23DE2/PesseZ52nr/X1nK/luxXfCiYuYbZwTiVjqtX5nkRFRUnTpk0FwxtoqZ5++umCGfU//elPbUH9zW9+Y88jePjhh+3hC9z/WbNm2Q9of/jDH+TXv/61fdwlunULIe7fv7906NBBMJ5bnevX9zF4SPC7Rl+/MIMkIBRgfgkqJaCf2J3u586dO1d6XEPvQGscLWIs+cBY25133mm3dPDj/NRTT8mDDz5ot54xgQYtI3Q/4nj8MGPsr6bl9RYVSUFeruRmZUjm0cOSdvCAbiHvtru0MTls18Z19szuLWu/lo0rFttCuW7xF7J63sey4ov3ZNnH/7EFGMZK5r79onzx+nO2sZKPXnzCFvx3Z/3N7jJ/45E/yBuP3mPPDkcX+jtP/1mwD93s7z//iEDYl7/9z/iCL16QgjkvSdaXb8T89/l3BK3S9//1ni2Qn+juXrQ40YW7+ONFslyLJWYBQzC3rNtsd+eiBYpxV7RC83Lyaoqj0uP1A5s90Q5i2rdvX0HXLnovcA9wn2688Ua7hYo1s3iY+sc//iEvvvii/P3vf5c///nPgpbqzTffLJhRf+GFFwoEFbOOMY+gbdu2guGLSi8epDta+y1V0kXspB03EnAIUIAdFAxUQOBkk9alSxcTDGo/VXf7de7c2TYSMn78eHvc7/rrrxe0oLFOE2N/EOpHH31U7r33XnuJCcbqLrroIhk7dqw9CxZd7ejuhqAEdWUDXDhMiIPIYbY6BA8ce/fuLYMHD7Yn36E3AmP31157rd3y/P3vf2939z755JP2jPcXXnhBnnjiCVtM7777bntyE3ov0DpFT8WIESMELVT0poBvXFxcgGsgIkGWo38d9QMtBTjI7k9jF4cC3Nh3ILivn2qKhx9MEw4Hv2XLlgKhxRKTM888Uy699FKBsNx22222MKOFBkGBWGMs8ZlnnhEIDdLRHYoW23333SfoBkXLDTO70R06ZcoU2zISxiPRkps0aZKdN1qB5513nt29igcDtMrPOOMMe4kLxiUhTFg7jS5LtB4RHzhwoP1AgFYgWpOnnXaaQMRg+nDMmDF2CxFlR5ctZppPnDhRLrjgAnusE0KJ6//f//2foFWJeuEh5J577rEFEuu1IZaoFybCoZ7wEUc66oieBIjs7bffbtcJ4/GYvY4HFYy9QpzRq4C14eHwnaiPOpTrCm9SH9dgnqFLgAIcuveu3kuun9ibmYv4P8mbtEjxMZsWLUMIDR5E0DpEN2u3bt0EgomxS4xXQ5QgkhBIdJ9CGCG6aF2jFQgxhihec801glb5TTfdZLfAIY6YPIS10xB0tB4Rh8ET7MM4KJbKQNzRjQvThxBWiDxa78gTa60vv/xywTptXAtCieuP0UKNcVWIPLrh0Z2LsmN2MFq6qBdavpFyLxu6nuX+b2Lq+frMPsQIUIBD7IY1cHGdJ/bajJ02cFl5ORIIOgL+AmxZlifoCsgCNSoBCnCj4g/ei+sWU5QunT1IF2ljobre3EggIATyj30jWGFAMmUmFRMIwVQKcAjetIYocnP9Z67j/xRv0uiTAAlUTeDo0WOscmVWfQaPiCQCFOBIuts1qKvuLvOaw4uLi02QPgmQQA0IpKWVWV5TSlGAa8AuEg4NoABHAq7IqePnn39+UIuwhRpnZ2eLDiNIRwIkUAMC6enp/kfv848wTAIUYH4HTkTgsNkJETZh+iRAAtUj4N8FrR9iN1TvLB4VKQQowAG60+GYje4yO2jqlZnJ3jPDgj4JVIeAz+eTjRs3Oofq/6fvnQgDJKAJUIA1BG4VE9BP7I4A7969u+KDmEoCJFAhgbVr14pfz1FhVlbW1xUeyMSIJUABjthbX62KrzBH4cfEhI/3mUICJFCewIIFC/yTPp8/f36+fwLDJEAB5negUgK6C+2/ZueaNWs4EcvAoE8CVRDQrV3B/4zfYf/zCzNIAjYBCrCNgR8VEfj444+/1t3QB7AvLy9PFi1ahCBdOQKMkoA/Af3gar86Uf/v2Mnax2LgN+wIP0jAjwAF2A8Gg8cTUEr9x6S++eabAiE2cfokQALHE3juuedk/fr1zg79P/TnDz74INdJYIAESglQgEtB0KuYgH56f0S7HOxFt9o777yDIB0JlBKg50/gv//9ryxdutRJ0v87q2JjY590EhggAT8CFGA/GAweT+DDDz/E9OfbzJ7PP/9cdNe0idIngYgngC7nFStW2K95fPfdd/15HHG5XBfMnj3bsSrnv5NhEqAA8ztQJQEtwi/ogz7Vzp6I9cYbb8iLL76IKB0JRCyBgwcPCh5I77jjDnnyySdl06ZN/ix+1JFz3n///f3a50YCFRKgAFeIhYnlCRQXF1+uu9M+Munz5s2T22+/XdAl/f33tC9guNAPLwJ79+61ZzN/9NFH8uqrr8qsWbPkoYcekptvvll++9vfyiuvvCJHjhw5ptL6/2SeHvcdoMd9nWV8xxzACAmUEqAAl4Kgd2ICn3zySaZuCU/UR/1FO3s7fPiw/O9//5O//vWv8vOf/1ymTZsmTzzxhPznP/8RrIHcsGGDHDp0yD6WHyQQbATwooTt27fLypUrBS3Zt99+W2bOnCn333+//PrXv7a/07/73e/kscceE0xA/Oyzz+Srr76S7777zt/AhlMtLbzbdXf0z/T/yTjd8kUL2NkXngHWqq4EKMB1JRhh5+un+nt0lS/SPzbHWfU5cOCArFq1St577z154YUX5G9/+5ugew7ijB80/LBBoF9++WXRP1C2SK9evVq2bdtGodZQudWcQEFBgeBBcNeuXfLtt9/KkiVL5NNPP7UfAvEdfPzxx+2x2T/84Q92i/XWW2+V6667Tq666ir51a9+JX/84x/l73//u92S1d9tWbZsmWzdulUgztUszTJ93F/0/8PpWni76ZbybB3nRgLVIkABrhYmHuRPQP9Qvad/bE7VP36t9BP/hfrH5yHtlvofUz6MHzT8sEGgv/zyS5k9e7Yt0viBvO+++xyhxo/jbbfdJvfcc488/PDDdpcfuvkwuQUtkMWLF9tdgps3b5Z9+/ZJRkZG+UsxHiIEsKQNLyvYv3+//RCGliVao1hvjhYpHuTQm/KyfmDD0h48vOGhDmL6m9/8Rq699lpbTDEUYr4vzz77rLz22mv2Q+CCBQvsB0LYY96lBfrHH3+U9PR00d9b0V3EjgMu/f215zfAR9zP4a1gS3X6v7W7T3/fp+h9P9Xh4fr/QGl3mnb36P+Hr3Q6twgiEIiqUoADQTFC89A/kgf1E//7+sfnd9qdoX+I9O+aGqF/pK7RSP6kf6Re0m6ODm/Svr2USYdPuOHHEWNq+MFEiwZdfvo6guUdGIPDDzG6BB988EG5++67BS0atLCvv/56e0za/BCjKxE/3DgP52NpCPJDlyO6xfHjf8KCcGeFBLAUDfxgGxwPQevWrZPly5fbvRloeWJIAt21//rXvwRiiAcsiCZamhiiQE/IDTfcYHfvwoeQ3nXXXYKHMIytojX6j3/8w26RQnwhwnhgw4MXHt4wrIFrQ7iLiooc0dTfr2PCpvD6C+kIrQmbff6+2Qcf6fo7nO/1ek/V3+lW+G5r9wvt7tff92d02js6vBzH0ZFAXQhQgOtCj+ceR0B3LS/RP1Iv6x+pB/SP1LXaTdDhXvoHbYT5kYyPj5dTTjlF+vfvL7169ZLOnTtL69atpVmzZhIXF3dcntVJyM/PP6YrEl2J+OFGyxkt6GeeecZuUf/pT3+yW9v48TfCfcstt9jiDUGHUPzlL3+R6dOnC1pcOO+f//ynPQEHY4QQGAjN3LlzBaKA5SfffPON/dabHTt22K1yCBSECg8T1Sl7II4pLCyUnJwcu+sU10fvwM6dOwUiCdGCWUSUFV208+fPt8c8sZwM9XnrrbcEDyt4uIEAoufhfj0OivHP23RvxE033WQLJnhNmTLF5odWKB6CZsyYIU899ZTdm4GWJybl6fsvc+bMsbuDMcSA64MNhijQE1Ldhx/zfQEfhI1vwohDMCty2Hcil5iYKF27dpXevXtLx44djzvU5XLFut3uZRMnTvzHcTuZQAIBIhC6AhwgAMymYQh4PB79O6ns1giEFi2hqVOniv8POQTPtH4QhliihXvFFVeI/iGUMWPGyLBhw6Rv3762aLdo0UIg5nWpAYQbr1rEOCJEC0KBLktYMkKLCy1nCBa6v/WDhD3rG0Lz0ksvCQQLy08eeeQRgWhDvCHiGPeGUKE7HaLVEO7//u//BEIJrrg+ynHvvfcKRBItUPQaoKxoleKBAg8lWE4GwdQPSYKHFTxQoAsYPQUYLsAMYPRGQNjrwriyc6OioiQhIUFSUlIkNTXVdklJSRITEyP4018Y+/tiwsZHOsInctHR0dK2bVsZOHCgnHnmmYLv0G36YQL36fnnn7dNReIh4/e//71978Djz3/+s0yYMOGYbPW1rtffvTeOSWSEBAJEwBWgfJgNCQSUAES6e/fuMnz4cDnnnHPk8ssvF4gMJs5AXCAsEBWIIH480VJFawyiDQFCC/fKK6+UCy+8UMaNG2cLd58+fezWTpMmTQQ//gEtcIRkhgce3Jt27drZLUgwHTJkiIwYMcIWLy1W8tOf/tRuMWOMFpOdfvakFpl/AAAQAElEQVSzn8lPfvIT+5iTTz5Z2rdvL7GxsYIuZIg7xvExNgtXk54DlAM9KCNHjpRLLrlEbrzxRsFDBx408JCBljyWCl199dX2dwjlRGsX167odnXq1El+8YtfCLrCka85RovwpPPPP/9xE6dPAoEiQAEOFMmGzYdXK0cAXYroxoZoDxo0SPCjjB99iMEvf/lLe8YrulTRAsIPNAyJQLjRIkTctGIh4DgOIo7WN8aWr7nmGrsFdemll4r+IZazzjpLRo8eLaeddpoMHjxYICo9e/YU/ICjDE2bNrVbdg0t8ui+T05OFghTmzZt7IeNbt26CcQE3f0o66mnnmqzGT9+vIDPBRdcYAsmHlbQYked77zzTlvI0CJ89NFH7aU5EDTwwgMPeicgUmhB4kHn7LPPFggx7gG6mDEujN4CMMa4Pbru0W2PFjZa12hZo+eh3C08Lgqx79Kliz1ccd555wnuA8aL8aCFsqAc6EFBGS6++GJb4E866STBA9ZxmdUgAQ8XyBfc/E67TT9c/NQvziAJ1JkABbjOCJlBKBNAFyh+sFu1amULFgQcYgIRR+t71KhRArFCK/yiiy4StObQpQyxQjczZuBCFDD5C4IFccA4KoQdAgShaCiH7ntMPoMwYQwbDxv33Xef3c2P7n6UFePdEKxr9EMFRPeyyy6zewkgxnioQJ0HDBggEDI8UIAPJjxhnBtju5hchbyR3y/1gw26dbEOHNfGeDLGmDHujNZsVd8LPSwheFDA9dD1O3nyZHv9LThC6OEeeOABO23SpEn2fcDDTuvWravKOiD78RCG8vll9pBfmEESqDMBCnCdETKDBifACwaMQHFxsWByFFqtGAfGuDB6BPBAgS5djCubbl3MbsbkKoyP//DDD4JzqyoIHm7QO4AuarRSIf7IGw8peECBmKPFja7fc889127tQvjR+q0q7/rejx4FPGSY6+iu6G66B+RCE6dPAnUlQAGuK0GeTwJBTAAzhtEtjFYpuoAxKxytVbSO0XrFOC2WB6HljpnQmBmN2dJYBpabW/Ub9CCUEMyhQ4cKBBRCCkGFsGKimr+YY5wWQwMQZHTTa0ELYnIlRcMsaf8Wt+Z5SckefpJA3QlQgOvOkDmQQEMSOO5aWNYDwcSs7U8++UT+/e9/C8a00TWOiWuYGY1Ja+jSxbpoGLrATG/McNaCclx+/gnoJkb3PLp+MZkNk+EwEQ5dw+hmR57oMsZ6XnQhoysZXcrousW5/nmFanjs2LH+RT/FP8IwCdSFAAW4LvR4Lgk0EAFYccIEJqw/xrpdrL3Fsid0EZtuXYz9vv766/LFF18IxmxhYQozjasqIpYB9ejRw55UhnFujG9jeQ5mmaMVa8Qc3bETJ060Z5RjchTGh6vKOxz2Yx6AqYdutfceM2ZMrInTJ4G6EKAA14UezyWBABHAUhysvcW6Y1h/wlpVTG7CxCnTrYtlNRBErNuF9SmsWcYynqqKgLFMLL/BMhxMtsIkMkwwwvpgzG5++umnbZvImFSGmd6YjIWuV6yzrirvBt/fCBfE7G7/bmj94NG9EYrBS4YhAQpwGN5UVin4CMAq1p49ewSWobAkB8tz0MLEkie0OLH8B8t6sJ4ZJhgXLlwoeM0jDIT4fL4TVsjlcgnEErO3detMMLMZs50xAxqvz/Mf88XMZyyjwixvrMeFwYoTZs6dNoGWLVvaPj50K7gLfDoSqCsBCnBdCfJ8EtAEIJIwAQmzi3gJAEQU4gdRhRhCZNGtC9vIsKQFy1owD4k1sRBnncUJN6zvxZperD3G2l3kB/GGiKNVDB9xjPli/6mnnio4HpalTpgxd1aLAB5w/A5sLAH2KwKD4UCAAhwOd5F1aBACsNKElznAzjQMTaD7FgYp0J2L8VH46NbFa/DQjYwXSaBbGaYuqyogWqJokaJlihYqWqqYpYxuaOSH9b1o0aKbGC1cdBOjxQthQAu4qvy5v24EwNnkwBawIUG/rgQowHUlyPPDhgBeaAB70GiZ4g1KaKmixQqrSJjoBPGDpSyIIaw7wUY0XqGHli9awCcCAZFs3ry5wLoSJvVgrPXmm2+2x14xBgsxh3hDxDFGi7FajNl26NDBsY0s/Gs0Av4CbFlW10YrSCRfOAzrTgEOw5vKKlVMACKJpTcYW8VSHLyIAEtpsKQGS2vQfXv33XcLunNhvQpjtRizxevvsNSn4lzLUjFZB7ODYU0Ks4XRKsZSIMwihsAaMYd5S8w2Pv300wWzjzELuSwXhoKRgP8YsC4fu6A1BG51J0ABrjtD5hBEBLKzswWzg7/++mvBbGGMj2L2MIxDYDax6dbFxCRjOnHLli2Snp5erVpgfSvWuWK9K9a9Yo0t1sEiP0yggphjQhXWy2LdLNbPYh1tuKyJrRakMDzIfyxdd0G3CsMqskqNQKAGAtwIpeMlSaAcAZg/hOlErHOtyHSif7cu1sti3SzWz2IdbbmsjovqH1aBhSZ0E8NiEyw3wRyjMcUIAxew8GTEHJafTjnlFPslDFjqc1yGTAgbAuV6QOLCpmKsSKMSoAA3Kn5evDwBPb4mMJ24adMmgelEWG5C6xKtTFhbQrcuTCeiW7cuphMhnBBQtIohqBBW2CaGjWIz5gvbxbBhjBcTwKYxBLp8eRmPDALlzHJmRUatWcv6JkABriZhHhZYAlh+A5vDsD0MIYWgQlivvvpq++03EFyYOYTtYozXQpDxVp7qlAJdvuj6RRcwuoLRJYyuYXQRI0/kja5jdCGjKxldyuhaZjdxdehG5jH+AqwfErdHJgXWOtAEKMCBJsr8KiWgf7gEDuKLNasw1I+376ArGV3K6Fqu9GS/HZi0hMlLmMSEViomNZk1tpg8BTHH5Ce0ljEZCpOiMDkKk6T8smGQBKpNAMMYfgdTgP1gMFh7AhTg2rOLoDPrVlUtgj18Pt8L6MKFgwifKMfY2Fgpbzrxt7/9rWCZDmYTY9kO7CBjvBfjtFjWA9OJWOZzony5jwRqQwAT9GA4xZyrv79fmDB9EqgLAQpwXejx3CoJnH/++f+nRXezdoPLHwzRhEEJGJbAGlsYmoD1KNhBNq/Lg0EKGKYYOHCgwFAFDFaUz4dxEqhPAh999JF/9kd0/FX/BIZJoLYEKMC1JcfzqiSgW77n6oNe0M7eYmJiBOOyMDaBliy6jWFSEaYTYWIxWE0n2oXnR0QSwJrxOXPmOHXXrd8/OREGSKCOBCjAdQTI0ysmcN5558Fa0Ntmb3x8vGDcF+OyMLfIlqwhQz9YCcCUKEyB+r3SccWHH344M1jLy3KFHgEKcOjds5Aoscvlekl3OyegsHiRAEw4ooWLOF0oEYjMssLWN4ZD/Gq/p7i4+BK/OIMkUGcCFOA6I2QG5Qno1u8vdNoo7ewNM5Lbtm1rh/lBAsFGAEY2du3aJXiLFZapwVoabH2bcupu51wdHv3JJ5/s1T43EggYAQpwwFAyI0NAt3wfMGEsFcKMZhOnTwINTUC3XAVL3NatWycYz8XSNxhegQEW2P/GMjYYX8Fbp2D8BfbCTRnhawH+r24R70CYjgQCSYACHEiazEt06/dkLcAdDQosEzJh+iRQXwQOHz4smDAFoy2wnoY15pjkB1Oi11xzjcDIC0QXtsFh/GX9+vUC86R4A5b+vgocyqbF1l6rDmMuCCNN7yuET0cCgSZAAQ40UeY30iDAsiH8kJk4fRKoLQG8U3nbtm2CiVG6NSroKsa8gltuuUXw+sbbb79dMGEK6RBgWFnbs2ePwIKVFlD7svDh7EglH9gPh+vBx2Haj9DfSdSerj4J8ItVn3QjMG+Xy9XDVBsvNjBh+iRwIgL5+fkCwVy1apXgNZAwTwpBhbBi5jzWiUNwZ86cKXjJBrqKt2/fLhBK/3y1WDqtWf/08mFYRcOkQKxDP/vsswUv4MBMfXMcxoVN2OfzxZowfRIIJAEKcCBpMi903yUZDHiBgQnTj2wCGIdFly9MOuINVRBRmAydOnWqYAwWDsvU8M7kV199VWCeFF3K6FrGuUZYjV8VTVhT69ChgwwePFggsDDoAjGHgReM9cIuOAy/YB36VVddJRgDRusZ74Uub1FNX/Oc888/v3lV1+T+8CLQELWhADcE5Qi6hv6xyjPVZQvYkAh/H+OleFkGXpqB1ileogGToffcc4/AZCjGYTHp6eGHHxaMw3744YcC+98//PCDoPULQvq7Y7de4SNelcPwBl66MXbsWMFLN9AdDVFFKxnW1EwLGgL7k5/8xBZjTAiEQZjK8h42bJjgIeC8885zDtHlSdGRd7TjRgIBJUABDihOZqYJZGpnb7rrzvb5ER4EsrOzBd2+X3/9tXz00UcCkbv//vsFrUaMw+INUw8++KA8++yzgnFYHIflPThPi1iNIaAHBa+CxCsh8dKNG264QTCxCgLp/9KNa6+9ViZOnCinnnqqoFsZ685rfLFyJ0yaNMluOfslj9LXoBUsPyAM1p1A8Apw3evGHBqBgBbd3eayBw8eNEH6IUAAM4Lxpqo1a9bI559/LhC5hx56SO644w6ByN10002Cl2A89dRTgqU8CxculK1btwpeVgCB9XfVqS7GYfGWKrQ60eK85pprBF3SZrYyZjLfe++9gpnMmE0/cuRIgf3w8l3E1blWbY5Bt/WQIUP8T73jsssui/NPYJgE6kKAAlwXejz3OAJut9tZL0kBPg5PoyZ4vV45dOiQbNiwwTY6AWMTaE3CUArGYCGyGId99NFH5d///rfgDUDfffedfQ7MMfoLLMJVVQbmRjETHqZH8UINCNptt90meB/zP/7xD8E4LN7TjBY0Wpzjx4+X/v37S7C8mxl1BBf9nbarquPJeXl519oRfpBAAAhQgAMAsR6yCOUsHQHGj30oVyQUy56eni5btmyRpUuXynvvvWeLHFqRmEWMFiYmIuG1jpiIhOU8q1evlv3799vjsFpg7CrDN85OqOTD5XJJixYtpE+fPoLZxD/96U8F18FsZYz/4oUbuBZa0OiixjgsWpSdOnWSuLjQaEgmJCQIHiCk7O+CsiBDJFA3AhTguvHj2eUIvP/++9tNEpaIoFvTxOnXnUBOTo5gXHXlypXyySefCEQO466/+c1vBAJ76623CsZlYcd49uzZthDv3LlTsrKy7ItDWO1ANT9SU1OlR48eAotmF154oT1jGeOwjz32mGAyFXy0mjGbGPvxVqvu3btLSgrmLVXzIkF+GMagTRE1vwEmTJ8E6krAVdcMeD4JlCPgsyyrbuPA5TKMpCi6emE2ETOEsRQHY60YE/3tb39rj8NiPBQzi5944gl57bXXZP78+bJ582bBDGR0MWuBcGYSI1wVO6x9xcxgtEzPPfdcufrqqwWzlTH2C3HHeC/GfTGTGS3cUaNG2eOwaPmiBVxV/uGwH2zQnV5al1YXXXRRammYHgnUiQAFuE74eHJFBPQPv9MNje7Nio6J5DR0zWONK4z//+c//5G/snAkkAAAEABJREFU//3v9qsaIa4Yh4XZRKyR/de//mXPNobZRIynQ5w1WxsdfDg7coKPqKgoe0x1wIABMmHCBJk8ebJgtjLGYTFbGWtfsTYWY7PYd+aZZwqObdeunfiJzgmuEBm7sOTJ1FT36nQ3YfokUBcCFOC60OO5FRLQLeC1ZgfGGE04Unx0vWN2MMwm6i55e1kOxkWxThUtTIzDQvQwDvu///1P0J2M2ccwmygiDiYILJyTUEEArVDMCsbsYLROL730UsFsZYz7YhYxWrFoQaNV+4tf/ELQyj3llFME47AY36wgSyZVQACMTbK+J11MmD4J1IUABbgu9HhuZQS+MjtgWhCWjEw8HPy8vDzZvXu3oG4wm4iWKgQVrchrrrnGnoh03333CQxCYKbxkiVL7PWzEGb9cOJ0EYOF/jGHd0KHda0YV8X46gUXXCB4g8/dd98tmK384osv2oYjMC6LGbu6e1TOOOMMwfpZrKOtTv4nvDh32gTQ5W4H9IdmSgHWHLjVnQAFuO4MmUM5ArpV9rEWmgIkw8oRzA8iHCoODwyw0ISuX5hNxDgsuoTRNYzJRv4GITAOi1fcbdy4UfAau9qMw2JGMMZhYTYRM4UxYxgzhzGDGC1YCDla0JhhfNlll8mYMWOkb9++0rJlSzFLZEKFbZXlDNIDyrWAuwZpMVmsECNAAQ6xGxYKxdXdrphy+5opKwQMQmzije3rhwNbLCGa5vV1WDYDe8CYbATj/8YgBFqYsPqESVGYHFVQYD9XHNOKrao+Ho9HWrduLf369ZNx48bZZhPNbGWshcWaWLSg0TWNtbJYM4ulL1hDy3HYqug2zH5/AdbfH7aAGwZ72F+FAhz2t7jRKjjTXBkTsTBr1+fzmaR692H+0JhNhN1hYzYR47AYC8WyHUxEwiQkYzYR3co4z79wurvRFlv/tIrCsHuNN+pgyQrMJqI7GIKOemO5zowZM+x30kLcJ06cKMOHD5euXbsKrEFVlB/TgosAehv8StTZLxzIIPOKMAIU4Ai74Q1VXS16q3VL4XlzPVhUQmvSxOvqoyWK19fBbCIsNuENOlg6g1YkRA4TkbB8Bsto8OYdYzax/DhsdQUWQmnMJkJAMdYLC1IQVphsxExmCC5mMsNsIiZEQZCbNWtW16ry/CAggPvvV4ymfmEGSaDWBCjAtUbHE6sioEX4Bi3C881xWHaDcVSMrZq0E/nm9XXz5s2z3wGLSUc4H61LTESCAQgYgoD4YjIURL6i19ed6BpmH96Qgy5fdP2iCxhdwZhUha5hdBGjq9iYTcSbd2A2EW/iQdeyyYN++BLAxDu/2sX5hRkMFIEIzIcCHIE3vSGrrEV4rBbhF8w1MY6KZTH33XefYNwVrUd0Ab/zzjt2HEYmMA6LV8jB+ARatZiIBLOJa9euFZyP8eTyLVfEzTUq8jFZCd2ImLyESUyYzITuaJQDk5ywJAiTnjD5CZOgMBkKBhgwOQqTpCrKk2mRQ6DcEjHnjV+RQ4A1rQ8CFOD6oMo8jyGgRfh6LcK3aeekb9u2TfC6Orx1B++OhUN8165dgnFYCGp555xcSSA1NdUxm2jGYbE8B61kLBVCCxrLd9B6xnKeQL6+rpIiMTlMCPi3gPX3ckuYVIvVaGQCrrLrM0QC9UdAiy/GhEX7FV5E/6hVmO6fCLOJMCABQxIwKIHJVDAwgRY1xpcx3otxX7SgzTgsDFT4r+H0z49hEqguAcw18DuWAuwHg8HaE6AA154dz6wmgYkTJ/5SC+xHLpfrhDOKseSmbdu2MnDgQIFJxCuuuEL8ZytjxjJmLsOUIswmwrQizCbi9XUwuVjN4vAwEqgRAZgOxXpwv5M+8AszSAK1JuCq9ZlhdiKrUz8Ezj///Ne1+L6oXZL/FXr27ClopZrZysZs4sMPPywY+4XJxnPOOUeGDh0qaPWi9et/PsMk0FAEYM3M9Nxof/MHH3zwXkNdm9cJbwIU4PC+v41au/POO+9eXYDJ2tkbWqqY+ISXAGCyFcZpYTYRr7uD2UT7IH6QQBARgK3uZcuWOSXSD5K3OREGSKCOBCjAdQQYHqcHvha65TtOdzk/YHJGKxbjs5j4xJcAGCr0g5kAZt9jdr4po279vqRbv5+YOH0SqCsBCnBdCfL84wiMGTMmVif+Uzt7QwsXRirKGTOw9/GDBIKJQHp6uqDVi+Vo8+fPd4qmxffLAwcO3OgkMEACASBAAQ4ARGZxLIGkpKTrdYptrg8Tq/BjFsxraXVZuUUgAawnh/lR81YrLFP71a9+JWj1YuKVH5IvsrOzz9fHFfmlMUgCdSZAAa4zQmZQnoBuLfzGpGEiFVu+hgb9hiSAt1oZa2qYxYwuZcyih7nSa6+9VvBmK6wTh71uvNWq3FIjU9SHdbfzT3RrON8k0CeBQBGgAAeKJPOxCUycOHG8UqobImj1QoARpgtWAqFdriNHjsimTZsEtr4horDNPW3aNLnhhhsENsGxThzW1LBOXIuofSzMlRYVFdlL4vR39RgA+uHRf636Oi2+d+sDGu4tIvpi3CKHAAU4cu51g9RU/6CNNRc66aSThBOuDA36tSGgu37FvNUKXcN46QVarTC2AnOlZp047HXDHvi6detsc6XlLFfZYlvV9fV31zmuVIg3V3UO95NAXQhQgOtCj+ceR0D/cLU0iXos2ATpk0CFBAoLC2Xv3r2C7t9PPvlEsETtT3/6k8DYyjXXXCNmnTjshmNy1MqVKwVvwYIw+wsmwhVewC8xOTlZunfvLpiJf+GFFwreyTxlyhRBeODAgc6RyKvUDT/rrLMSnB0MkECACVCAAww00rPTP1xRhgHHfg2JyPW9Xq9gQtOGDRsEXcD/+te/5K9//atgYh7GYGGXG/a5MQHq9ddflyVLltgt3rS0NMG5+vvktEqrooghD7w8Ay/ROPvsswUtZFwH18P4L166AXHHWvSf/vSnMnz4cDnttNMEYRh/gUlTWFbzu06HmJiYz84///x4vzQGSSBgBCjAAUPJjEBAt4CdN8VQgEEk/B3EcvPmzbJ48WKBiJpxWLwbGfa6MenJiOCcOXPk+++/t0UZ73QGnZqIbKtWrQSvgRw3bpzgtZBoxd5///2C10WiGxqvj7ztttts8YUI4/WSHTp0EMzGx7VO5GAoBmPGaHX7HXeG/k6/6BcPoyCr0tgEKMCNfQfC7Pr6x+qwqVJOTo4J0g9hAriPO3fulBUrVthrZNEdDEtm6L6FwKK7+IEHHrC7j9GNbMZh8Qo/I67wq4OgadOmAjOlI0aMEFhKu/766wVjvpipjFdXPvLII3LXXXfZE6wmTpxot2K7du0qgXzYg3W2K6+80imuLvvl+lpYWuekMUACgSBAAQ4ERebhENA/VrtMBLNNTZh+8BLAjOD9+/fLN998I5999pk8//zzAkHFBCfMJEaLEIKLCVCYCGVeG5mVlSU+X8kEYX3fq9VVDKGEYKL7V4uaLaQQVAjrSy+9JLgGroXWM2yFjxo1SvBGq2bNmjUoQLwPGs5cVNcPZlWVidMPfQLBUAMKcDDchTAqg24B7zDVwdifCdNvPAIQSdwLdP3Onz9f0JLESy/Q3YoWJkTWiCD2YUnPli1b5OjRo4K1tCi5FqBqCaweM5X27dsLun7POussQUsSXcLoGkYXMbqK0WWMrmN0IaMrGV3K6Fr2eDy4VNA4vHErNhZG3ewiddBjwRfaIX6QQIAIUIADBJLZlBDQP/aOALMFXMKkIT4zMjJk69at8tVXXwne3vPYY48JJjeh9YpuYozDQgRfeOEF+fzzz+Xbb78VGKmANSiIqymjf9ik+ftut1tatmwpffv2lTFjxsjPfvYzwaSm++67TzDJCfn/7W9/sydZ/fznPxe0IjEpCpOjMEnKP69gD7tcLsG7p/3KeZFfmEESqDOBxhPgOhedGQQjAT0GuFeXy6udYKkIlpkgTFc3AljXaswmfvDBBzJr1izBjF60JCGw/iKI/VjWs2/fPsH4La4MYTUO8RM5vJkKa7jNOCyMWmAc9vHHHxcYtMCMZYg7ZjDrVqG9rKdbt26CZT4nyjcU9+HhwZRb9+4MNmH6JBAIAhTgQFBkHscQ0D9U20wCWlkmTL9yAujq/eGHH2T9+vVizCY++OCDgu5bmE1EV/Ef/vAHwWQktHDR0oWBCrR8da+D3T1cXYHFu5Xxdiq07s4991yBgKM7Gt3S6ILGu5nvvfdeMeOwI0eOtMdhmzdvLmgVVl6L8NvTr18/p1Kab1nESWWABGpPgAJce3Z1OTOsz9U/VI4AQ1TCurI1qBzMJm7cuFEWLFggr776qmDdKYQP4nrNNdcIwkhDK3P+/PmCpT04B5OkNNNqXwlLbtq1aycwLnHmmWfKFVdcIZhQBTvIzz33nMAhjNnLGOecMGGCYP1r27Ztq32NSDkQLNEjYOqrW/xdTJg+CdSVAAW4rgR5/nEEdAt4pUlctWqVCYa9jy53tEoxSxizhdFa/d3vfmdbc7r66qsdEcQ4KWYbo7WLHgIzDmtE1viVAUMrtEWLFtKnTx8ZPXq0bUgCphnxvuWnnnpKYHQC9o9hXALXhT3uoUOHClq9aP0K/2pEAC1/c4L+bnc1YfokUFcCFOC6EuT5xxHQXaJLTSIEGN2rJm77IfoBwxEwm7h69Wr56KOP7HWv999/v202ETOJMeEJ47JYJwuziag7jsc4rP7hdrqJq1P9lJQU22wiLDXBVCKsRkHMMbkKy3XgI4507D/99NOlR48ekpqaWp3seUwNCPgLsD6NAqwhcAsMAQpwYDgyFz8CCQkJc7XgHEUSWneYcYtwsDuYPjx48KA9QxgWmyB0sOAEc4aYcASHyUcQvzfffNM2m4iZx7AEhYeMqlqu/vVHSxQzgzHJBzOFMWMY18EMYrRgIeIQcxi7gKlEtHTR4kXLFy1g/7wYrl8CYO53BQqwHwwG60aAAlw3fjy7AgKzZ88u1GL0rNmF18TBaIOJN5avHwoEYomx1UWLFh1jNhEzfTEOCxFE9y1sFmMyFNbOYg0tZnPrOlW7FYs1rTBt2L9/fxk/frxMmjRJ8LL3Bx980G45YxwWy4Juu+02e60s1sxi7SzW0GLcsbEY8brHE/BvAevvAAX4eERMqSUBCnAtwfG0ExPQLcKH9REHtRNMxELLDktpEK9Ph+7enaVmE999913BmCgsK6Elidm+RgRhFOKTTz4RYzbRlE3/wNoiW50ywjpTr169BLOEYbUJs4ZxLVhzQusZE6qmTp0qEPbzzjtPhg0bJp07d+YrGqsDN4iOKdcC7hhERWNRQpwABTjEb2CwFl+LG17KcIMpH14hB0FCa9Kk1cZHSxTjqljn+vHHHwuE1H8cFiKIJTRYSvPf//5Xli9fLrt27RK0wNEChsBW97p4naK/2UQsBzIWoyCwmGSFpUFoPcNuMdbNwo4x7BlX9xoRd1wIVhjWvUyx9Xco0YTpk0BdCVCA60qQ50VEipAAABAASURBVFdK4IMPPnhP7/yTdvaG8VJ08b711luCsWE7sYIPiDReXzdv3jz597//bb++DjN6MQYLEcQ4LIxB4M076EpGvuha1q3uardecVmYGcSbcgYPHix4cw5eXweLURj3ff75521jFxB3GLuA2cSxY8fab+IJRrOJqA9d/RDASyVMzvoBLtaE6ZNAXQlQgOtKkOefkIAW4Qd0q+FKn8+Xbw788MMPBWtfTXctrDphRi9akv4iiMlIX3zxhf36OkyOQutX/wDaImt8k2dFPsZhIZawNQybwxBRiClEFdeEyEJsIbq4LkQYYgxRhjhXlCfTIo+AvwDr2qdpV9uN55HAMQQowMfgYKQ+CGjBfV0L8HnaiRZj+xLw0TW8cuVK234xupUxDmuE1fj2wSf4gJGEyswmopsYb9lBtzGWCeHtO3gLD7qV0b18gmy5iwQcAvhemoj+3q43YfokUFcCFOC6EuT5VRI4//zzL9St0aewfAbCihOMj/CJXEJCgnTp0sU2im/MJmJiE8aTqzKbeKJ8uY8EqksAhlX8jp3rF2awJgR47HEEKMDHIWFCoAicc845LXSr8zOd3/+066PdcRuW3GDpDZbgYCmOeX0dTCVigtWzzz4rDzzwgG3swphNxNIeLPE5LjMmkECACcCYCuYjIFvd+s33er3/QZiOBAJBgAIcCIrM4zgCEF+3271at3TP8t+J7mIYlvA3m4glSpicBWMUMEoB4xQwmxhqr6/zryfDoU8Als+wht3URH+XH/vkk08KTJw+CdSAQIWHUoArxMLEuhLQ4vue/sFqb/KBMQq0ZrFECKYTaTbRkKEfjAQyMzPt2feYkV9avv3a/4t23EggYAQowAFDyYwMAd3t/DctvqeZOAT3mmuuoQEKA4R+UBPACzLQQ4MXa5iC+ny+mz/44INcE6dPAoEgEDECHAhYzKNqAhdccEF/Lb53myMxbosuZxOnTwLBSgAz8mHABa+FxGsgTTn12O/NH3300fsmTp8EAkWAAhwokszHJqB/rBzDG5i9jJnL9g5+kEAQEMCSIix/W7VqlXz66aeCmfR4uQbWpcOE6IoVK8qX8roPP/zw2fKJjJNAIAhQgANBMejzaJgCnn/++c31lS7Rzt7Y8rUx8KOBCRw4cEDWr18veKPVG2+8IWjV4s1SN910k8DYCwzAwIwoJlh9/vnnArOm5S2z6QfJzbrYw3S38z+1z40E6oUABbhesEZmpvpHy5nx3L17d8FyocgkwVrXJwF0D+MtVQsXLhTY+8abpR588EF7qRpm0k+bNk2wThxvtIK9cLRqMZ6LF3WcqFz6+7tLu0f1McN0q7enFt/jmsN6HzcSCBgBCnDAUDIjTaCfdvYWTOJrF4gfIUMAL86AYC5btky0EMqLL74oDz/8sGBsFgKLVzjChChMieKNV4sXL5bNmzcL7IFXp5JKKdsimxZb8Xq9/9L+ldrvr6/VWbs7KbzVochjAkGAAhwIiszDEBhkAlzDa0jQL08A62vxdqzVq1fLZ599Jq+++qqgS9i8WQqvjkSX8cyZMwUv7sBLOb799lvB7OTyeVUUT0lJEfTAnHbaaYIZ+Nddd53A1jjGepG3Flzbnrg+94BuIf9Si+7r2qeJSQ2EW8MSoAA3LO+wvppSynlVm/8r3MK60kFfuYYvoG5N2mIJ0YR4vv322wIxve++++SWW24RCOLvf/97efzxx23xhQhjUtTu3bsFk6SqKnF8fLx07NhRhg4dKuecc45cffXVgrdlPfTQQ4IXeDz99NMCAYfYYh7C6NGjpU+fPtKiRQvB27NM/vr7+rwJ0yeBxiBAAW4M6uF7zR9N1aKiokyQfhgSOHr0qGzatEnQ/YtuYJgNRbfwbbfdJljzje5idBuj+1h36Qq6k7dt2yYwcFEdHK1bt7bnEMCAy6RJk+RXv/qVbZL0mWeeEYz5/uUvf5Hf/OY3csUVV8iZZ54pAwcOlHbt2glMm1aWv5mcZfbrB4UXTZg+CTQGAQpwY1AP32vuM1XDD7QJ0w89ApiwtHPnTsEEJt09Ky+//LLgzVKY4IR3MkP8YK8bYoiJUGhZYmIUJkhVVVu8lKN58+bSq1cvGTlypFxyySVy4403CqykYcYy3gE9Y8YMwUs3IObnnXeeDBs2zH4pR2Ki08ki1fnzP0Z3NftH39P12uWfwDAJNDQBCnBDEw/v6+0w1fMz4WeS6AcRgcLCQtm3b5+sXbtWvvjiC3n99dcF62CxRAdiiCU7RhCxlOfLL7+Ub775RtCKLCoqqrImycnJ0q1bNzn11FPl/PPPF4g2XgsJEUerGN3PZsz34osvlhEjRgjshOP1krpruMr8a3oAJmihtW7O8/l8D5owfRJoLAIU4MYiH57X3W6qdfjwYROk3wgEtMAIHoLwJp8FCxbIf/7zH0H37f333y+33nqr/N///Z/cfffd8uijjwpanJ988onAEhSMVOTmVm1xEZPsMA6LF2ecffbZctVVV8ntt99u209+4YUXjhnz/dnPfiZjx46Vk08+WVq1aiVut7vBiejWroBJ6YWXfPTRR6tKw2HssWrBToACHOx3KITKp1subAE34P3KyMiQrVu3yldffSXvvfeeQPjMm6V++ctfCt4whTjSsX/p0qX28TivqmJ6PB5bLCGa48aNk8svv9wWbgg4hBxjvhiHxZgvxBciPHjwYOnQoYME2wQ8dKfDKIeps2VZD5swfRJoTAIU4MakH2bX1l2Tm0yVDh48aIL0a0kALVG0SDFDGGYT0VJFixUtV7Rg0ZKFIM6aNctu4aKlixYvWr5+rb0Kr64flqRp06bSs2dPu/sX3cAwx4huYSwJQjcxuovRbQwxnzhxogwfPly6du0qdRmHrbAw9ZyIsV/93bSvosV3s45/YEf4EdYEQqFyFOBQuEshUkbdjVmgi3pEO9vQQXUm5ODYSHXFxcX2mOq6desEY6wYa8UkJIy9YgwWY7EYk4UgwmwixmoxZouxW4zhVsUNQgl73JjAhIlM11xzjWASFSY4QWD9x3wxEWrUqFH2xKhmzZqZdbJVXSLo92MoRH8vnXLqB4+/OREGSKCRCVCAG/kGhOHlN5o6wdiCCUeqDwHA7GBjNhHvRDZmE9GyNIL48ssvC8YpMesYs4/RbVoVMyy5wdIbLMHBUhwsyUGXMGYno4sYXcUPPPCAvYQHS3mwpKdfv37SunVrQRdzVfmHw/4333wT1q5MVbZ+8MEH/zYR+iTQ2ATqT4Abu2a8fmMRWG4uDDEx4XD1YTYR61uxzlX/uB9jNhEtTjMxyZhNXLJkSbXNJmKyEoxHwIjEmDFj5LLLLhMYl4CRCRibgNEJGJ+AEQoYo4BRCkyK6tSpk2CSVLgyr2698CDz9ddfO4frbvmbdcSnHTcSCAoCFOCguA3hUwj9I/eVqQ1MDeq4iYakj7fkwEKTGYeF2UQsoYElJ4yZQhDvu+8+e9YvLD7B8hMsQMFsotfrrbLOqamp0qNHDznjjDPkoosuEuSJvGE2Ed3E8GFGEWO+F1xwgcC8IswswtxilZlH+AF4GYMfgg8/+uijL/3iDJJAoxNwNXoJwrMAEVsr3XX6ia58lnaSnZ0t6H5FOFgdxmEhlhDNuXPn2raH0bpEKxPiCkE0E5MwDguziXiwQPc6xLmqesFsIlqkp5xyipx77rnyi1/8wn6pgLES9dRTT8kf//hHwZjvpZdeKhiH7d27t202EQYrqsqf+ysmgHuJngnstSyrSN/n2xCmI4FgIkABDqa7EQZlmT9/frb+wXvGVAVjm9U1P2jOCaSvyyKwylWZ2UQYiDBmE1966SX77TvotsTbeNC9XFVZMA7btm1bGTBggEyYMEEmT55svxYP47AY74WlKIR//etf2/twDI7FOTTXWRXd2u3HuDsMi5izlVJ//+STT7aZOH0SCBYCFOBguRNhVA6Xy/VnLXwHUCVYToIApaenI1ovDi3tHTt2yPLly0V3M8q//vUvwUxfmDKEwJ7IbKIu5wnLhFYozCaiVYrWKVqpaK1ipjJmLGONLVqzEHG0btHKRWsXrd6EhIQT5s2dgSeA+4kXP+CNS6W579H+n7TjRgJBR4ACHHS3JPQL9P7772fpH8KrTU0gwlivinFUk1YTH0tu9u7dK2vWrJHPP/9c0BX8xBNPCLqGb7jhBrn55pvtblx052LWK4wuYGnPDz/8ILrrscpL+ZtNxDgrRBtrbbEOFi14/zFfjNNivLY+zSZWWWAeUCkBzCSHcZLSA3x6HP6yDz74oGrTXqUn0COBhiRAAW5I2hF0Ld0S/VKL8K2myugWhGiitYhx4fLjpzDc8d1338n8+fNl9uzZ9qQmiDZeX4cJSJiIhAlJr7zyisAoBcQck6Oq8/q62NhY+/V1mCEMi02w3GSsRGEmMVpM9913n/2qPMw0Hjt2rPTt29e2BGXKXwOfhzYSgc2bN9vfHb/LP6QFuWwatN8OBkkgGAhQgIPhLoRpGT788MOZWoSv968eJjvhtXWY3HT77bcLDE38/Oc/P+Z9rroFbb++Di2Z6o4fw8ZwZWYTsQSovNnEQYMGSfv27U/4+jr/cjMc3ARg9AVWwnSL1y6o/t6t1w9ef7Qj/CCBICVAAQ7SGxMuxdIi/ILP5+um6/OedsdsaBXD1OIxiRVE9I+pnQofQguzicZKFKw5wUQjuovDwWyiXdFQ/miEsmOIYvr06QLTnbi8/p6k6e/c+bonpep1YDiBjgQaiQAFuJHAR9JldXf0dj0Od5H+URynfxzna/dDBfU/otOXazdb74Ox/JuUUmfhHB3frJ1tHhFLhrAECK+5gx1j2DPWx2E3XQQS0N8XwbKx/fv3m9p79ffhXN31vMsk0CeBYCVAAQ7WOxOG5dJCPE+3iMdq10Z3D8brKp6s3bCsrKwkLdDNdfpw7X6mw3dr95zuiv4C5+jx4mH6h3aOPtbe8No8WICqz5nV9oX4EfQEMIaPyXmmoPp7cr3+7iwz8Qb2eTkSqBEBCnCNcPHgQBHQ3YN5+ofyO+1WzJ8/P/tE+X755ZcZWpjP0j+uz5vjsK4XFqMwocuk0Y8cAvq7IFhnvWDBAqfSOu1J/T15yUlggASCnAAFOMhvEIvnEPDpH9cbdOzX2tmbbjkLJnS9++67dpwfkUMAr2CEXW1TYy2+r+nvx29MnH4jEOAla0yAAlxjZDyhMQnoFvNT+vrokt6tfXv773//K5jlXN0Z0/ZJ/AhJAlh29re//c2eJW8qoMX331p8rzJx+iQQKgQowKFyp1hOh4AW4RX6R3egToDdae2JbNy4UdAlvWXLFjvOj/AjAIMuWLa2YcMGp3L6ewDx/YWTwAAJNA6BWl2VAlwrbDypsQl89NFHaVqIz9U/wNO0K0Z5MjIyBGYv33//fdFpSKILEwKwbAbznzDYYqqk7/HzuuVL8TVA6IccAQpwyN0yFtifgP4BnqHjo/SP8T7ti8/ns60iVqspAAAE8klEQVQhoaUEQx5IowtdAljj+/LLL9u2vY19Z32v8cA1Vd97zAkI3cqx5BFPIGwEOOLvZAQD0D/EX+kf5X4agdMlDTOV999/v+CFCYcOHdK7uIUaAZiWhHGVL7/8f/bO5CeqLArjt/6BXpB0Or3spNObjulNLzrpdNttnEVRgyOOKYdywCJY4jzijEOUOCM4UCgKKqWAoKK4cAFxgSzcsjTGhERBw0b9fcT3QKKgiRp57yTvy3fevRde3e9U7nnn1X333vY/On7WO+T/8vRjn19ohikwSBWwADxIHWcf+30F3j2SHscAvZYafwWk5uZml5eX57Q9nbdSEvV2fMcKKOstLS11+fn5TquleR8V3z6IRCJDdMPllRmbAoNZAQvAg9l79tn7KvCGwXk3j6GHMFhf9yq1I1JtbW33etPaTclbL9irN/4+FNAMZ/znEomEq6ur8z8UvnwOcqj7h8z3mV8REsO6GVwFLAAH17eh7RnZ8GMG6wkE4r8ZuP3dcDo6Opx2U8rJyene0vBT1qEOrYjfsONa0UzbSMbjcVdeXu7a29t7X/0CN0y/4s9DFL4GdpgCgVHAAnBgXGkd6asAgfgBA/dfBOKpBGL//SQN+NrSUBO1lG1VVVU57abT9+/t/Osp0NnZ2b31pLanzM7OdvjKKQP2roi/HoL/yXhn8vTCfsT3hAkdB7vDFoCD7V/rHQowuF8mEP/GgK5Zs08p8g9t7lBRUeGUFesVpoaGBqfg4Dcw44sooIlwLS0tTjc+2rkoFos5reOs7Sl7XwAfpch4h+KvP8G93nVmmwJBU8ACcNA8av35qAIM6KfIqH4iI06n0VkG+5ewf2h96ZKSEqfgIGjylpa6LCwsdHoVRituGa64/jTQ5KmioiInzQoKCpze3Y1Goy43N9dpy8hkMulaW1t9zT0DXxTzW/3v+CijpqbmvldubAoEWYGBAnCQ+259C6kCZMTVBOJ5ZFppSJDJ4F8BvwL+oSxYKy9ps4empianV2G05rThqutPA02eamxsdNJMi2e0tbU5zWr2he0xXrzTfQ43RGkE3iiPmnuWuOppZ5YpEFgFLAAH1rXWsYEUYMDvIhBXMvhP6erq+pGAkAX82dMD/b3Vf5YCbbSuRN91YDi6/yDd4fPcEL0364p2dpgCoVDAAnB/bra60ChQX1/fSUAoAxMIChGy458jkcgfZGfDwAyCRhxsAfmIsgPsxN4F74H3ggKwHxyg7CB8CBzGLoSPwEfhY/AJcBK7CD4NF8NngB6Jn4NLKUuCMnARlFN2CVaWrgB2FfsaZVWwbhZuwNWcaxGSm9h6f+cWfBvcAXeBfktthGWrvF7tOa8GKaD/V0mZrqNrJrHPgzPUFYNT4DjnR4H6o76pn1oMYw9l0mI7vBmtEnCM9lnYGeg4FE5D019AJvruAndoY4cpEHoFLACH/itgAnxIAX6HfJJKpR6Rnd0FFwka2mt2K7yJQLIBrMdeB6+BV4M8kAArKcuF9d5qHHsF9nJ4GbwUjoHF2AvhBXAUng/mYc+FZ8OzQBaYAaZTNg2eAiuATcaehD0R1s3CeDid87FgDPZoeCQ8AgwHw4BmE/8Hy1b5KNqM5TwdZAD9v0zKdB1dcxb2HDCfuihYBJZwvgyoP+qb+rmK8zVAWmyEt6HVfvgE7cuwU+h4H7YM90NfMisLvQJvAQAA//8g5sjzAAAABklEQVQDAKgL4FQAkNNkAAAAAElFTkSuQmCC"/>
          <p:cNvPicPr>
            <a:picLocks noChangeAspect="1"/>
          </p:cNvPicPr>
          <p:nvPr/>
        </p:nvPicPr>
        <p:blipFill>
          <a:blip r:embed="rId3"/>
          <a:srcRect/>
          <a:stretch/>
        </p:blipFill>
        <p:spPr>
          <a:xfrm>
            <a:off x="3626884" y="1511571"/>
            <a:ext cx="1890233" cy="2775910"/>
          </a:xfrm>
          <a:prstGeom prst="rect">
            <a:avLst/>
          </a:prstGeom>
        </p:spPr>
      </p:pic>
      <p:sp>
        <p:nvSpPr>
          <p:cNvPr id="3" name="Text 0"/>
          <p:cNvSpPr/>
          <p:nvPr/>
        </p:nvSpPr>
        <p:spPr>
          <a:xfrm>
            <a:off x="496186" y="855896"/>
            <a:ext cx="8151628" cy="443023"/>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Expected Outcomes and Impact of the Project</a:t>
            </a:r>
            <a:endParaRPr lang="en-US" sz="2820" dirty="0"/>
          </a:p>
        </p:txBody>
      </p:sp>
      <p:sp>
        <p:nvSpPr>
          <p:cNvPr id="4" name="Text 1"/>
          <p:cNvSpPr/>
          <p:nvPr/>
        </p:nvSpPr>
        <p:spPr>
          <a:xfrm>
            <a:off x="637953" y="1841623"/>
            <a:ext cx="2634512" cy="443023"/>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Comprehensive Understanding and Evidence Base</a:t>
            </a:r>
            <a:endParaRPr lang="en-US" sz="1410" dirty="0"/>
          </a:p>
        </p:txBody>
      </p:sp>
      <p:sp>
        <p:nvSpPr>
          <p:cNvPr id="5" name="Text 2"/>
          <p:cNvSpPr/>
          <p:nvPr/>
        </p:nvSpPr>
        <p:spPr>
          <a:xfrm>
            <a:off x="637953" y="2369682"/>
            <a:ext cx="2634512" cy="1587623"/>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The project is expected to yield a comprehensive understanding of the selected biomaterial topic, providing evidence-based insights for future research or clinical practice. It will serve as a foundational piece of literature for further inquiry.</a:t>
            </a:r>
            <a:endParaRPr lang="en-US" sz="1105" dirty="0"/>
          </a:p>
        </p:txBody>
      </p:sp>
      <p:sp>
        <p:nvSpPr>
          <p:cNvPr id="6" name="Text 3"/>
          <p:cNvSpPr/>
          <p:nvPr/>
        </p:nvSpPr>
        <p:spPr>
          <a:xfrm>
            <a:off x="5871535" y="1730867"/>
            <a:ext cx="2634512" cy="664535"/>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Skill Development and Contribution to Future Research</a:t>
            </a:r>
            <a:endParaRPr lang="en-US" sz="1410" dirty="0"/>
          </a:p>
        </p:txBody>
      </p:sp>
      <p:sp>
        <p:nvSpPr>
          <p:cNvPr id="7" name="Text 4"/>
          <p:cNvSpPr/>
          <p:nvPr/>
        </p:nvSpPr>
        <p:spPr>
          <a:xfrm>
            <a:off x="5871535" y="2480438"/>
            <a:ext cx="2634512" cy="158762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Beyond the specific findings, the project aims to demonstrate proficiency in systematic review methodology, critical appraisal skills, and effective scientific communication, providing a strong foundation for future research endeavors.</a:t>
            </a:r>
            <a:endParaRPr lang="en-US" sz="110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fQAAAH0CAYAAADL1t+KAAAQAElEQVR4AeydB3wUx9n/n9ndazrdqQMChOiIroLpKoB7ie0k2MJOcRInNshx3tgGp71v+KcbHCdxEBjXxBXbcWLH3UaFXoxEB9FUUEUF3anrys5/5qRdnUCAuq48+9nZZ2Z2d8p37+53M7M7KwAuSAAJIAEkgASQgNcTQEH3+kuIFfAlAvftsITct806KTWjbmFqZt3XUjNrv78i07JmRYblj6kZ1ldSM2o/XJFZm52aadnD4g+syKg9nJphOcHCZ5i/kO0vZf5Ktq/2/sxqyuxlbn1ueu263PRK5kqZv5C5M8x/Yn3OxsPMHViXs3HPutyN2cx+yMIvs31/XJeTvmZd7qbvr89Jv2N97oYF6w4+N+mPRzaG+BJ7rAsS8HYCAyvo3k4Hy48E+pHAvVvrJq/YarmBifODTJT/H3P/ZIKbwewxFneB+Sm1w0XqpKcJkXcRkD8gQF5iRXgKCPyMEPoAIeR2AJJMAOYDQAIQMosQmMrCE5k/mhAykvkj2L5gGSRmulpJMAESwdxIABLN3ETmnwoEZjGXQAjMJwDJzN7Owt8jQFje5CkC9CUg5L8Awm5C5dOSAy6uz91I1+WmVzB3bH3Oxoz1uRv/wUR/7frc9B8w//Vc+AEXJIAEBoUACvqgYMZM/IHA8sy6KfdlWm9dkWH98YoMy9Os5fwuay3vYf4KLtaCIJ8CAb4AAi8AkP9j7jsAsBSATGdxw8BLFwJkOHO8Dqwu8F0g5NcA5EUA+JILPxN2ui4nvZyJ/O51uRvfWZ+zcT0T/Ueezt14Cwo+o4QrEugnAt4s6P2EAJNBAj0j8O3PqXFFVt3i1CxrGhPs55lg7+aCLYGcR4F+DIQ+CwQeZy3cbxLekiYwvAc5NLAvZYlWJCeMGnIgXCfuHG2Utk0O1mZfF67bsWyUYd+tUQGH7ow2Hr17nPHE8nHG0/dOMJ27f4Kp6DuTTCXfnWSq+P4Uc/WDMWbrg1MC4JHpQS7nnv/XZl1vvW3msupbpi+puHlacskNU5OKlsUsPrdk8sJTSZPmn1g8cd7RBePnHIofM2Pf1BETdkSFjMweZgrbZjKYduk1ugMaQTxBCClhaTYy162VHT8CgCxgPJYzNk8AIX+nAJ+0CX56PRP9XUzsNzKhf+ipnI3znyl+xgC4IAEk0CMC7LejR8fjwUjArwgs32YZtyKr9i4m3r9OzbD8m4n3ObvGWg9U3kEo3cAE6odAYEF3oAiEVOhEOBqiE3ZHm6Ts2DDd9utHBhz4xnhjHhPj8odjglqYAAeumh40+kcx5mnfm2yekzoxcPFdY43JN44ypMwbrk+cGqydN96siY0KlGaOCpCmDQ+QJkfohQkheiHarBVGm7TCiACJhOtFEqSXNF0WSyNq2T5deIDWMMKoM4426wOjgw3mCaHG4CkRgaHThpvCZo4MGhY7LmzMvGmRUxLnjo1NSZw4L/nGmMRFt81YNudrs2+a9vXYW0Z/I+5W412zb265aVpKWcrkhXlzomO/mjR8/PYR5mHZgXrjbkkUjzEhvwDXXEggO2QhY7kSCHlOILDHWaVvZAJ/en1u+rvrcjf+ign9HX86sHkMOw5XJIAErkAABf0KYADj/Y7A8t3UkJpVm5KaafkFa3F/zNxFyQn5QMl/mHivJQTuBgLjmfCwtUs89XpJOMxb1RPMUvbcCN3OW6ICcu+fZCp6hLWUV00zj/hhTNDM+yeaFt4xxpiyeIQ+KSZEMyfSIMUwMY6URNB3maoHR4qCoA/UBYwMMwbHRIeOvG7WyJikRRPmpNw0NXnhnbNumsGEfzgTfuC9APPGxeVOHTFpx6jgEdlBetNOrag5wqrWwFxXK8MNkwDINxns3wIbuxcFZxHrrq9iAv/Bupz0NU8fSl/87JlndYALEkACLgIo6C4MuPFHAqk7G0emZlnuXZFR+1cm4l9JLdYmQkkWE5DfMx63MhfCXJerIMD5IK2wd6JZm827wVkLu4SJtunBKabZvFV9S5QxZe4w/eIJZk18iFaI7jIRP4o0s16A0cGR8dMiJyXOHxefcv3UxMV3zLphFhN7IxP/83GjZ+4dFRyZrdca9hMi8O78rukQCGfX52uEkKeoTHa01kst63PTd69n4/Lrcjd94w+5z0Z0fSLGIgHfJ4CCPjTXGHMdAgL3ZjbMXpFh/TET7y2pmbXnic1eSihsAUJ+wkRizhWK1KoVyIkInbiDdZFvuz064MgPY8x1q6YGjfn2JNP8m6MMKbwbnLWwR1/hfIy+OgESqDeOGR8RNX/+uLiU26Yvmfv12JtHf42N8y8Yn3BoQkT0tqAA005REPNYMnbmuljJAiDwBAH6Lw1IletyN55mAv/autxNK5/KSZ/axQkYhQR8kgAKuk9eVqyUQoDfdc7GvjdxARfAcYjfsMbE+14CJEo5xt0SgMognbBnZph2293jjCcenhYk/miqedq9EwMTWRd58thAzSydSMzu56C//wnwcf6RQcNjY0dPT75+SuLiu2bfFHNn7E00aeLcY+PDo7YFaA37CCEXu8qZXcNJTOC/xQR+o0DIiXU5G8+uz03/2/rcjdd3dTzGIQFfIYCC7itX0r0efuz/1vbGSCbgD6dm1H7IRLyJ33VOCDxMuhZwKgnk9PAAcfvC4fpd35poKk6bHjTs2xNNC5JHGJJHBUjTJAJXepjbjykPTdUlImojTOEz4qJmJt8yfcm8r8feEnr91KTCqZGTdgYHmHcIAsnvqmTs+k8AII8CwJdM3OuYuL/HWvDfe/rA5nAWhysS8BkCKOg+cyn9tCKUkhXZdQtWZFh+xwT8kNNhL2M/4JsIIbczEb/s0Se9QA6NN0vZN0QFHPjRVHPDw1PNk5ePC0yKD9ctCtYJXbba/ZSsV1Q7SB84dtqISYuXTVmcePfsW8bzrvqEMTP3R5ojsiVROnppJQgBEwD5OmvBv0wFJ++e38cE/n//fGhTHOCCBLycAAq6l1/AISi+R2R5b1bd7SsyLS+vyLRWgSzvZj/Qv2QCPvvSwgkECiMDxW3XjwrYzwX8wanm2FujjClTzJo5bGyc/bhfegaGvZmARtQGjQ2LmrtwwnUpd866ceYds26wsm77vSEBwTvY56PikroxfYe5AOQ3skxzWZd8CWvBb2AWu+YBF28kgILujVfND8v8QBbVr8i0fCM10/LGioxaq0DlDxmG7zEhD2PWfW00aYR98WG67fdPMp1fNS1o7DeiA5NjgjVzmYAHuh+Ift8noBU1QRMioucvnbIw8etxt4zgE+iMD4/eptfoDrDatzDnvo5iCp/GIljXfHr1utz0l9Yd3HDr5gObu36gnx2IKxLwJAIo6J50NbAsAG4MlmfRwNQsy71sTPzfLdTCb4D6FwG4DwhxvymNakRycqxJyr4tKuAQE3Dtdyeb5i0coU8K0Qo4EYkbT/QC8Al04qKmJ/MJcu6afTNcNy42Z5gpbJtAhHPufAghYQTI9wkVPrYSZw0T9zfXH9xw59qCV/Tux6EfCXgSARR0T7oaWBbgbxtjLfDvsfHwj0TZWk0obCEE7mY/rp3Gw7mITw3WbvvOJFPFQzHmqbePMaaMM2tiWRc7tqbwc9QtAqIg6McEj0zgs+DdHXvzhBumJheNDhmZLRCxwD0B9vkzsc/fCqDC+8bapmo25v7uupz0e9cfftXofhz6kcBQE0BBH+orgPkD8BvbtlpuYC3xd6kdLgAhL7Mf0NvYD6nOHQ/7sBZNNEvZqeNNBVzEl40yJJu1QqT7Mdfw424kcEUCZr0xet7Y2JS7Y28alzJ5wakRpohsQkgZdFoIE3HyTRa/BRz1VUzYX1mfu2FBp0MwgASGiAD7jRyinDFbvydw9676YWxM/BepWdZzIMAXhMA3GZROLWyBkAr+cpK7xxpPrpoeFH1zlDEl3CCMY8fhigQGjECYMWTKoonXpXw99pbIhePnHA41Bm9nmdUy17ESYiCEPAAg8Jnqjq7L3fjjPx3YHNRxAPqQwOASQEEfXN6YG2+NZ1lvZq3xf+tanaUE4PfMXSrQlgi9uONWNia+cqp5GH85ySijNNXj4WEBfZEAiQwaNnvJ5IVJd8XeZOIvoDHpjLtYRRuZ61gJzGCf42cF4qxYn7vx1XUHNy3q2Ik+JDA4BFDQB4ez3+eyPKthRGqm9X9XZFoKWBf7p4QAGxcHyQ2MM1AiXyVFGvaujAkKuHdCYOJ4NibOjsPPqBsk9A4dAZGIEn8BzY3TkhfdOfsmMj1y8k6tqD3kXiL2eeU3zX2bULqTCfvxdQfTf/KXg38Jdj8G/UhgoAjgj+VAkcV0XQRW8LHxTMt7EnWUE6C/AUI6vaiEfQCLpoVosx+YYq5m7rpZodr5oghawOVSAhj2IAKSIAbEjJi4+I5Z18fyl8tEBo/IJkDKLyniNELJXx1UV8vE/dU/4+Q1l+DBYH8TYL+n/Z0kpocEAFZkWFesyKg97BobB/j6JUwaInTijjuijUf5uPjSkYaUQIkMv+QYDCIBryAQqDeOWTguPuXuuJuH88fgWHg3K7iNOff123zymnU5G7evy9l0u/sO9COB/iKAgt5fJDEdcD03nmF5YkVmbTEQ+iZrjc9yx8KnXZ0/XLfzoRizwF92Eh0ozXTfj/4hJIBZ95kAa6EL/DE41mJfeMesG5omDx+7XRKlk+4Jsy75RELoh+tz0k+uO7jxwbXH3sHeKHdA6O8TART0PuHDkzmB1J2NI1dkWJ6WZEsp+8FaD0BGQ/tCAJpGG6VtfNY2Pu3qnHD9Yo1IAtp3o0ECPklAK2qCZ46clnTnrBunLpm88HRwgHlHp4oSEkMovBBgqzq/Lnfjr/54ZGNIp/0YQAK9IICC3gtoeEobgeXbGmay1vjrYLMXAYHHgRBz2x4AJuTVk4O12d+fYrbxu9Rx1jbw58Wv6x5qDJ7MXx5z6/Ql5fzZdgajgTnXSoAMJwC/Fe1Qsj43/e9P527odI+J6yDcIIFuEkBB7yYoPKyDQGpWbcqKTEuG5HQcASD3sx8k9W51QYDzc8J1Ox6KCQq8cZQhxSARvMMXcEECAAatIZI/2/61WTfI48KjsgkhlQoXQoD1WpFHKAiF63LT3/zTkb/jcJQCB223CaCgdxsVHnhvlnU+61rPJJRkMRpLmVNXrUBOpIwy7FsZEzR6/nB9oiQCf3xH3Y8eJDBgBLwsYY2oMcdHzUz52uwbg6dGTtopEKHAvQoEyArRIR5el7vxnacOb5zivg/9SOBqBFDQr0YH97kIpG6rjWMt8s8ESvewvvQlrsi2DeVvNvtatPHIj6aap80I1s5jLQ38TLWxwS0SuCoBiYjaaSMmLb479uaxc6JnfaWVtIfdTmBfJVhOnPTE+pyNrz2Tkz7RbR96kUCXBPDHt0ssGMkJLOdj5Bm1/yVOksvCNzGnrqFaYdeKCaYC/mazMYFSp7vZ1YPQgwS8n8Bg1IBEh46+7o6Z189OmjT3uF6jhBeKdAAAEABJREFUO6BkylrrAvsT/S0nkDzWFf/Snw5sxjcIKnDQXkZAuCwGI/yewPLMuimsRf4v0ek4DITc4Q6Et8iXjzOevm+SaVGYXhjvvg/9SAAJ9I1ARGD4dP5q10XjE45IonhMTY2AyMT9+yJxnmVd8ZueObRpFOCCBC4hgIJ+CRB/Di7Psk5kY+RvSlQ+wTh8gwCwFVxLgERy7o42Huct8uEB0mRXJG6QABLoG4ErnD0iaPisO2fdNGNO9OwDoiCeUQ8joGFfyoedsnxuXU76X9cf3jRM3YcevyeAgu73HwGA5butoamZtRtESk8yCV/BnPq50Ahw7PbogCPfn2JOGBUoTUdcSAAJDB6B6NBRc+6afdPE2NHT9wqdbp4jOkLIT8Ap57MW+6/WFryCN6EO3mXx2JzUH26PLSEWbMAILH+HiqmZ1kelFnqWAEkj0PGyFA0heTdEBRx4aGrQjLGBGhwjH7CrgAkjgWsSIBMiouffFXtT9PSRU3YRIMUdZxAjAfitsbYpb93Bjcs74l0+3PgZAcHP6ovVbSfAutaXSuHWYwTo31hUCHOuVSJwLjnSsPehaeaYKWbNHFckbpAAEhhyAgSIEDN8wqKvx90SNXXEhB0sXNFRKBJNKLzDWus71+dsxD/gHWD8yoeC7leXG+C+bdZJrHv9I9atnsGqHsOcayUA1fERuu0/nBo0dmaodr4rEjdIAAl4JIFpkVMSvzb7RvPokMhsVkD13ezse7yIEnqQCfsLTx/YHM72DdyKKXscARR0j7skA1Ogr+2kJta9/gx10uMEyG1uubSMN0nZP5xq1i0cpk8SCYiACxJAAh5PQBLEgHlj41JunbGsoX2ueJkXmn2/BQLwICWOc+sOpj+x+cBmDY9H5/sEUNB9/xpDaoblYaPNms+613/Kqqt8uWm4Ttz5nUmm2lvHGFO0AjGxfbgiASTgZQQMGt1wPlf8spjFBVpRc0gtPiFmQsl6K3GefDon/etqvHd4sJS9IICC3gto3nLKvVn1M1ZkWg4SAptYmcOZc61aEY4sn2A8mzoxcLFZK0S6InGDBJCAVxMINpgn3DHrhlj+qJtAhHNKZdj3fwIl5D02tv7RumPpI5R4tL5HAAXd964p3PIJ1aVmWv5AqPMgq14sc66V9cMVLRlp2P+jmKBZw/XSJFckbpAAEvApAu2Puo2dPHzCdgKkWq0cgdtIK5x6Onfjw5RSosb7o8dH64yC7mMXNjXTOi9YZz3Bvq0/Z05qr179zDDdtlXTgqKnh2jntsehQQJIwEcJEELEmSOnJH1t9o0BI8zD+I1zbTVl3fAUYNP63E27cX74NiS+tEVB95GryW96Y93rzwFQ/gIVdUpWPsPbA1PMTckj9Mk+UlWsBhJAAt0kwG+cWzRhTsrSyQvOiIJ0WjmNEJjvJHBs/cGNP3+HvoM3wipg+scOWSoo6EOGvv8yvi/TeqvRZjnFUnyItcrZynwAloXD9bv4DG+BEhnuisENEkACfkkgxBgy6Y5Zy8ZHh47mrXVbGwSiAwp/KMytOvjn3Odmt8Xh1psJoKB78dW7e1f9sNQMyzsU6McARL25LUQn7P7+ZLM9Ply3CHBBAkgACTACIhGlOdGzUq6fmlSmEUT+vgYWC0AImSmDfGhdbvrTzxQ/YwBcPJvAVUqHgn4VOJ68KzXD+m19i+MMIdAx3SOBqutHBnx1/0TTwgANifDk8mPZkAASGBoCQfrAsXfMvjFmQsTYbawEzcy5VgLkcUelPu/pQ+mLXRG48ToCKOhedsm+/Tk1pmZa3iOEvsr+WpuV4ofrxR0PTjFrY0I01ylxaJEAEkACXRFg4i3Ejp6WfPO05BqtJB1WjmENhDGyDNvW5W78LY6tK1S8x/aDoHtPZb29pKlZljkOyXKcAKiTRBAg5bdEBRxMnRCYqBdJkLfXEcuPBJDA4BEw6oyj75h54+ypIybtYOPp9Txn9psiEIBfFeZW73w6d0M0j0PnHQRQ0L3gOrneipZRuxZk2Mta5eoXLEIn7vjhVJNpglkT5wXVwCIiASTgoQSmRU5KvHXGkgatpHVvrc+nQI7hW9w89KJ1USyPF/QuyuxXUak7G0eKYdY9hJBfE6LOs35x6UjD/nsnBiZqBRIIuCABJIAE+kjAoDVE3jHz+lnjw6P42LpyJ3wgofDO+pyNr6UfS8ffmj4yHujTUdAHmnAf0mdd7PcSmy2PCbk6Lh4gkgPfn2x2TsMJYvpAFk9FAkjgCgRIXNTM5GUxi4vdn1sHAt9qssGx9Yc3zLvCeRjtAQT8XNA94Ap0UYTlWTQwNaP2VfbPeAtA20tT2JhWU3yEbvv3Y8xz8A52wAUJIIEBJMDnhb991rKxw0xhvLVO27Ii0dRBdq7L3firtXQtakcbFI/a4kXxqMsBcF+mJUGULccJId9WiqYhJO++SaZq/npTJQ4tEkACSGAgCUhE1CZOnJe8cHzCEQKknOfFfpckAvDbgNxh2fiiF07EsxwK+gBej54mfW+GZaVMYRf70oxpP9c50Sxl/2CqeWKIVlDi2nehQQJIAAkMPIHIoOGz75i1LMCkM+1SciMEEsEGR57O3ZCkxKEdegIo6EN/DeCBLKpPzbS8IRDYyL4oOl4kdmFK7hpjPHVzlDGF/SVWXrLCd6FDAkgACQwqAY2oDbpxWuKiWaOm7WEZ1zHHhtVJBKVC5vqDG3/Ow+iGngDTjaEvhD+XYHmWdWKLbM1l3Vj3KRwMIjnIxspNo03SNCXucosxSAAJIIHBJTBp2NgFN0xNrhUIKXLlTEAECn9Yn7vxk2fPPKtOdAW4DAkBFPQhwd6W6YqMujskWT5ECExtiwGINknZ359ino2TxChE0CIBJOBJBMx6Y/TtM68P0Wt0B9zKdUtLnXR0/eFNM9zi0DvIBFDQBxm4kl1qZu3fgMj/BUKM7XGtyZGGvXeMMaYwgR/y69JeJjRIAAkggcsIaESN+bYZyxIig0fwt7e59rPfrTHgpEfX56Q/5IrAzaATQOEYZOQrtjYMX5Fh2UeAPKpkzfzl3xhvLJwZqp2vxKFFAkgACXg4AbJwXHxKwpjZ+1k51Ze8sEbKc6wL/o21x97RsnhcB5EACvogwr4noz4JBMcxIDBXyVYvCYe/P8WkizRIU5Q437dYQySABHyFwNiwUXOXxiwsJUQocavTfcbW6pw/Htw01i0OvQNMAAV9gAEryadmWu8TwJnJwuHMudZRRnHbA5NN0w0SCXVF4AYJIAEk4IUEQgzBE++YudTk/uY2IDBDojTn6ZyNCV5YJa8sMgr6IFy21AzrrwjQN9gYk9ienW3eMP2uu8cGJksE8JG0dij9ZTAdJIAEBp8Af7Tt9hk3zAg3hfPZ5ZQChMoAO9flpN+sRKAdOAIo6APHFoBSkpppeYkQ+lslGwJQ87UxxjPXRegWKXFokQASQAK+QIAQIiZPnJs8PXLyTqU+hIAeCHy8Pmfj95Q4tANDAAV9YLjCLZ9QXWqm9WMm4N9XshAFKLh/oqlljEmarsSh9TYCWF4kgASuRSBmxMTFC8YnHAIK9fxYAkRgov7y+tz03/AwuoEhIAxMsv6d6vLd1tAgnXUHIXCLQkIrwLHvTzGHBuuEUUocWiSABJCArxIYGTQ8dunUhReYmLvmgW+rJ/nfdbnp/2zz47a/CaCg9zPR+7ZaxostdD8T8+uUpM0aYe8PJgdN1gkkSIlDiwS6IoBxSMCXCPCb5W6ZsUQUBSlPqRcT+O+sz9345TPFzxiUOLT9QwAFvX84ulLhb0qTCXxFACa4IthmvEnK/vZk0zxRBHwmE3BBAkjA3wgYNPpht89cNobZr9zqfr2jSrf76QOb1ad+3Paht5cEUNB7Ce7S0+7LtN4qU7qdtcyVR9Cc84frdt7KZ34DNnoEuCCBoSaA+SOBoSEgCWIAa6knhBqDtislIEBiZcH51TM56ROVOLR9I4CC3jd+rrNTsyzflIF+QAgJcEUANNwSFXBkTrh+cXsYDRJAAkjArwkwAReWTF6UNC48ik8XSzkMAjDWAbD3qZx09X0WPB5d7wigoPeOm3rWioza7wGFd9gH0/U8uUBI+b3jTRcmmDVx6kHoQQJ+QACriAS6QyA+amZK/JgZfLrYVn48awiFCQR2rzu8IZ6H0fWeAAp679lBaoblYSDkZSbmbAVgm6LvTDYJEQZBHUMHXJAAEkACSKATgXFhY+YtHD+H3yhX17aDBBMn2b7+8IZ5bWHc9oYACnpvqLFzUjOt/0sIbGJe1yoJ5PT3p5hNgRIZ7orADRJAAv1IAJPyNQKRQcNmL5m8sIIQcrGtbsQIDpK1PmfT0rYwbntKAAW9p8TY8SsyrH8hQNUJErQiHPn+FFMkzsnO4OCKBJAAEugmgVBj8ORlMYl1BEiF6xRCDAD0s3U4VawLR083KOg9JJaaadkIhP6PclqARHK+NyloilYgJiUOLRJAAt5FAEs7dASC9IFjb5yW7GSiXuwqBQENsx8+nZv+TWZx7QEBFPQewFqRWfs6AVipnMInjPnOZPNsjQg6wAUJIAEkgAR6RSBQFzDq1plL9SIRz/IEWDe8RIG8s/7gxvt4GF33CKCgd4PT8neomJpheQeA3A/tS7hO3MknjJEIvi2tHQkaJIAEuiSAkd0hoJd0EbfNXBIhiuLJ9uPZyCa8/nTuxofbw2iuQQAF/RqA1lIqiOGWfxMCy5VDI43ittSJgYtZa52tSixaJIAEkAAS6AsBjagNum3G0jFaSTrcng6hAJvW5WxMaw+juQoBFPSrwOGvP83LtL5NgHxNOWxqsDb7G2MDk5UwWiSABJDAUBLwtbw1gsZ464xlMe5TxbIG1YZ1Bzc+6Gt17e/6oKBfheiKLMtr7IOk3pjBxHzbslGGlKucgruQABJAAkigjwTYWLrupunJcQaNTp3/nTXVn1+fs/FbfUzap09HQb/C5U3NtLwEbmPmE8zabCbm2DIHXJAAEvAfAkNXUybq0o3TU2brJE1ueykIJfSf6w9tuKc9jOYSAijolwDhwdTM2g0E4Pvcz92YQCn7lihsmXMW6JAAEkACg0VAIqL2lunLpkmieIznSYAIIAtvP52T/nUeRteZAAp6Zx7QNmkMUW/AGBYgbv9atBG72S/hhEEkgASQQF8JdOd8URD0t81YNlbsuPsdZIC3n87deEt3zvenY1DQ3a42a5n/xn3SmHCdsHP5uMBEt0PQiwSQABJAAoNMQBKkwFunLx0pCuJpnjUhRGKi/v5TuRuW8TC6NgIo6G0c4N4s609Yd87/tgchWCfsvneCaSEB/s4VwAUJIAEkgASGkIBW1ATdMmNphEBIIS8GAdASKny0LmfjFRpd/Cj/cijo7HqzbvYfC5T+lXldq1EiX62YYJpHCCAfwAUJIAEk4BkEdKIm5ObpSw0EiGuaWPYbrSdAP3/q0Ka5nlHCoS2F3wvWiqzauyihf1Mug0Ekud+ZaK/bQWEAABAASURBVJ4tEhABFySABJAAEvAoAgaNbviN05JF1nda5ioYIQbBST9+OndDtCs8SBtPzMavBT010zqPyuRtAuyjAQBaEY78IMYcL4qgBVyQABJAAkjAIwkE6gJG3hCTZGeFq2EO2C94uAzCl385+Jdg8OPFbwV9+Y6mMayr5lPWZeMSbwai8NsTzWP8+LOAVUcCSAAJeA0Bsz4wOmnS/AuswK3MMU2HSQ6q/WTtsXdcv+k8zntd70rOdKx3J3rzWfftsISIdlsGq0MIc3y13DfRJBkk4tf/7jgIdEgACSABbyEQERg6LXb09IOsvJQ5tpIFAbbq15nHL1e/E/QfHaAa2Q6fEICJ7Ve89c5oY3GwThjdHkaDBJAAEkACXkJgQkT0/OjQ0duU4rLf9uXrczf+QQn7k+2uoPsMkzorf9kKzFcqlBRpOBgVKM1UwmiRABJAAkjAuwjMiZ6VYtIZd7mV+ufrDqY/4Bb2C69fCfqKTMs6NmZ+t3JlJ5u12bNCtaq4K/FokQASQAJIwLsILJu6eK5W1BxSSk1k8iJrqV+vhP3BeoagDwLp1AzLD1k2q5lzraFaYdeNOD+7iwVukAASQALeTkAkoubm6SnjBUIKXXUh/NFj+v6fjvzdb3pg/ULQV2y13MBa5s9D+6IXyaHUiSaciKCdBxokgASQgC8Q0Iga8/VTkyRWl7bH2YAYRYf46V+PvjCcxfn86vOCnrqtKYoS+q5yJVmFC789ycT+xYFGiUOLBJAAEkACvkGAjaWPdn+cjdVqlN1u+8879B2R+X16Zfrmu/VbfoxqiaP1Y0JIEK8lIVB730STqBOJmYfRIQEkgASQgO8R4I+zxY2eprxHnVWQLCg8VLWeeXx69WlBFyutrwAhM9uvoHzr6IDzwTohqj3cPwZTQQJIAAkgAY8jMD5i7IIRpohspWCEkp+uy930DSXsi9ZnBf3eTMuPCMB9ykWbFqLdPs6sma2E0SIBJIAEkIBvE1g4cU6SVtIeVmpJqPza0wc2xyhhX7M+Keip22rjWMU2KBfLrBH2Lh1pSFHCXmSxqEgACSABJNBLAgSIcOO05DHMVriSIMRABceHzxQ/Y3CFfWzDdM+3asSndQUHfMRq5brpjVUwf8WEwFksjCsSQAJIAAn4GQH+ytXkSfNqWbVdc74DkInOKt2r4IML0zsfqhWlhNro+4SQke21algxySRqRBLQHkbjTgD9SAAJIAE/IBAWGDp1xqipBzqqSr65Lif9px1h3/D5lKCvyLT+FghJUi7N9SMDToZohWgljBYJIAEkgAT8k8CUYeMWhRqDtrvVft1TORt9aqZQnxH01EzLMiDwS+VijTdL2TEhmuuUMNpBJ4AZIgEkgAQ8ikDSpPkLJFE6yQvFenIlQuj76w9vGsbDvuB8QtBXbG0YTgDUyWMMIsm9JcqY7AsXCOuABJAAEkAC/UNAJKLmhpjEEJZaFXOsDUiGUyd9h/t9wfmEoAOx8wvCLxKwCpXcP8k0gQk8W33hEmEduiSAkUgACSCBXhAI0BpGLBifUKqcyoQieX3ORvU9H0q8N1qmf95Y7I4yr8iw/Aw6xs3lu8cbG/Qicc0M13EU+pAAEkACSAAJtBEYGTQ8dlRwpDrpDAX6B9b1PqNtr/duvVrQ782wxAOBPyr4J5ql7ZEGyWcnDVDqiXbACWAGSAAJ+DiBeeNik0RRVMfTqYP+a23BK3pvrrbXCvodB2gAIfAvBb6GkLybRhuTlDBaJIAEkAASQAJXIkCACEsnL+aPNLfwYwiBKQG1zX/hfm91XivogVbr3wjAuHbwjfdOCDSyC+K19WmvBxp/IIB1RAJIwCMImPXG6Jjh479SCsM05eF1OZtuV8LeZr1SAO/LtN4KBB5UYF8XrsvFl64oNNAiASSABJBAdwlMHxmTqNfoOiadIfTVpw9sDu/u+Z50nNcJ+oqtDcMp0NcViEYN2T9vuD5RCaNFAn5OAKuPBJBADwksi1k8lgCp5qcRgBCZON7gfm9zXifo7o+oMfA1qeNNk70NOpYXCSABJIAEPIeAXtKFXxc9u1ApESHkxvU5G/9HCXuL9SpBX5FpWQ0dj6jBjVEBRQaJBHsLbCwnEvB6AlgBJOCjBKJCR84JNQZ3TA1L4C9P5z43zZuq6zWCfl9GczSl8DsF7sgAcfsksyZeCaNFAkgACSABJNAXAkkT588VCClS0qBU9qq3snmNoFNoeZUQ0HLQAoHCr48LxEfUOAx0SMB3CGBNkMCQEhAFQb944txGtRAEEtbnbnpUDXu4R/Dw8rmKtyKj9nvuXe23Rxk7gLuOwA0SQAJIAAkggb4TiAgMmzbMFLatIyX5988c2jSqI+y5Po8X9OW7raEUQH3Yfzjrah9jkqZ7LlIsGRJAAh5JAAuFBLpJYOH4OXMJkOK2w0mg00lfavN79tbjBV1soX8nRJ2bverOaCOOm3v2ZwpLhwSQABLwagKiIBrmj0+oUStB4KZ1uZu+oYY91OPRgn5PluV6AnCfwu76UQEFWoEEKmG0SAAJIAEPIYDF8DECI4OGxQbpTTvValF5w/rDrxrVsAd6PFbQH8iiekGm/1CYBWmEvTHBmrlKGC0SQAJIAAkggYEkkDx53kzWQ3yR58HsCOpsWM/9nuo8VtBbqfU3DKByI4L17nGBEzwVIpYLCSABJDCgBDDxISGgEbVB00fGuN7IxgvAeowffipn43zu90TnkYK+fGv9NErhMQXYdeG6I4EaEqGE0SIBJIAEkAASGAwCU4aNW6TvmOudMFH/xzv0HXEw8u5pHh4p6CJxvs6ouYDpBOEwztXe08uKxyMBJIAEuk0AD7wGgZTJC3hvcTM/jGnTlMLc6ie539Ocxwn6ikzrKgYsrh2Ubfl4Y1i7Hw0SQAJIAAkggUEnYNQGRE6IiN6vZEwI/b8/H02PUsKeYj1K0Jd/SYMA6O8VOFOCtbuDdcJoJYwWCSABJIAEvIyAjxQ3dvT0ZEmU2sfTiU62wzOeVjWPEnRRtP6RAXK9bIUAKVs20rCIhXFFAkgACSABJDDkBBaOi3d2FIJ8c13OxsSO8ND7PEbQl2fWTWE4HmbOtS4dpS8WCGhcAdwgASSABJAAEricwKDGRJjCZ5h0xl1Kpmx4+Lm1dK3H6KjHFEQE50sEgK0AWhGOTA3WzgNckAASQAJIAAl4EIHFE+fyR6ib2os0zZgbsardP+TGIwT93ixrKgGidK87vzHWhLPBDflHAwuABJAAEvBzAl1UP0BrGBEVMlK9QY4S8pu/HPyLa6i4i8MHNWrIBX35bmoQqKzeXDDKKO4M0wvjB5UCZoYEkAASQAJIoJsEEqJnLiBEKOGHE4AQO9Xx+794cEjdkAu62Gz5BQCJhLbFckuUMbbNi1skgASQABJAAp5HQCSiLnZUTPvb2ACYqD/0VE76VOjZ0u9HD6mg35/VNBqArIb2JTZMd0Qvqm9Wa49FgwSQABJAAkjAswiMjxi7QCtqDrWXiggEnmv3D5kZUkGXZdvfCQEdr70AkL9ohN6jHgHg5UKHBJAAEkACSKArAosnzTOxeMocW0nSupz0e5lnyFamox15D6YvNbsukfVT3KXkeXu0sYF1W7BViUGLBJAAEkACSMBzCYQYzBOCjcHqK1YJkCF9G9uQCTo4nX9SLlOQVtg7JlCapYTRIgEkgASQABLwBgKLxydMAwr1rrISiFqXu2mlyz8Em0EU9I7ardhquYEQsrA9Rr5jjJFPfN8eRIMEkAASQAJIwDsI6CRd2OjQkTkdpZV/1eEfXN+QCDoloM7XHq4TdwfrBI+b5H5wLwPmhgSuTsDhhJaaFjk/r9Z+YGdFy/ZPihuz3y9s3PZuQcP2N8/U73rtTP3el0/V5TyfZz2y+URd3qaT1oLnT16ATSeqYcNxa6fE/3Po84L3D3+e9+GRL498dDQz57MTWXu35u3YlXV61/YdZ/dt212Qm32kLG/7+YulB6wtdQWdTsYAEkAClxFIGDNjDousYY6NJJOR6w6m/4T7B9sNuqDfm1V3OyFwnVLRm6MCohV/XyyeiwR8gUCTg1afq7MfzC5r3vb22YYdTKCPph+3Xnguz6p/61z9+K1lTXMO1bQm5dc5UkoaHckXmpxJF23yIqtNns/OTbA5YZad0hinDONssh6cVHMZFpk6xzllZ4zNaZ/V6mhJaGxtnm9trl90sdGaVFlfk1xuqUg5cyE/6auiw3O2ntw57r2Dn8C/D35awf8AZJzeveNQyfFtZdYLh1qd9trLEscIJOCHBCRBChwXHnVUqTqRya/WFryiV8KDZQdd0Iks/0ap3PAAcTu2zhUaaP2RQHmzIy+zrDn75dN1B1hLuoq1ssM/LW6KO1ZrS65qdSYygZ5JAYYPNRsKdAT/A2BptCSeqypK3pOfE/vRkS9DuNB/eizzq4PFR7fVNlvPDHU5MX8kMFQEZo+aPp8QUunKn0C48WLzj13+QdwMqqCnZtTeTQgo7zqHW6KM/IUsg1jd3maF5yGB/iFgaZVL9l1o2fHa2fo96Seste/lN8acqLWlNNkp77KLuHoutIRSuoOJ6z8B6G8ohdUyhVUEyHfZed8EQm6hgpDE4hIcIMQIRBtFNBD61tJgwt2s8DdDY8NejZJFiKGinMDOT2Lp3UKBfJOl+V1CaBpQWMPS/i0LvwqU7mS2jKV9xZXtH9Fkb7kuv7o4OTNv1yQm8NWfn9y2+0xl/q4WR0vVFU/EHUjAxwiIgqAfHx7d/npV9i0idHX6sfTAwazmoAo6IfBbpXKjjdK2QIkMV8JokYAvEmh10rqTFtu+f7Ox7o0nrIWvn60f/VV1a6K1VV7ABDWkqzqz+JMU4G0g8Csm1rdxceaC/NbSkKgty0KStiwNeYD5f71lWfDTby8L3vTm0qBX31oa/N5bS4I+25Ji3sHict9daj71xpKAkjcTg9Vu8Z/PWlX75OxHS56cverUmtmP5K5JWLVjTULaZ2viV763Jj7t1Sfi0jauTli1fnV82v+x8HdXJ6QlMjtqdfwqIlM6jVJyB/uZ+j9WtncphVNdlh1oeENL48IjpXmLPj6aGfGfQ5+d28bG5Ysulh5wyE7lhRZdnYpxSMDrCcwYNWUB+966/gSz725Ek50Mait90AQ9NctyLwCZDm1L442jAxR/W4wfb7HqvkWgziaXZZc1b3s+r/7IC3l15ozS5nllbKybtZzHXlpTJo7nWCv5NQCSRgDmMGEmTKinbVkanPrWkuDfM7H+hIszDPHyZELayTUJKz9aHZ/22zXxq+5Zk7AqZjUXeoHMY3V4lLXU32Iif/7SYspUnlDNxuUPsPH4Dw5/HvDR0a05R8tObG9xtFZfeiyGkYC3E5CIqI0ZPv6cUg/2nRjUVvqgCTrIoI6djzdJXwVIJFypNFok4O0Ealrkgi9Lm7M3n6w7+eqZ+pF8DNzmlC+fW4HSE+xL/jQT8a87JHEYE+6JW5aSLH/wAAAQAElEQVSFfOetpUEb31wa7Pboi3cQeTJ25X4m8H9fE592HxP5aKqlkZR14bOW/LPMnb20Fq0OW8LpC4VJHx/NCOM32R1iY+8NrU2llx6HYSTgrQSmjZiyEAhx/bllf9JDGm3kscGqy6AI+n2Z1u+w7vbJ7ZWyLhsdoI6jt8ehGTACmPBAEWh2UMuOipbtXMTfOlc/7pTFlmKX6aUvaLAwAf8XG5v+oYNIkW8tC5m+ZVnw6i3LQv7zbpLJ58aY18xIq+Bd+Kvj037C3CSnLEYzgV9FAf7LBL7B7VoQfpPdOTb2/vmJ7FEfHt16+ETFmZ122d7odgx6kYDXESCEiLNGTnF7cQtd/acDm4MGoyKDIuisO+4XSmUmB2sP6gQyKJVT8kSLBPqLgJOC81Sd/cBrZ+r3vHSqLuBwTWuS/XIRr2UC9rKTwA2sCz1ky7Lg5W8tC37x3SWBFf1VDm9J52dzHjrPBH7TmvhVdzKBN8kAd7Lfg7eYuHcSbpvDNvtk+ZnF/z38Jd16asfOCuuFI95SRywnEriUwMRh4xYIAslviyeBguAclLH0ARf0FRl1d7BKTWEOWEvFmhKp53fz8iA6HyDgT1XYXdmy/bkT1rIvi5vmWG3yAlZ3LXOulYlUg5uIh25ZGvyDd5YEb3XtxI1K4Mn4Vf9dw7rnmbgHcnFnO7aw34UWZpU10NpUv3hXfs6s9w9/fvpMVeEeZQdaJOAtBAgQYXrkFPUPPKEwKBPNDLigAzifUC7CWLN0UCuQQb2NX8kbLRLoDQE+Q9vOipZtfHKX3KrWJCbanWY1ZOFzQOBhjT14BIp4zwhzcV8dv2qFI0AezUT9l0Ch3D0Fp+ycfKTkxIL/HPqsIO/CuV2UUqf7fvQjAU8mMGnYuPlM2Ns+0wTC1x3c+OBAl3dABf2+TEsCEJKkVCJlhCFG8aNFAtcmMHRHcCHnE75szrM2HKppTWbC3fkRSwpZrHTfZCI+8a0lwZtfu4l06kJm+3DtJoFfTH2kZk3Cqj+sTlg1kv0Afof1dhxyP1Wm8rjjZacWMWEvO1F+Zqf7PvQjAU8lwD7Lwrjw0afV8lE+x4MaGhDPgAq6TOFnSqnD9MIuk1YYoYTRIgFPJGB30qaM0uZtm09Zm/mEL0zI3Z/GsLOx31cdsjidjYkvZePj73liHby5TE/Er3yNdcnHEYEmMtYfMHFnPfNtNWL+qJMVZxb/++CnxVzYndTpaNuDWyTgmQRmjJoaD+1vYiMAk9bnpN8xkCUdMEG/L6M5mlXg60rhl0YarjELlnIkWiQwOATcc7E5aSNvkT9/qq71pMWWzLqA3Sd9qWVfyj85iDTmraUh3333etMJ93PR3/8EnohN27k6Pu0uSSKT2J+qTUBps5KLIuwfHPqiHIVdoYLWEwloBMk0zByWq5aNgDoErcb1o2fABF2GlieAgCt9g0RyhwdIymNrgAsS8BQCTLjlfVUtO17Iq2trkVPoEHIKNTLQxxvMQaNZi/zn/niX+lBfp8dmrcpfE79qlT2A8nsX/tiVsP/38BclhTXF+4e6rJg/EuiKQPyYmVz72nuaSNJTuc8N2I3hLsHtqhB9ibsrqzYYCPxASWPRMEN7ZZQYtEhg6Amcb3Ac2XzSWvBVZWsiawWqXetM5C+y0v2iIShozNtLQ575cA5pYuEernh4fxLg4+yr41f9glBpDFB42l3YZUrH5pw/OvfDI18eqm22XDaZTX+WA9NCAj0lYNQGRJr1gXuV8wTqXK34+9sOiKDrZeERAsTACysROBcTohmwfyQ8D3RIoCcEalvkoldO1X3136LGWQ4KE5RzKaVWSsn/OoWg6LeWBv8RhVwh4zn2iTkPVa9OWLVaotIE9ifsOfeS2Zz22My83RMzT+3e0eporXHfh34kMJQEYqOmB6v5E3LPHw9uumwaaHV/HzwDIugEqPoQfVyYzjVRfR/KiKcigX4hIFOwf1HanP3GufrIRge9zi3RFuZf7zQI47csC/rdu0uI+4xmbJfnrf5eop/OeaicdcWvbJuJjr7szqO2yZL48dEMMa/i7E73ePQjgaEiEBEYNk0jadTJkkRZ/p+BKEu/C3pqhuWHrLt9mKuwBKrmhOvnufy4QQJDSKC0yXHi+ZPW86ctthRWDGVCGDul8FyLTuQt8jXvLgy6yPbh6kUE2maiS/sBfyUs64b/j1J01noPPl5+evFHR7YebGxtLFHi0SKBoSIwc+SUZiVvAvCjgXi1ar8LOmudq/88Jpi0x0URlB9PwAUJDDYBm0wb3ito2P6fgsZpnbrXATKIDDFblgWv/M8iU+Vgl8uz8/O+0j05e9Wp1QlpX2e9MHwGP/UphFanLe6zE9vCcouPZntfrbDEvkRgXNiYeQIhRa46EWJobIUfuvz9uOlXQW+fSGaaUr7kSP1MxY8WCQw2gZJ6x4kX8+pqypuc6uRGfJwciPDAlqXB1795fXD7XMuDXTLMb6AIPJmwau/q+FXTAehv3fIwFFQXp/z36JdHGm1NbTN3ue1ELxIYLAJjw8YUqnm53TiuxvXR06+Czv4dq1PbBemEPQESCetj+fB0JNBjAqwbXf6SjZW/f75xMvtMRisJMDH/SNJop761xPxPJQ7t4BMYjBxXx6f9nwBCLLvm6jPAdod91mfHswPOVOL88INxDTCPywnMGDkplsXamWMj02T6+sMb+nVIul8Fnf0rXsELyt28cD12tXMQ6AaVQL1dLn8xz3r8VNtYucQzp0CbCZDvblkWcsfrSUZsoXEofuAej3/48JqEtAQ2nv4bt+oGHSk9sWDryR07HbIDb350A4PegSegEbVBgXrjV0pO1CF8X/H3h+03QV+RVfddQojrtagEoHJSsCa+PwqIaSCB7hI4Z7Uf/OfpekOrDOpQDxPzw4JMZry5NOjV7qaDx3kzgcvLviZ+1a8pIYvB7eUv1pZ6fsNcZV1LY9uY5uWnYQwSGBACMyIn65WECaH3P3vmWZ0S7qvtN0EH2an+05hg1p5gos7WvhYPz0cC3SPAp239tKRpNju643lPIM9sWRoSi2PljIqfr2viVu4S9doZ7A/eJwoKJ5XHf3lyW0jxxbIDShxaJDDQBEYFR8YRIMVt+RCjrUFKbfP3fdsvgr48yzoROt6qJi+O1Ks3xvW9iJgCErgyAYdMm189Xb/3RK3rcTTl81zLvjC3vbU06PErn4l7/I3AY9MfvLgmPu02Vm/3z4V5f9GhhL2FB/ld8Kx3nu29yoq7kEA/ECCjQyLPKelQmar3nilxvbXKD2Bvz3edJ1Cq3n5v1JDcQIm0PYfu2osbJDAwBPh4+Qun6kvq7PJ8NQcK+6lWw7vY1ZaYug89SIARWB2/6hnW1TmXeUuZ4ysprS1P+fR4Fs4Hz2mgG3ACM0dNnapmwoaDnjq8cYoa7oOn74JOKWGJqN3tc8L1+ErDPlwQPLV7BCqbnWdZy1x0ynSScgbrTn22XAhatGWxEWcnVKCg7ZLAE3FpXzkk170WW5UDmmzN8/57+PMTrU57rRI3uBZz8xcCBo1uuEFrUP9ACg5Q333SFwZMi/tyOsC9WfVfYykoL7a4OCNEy//5sihckcDAECiosx96J79hOOsfdfUEMSFvoJR+fcvSkJ9kLyH4h3JgsPtcqj+ftaqWtdZvYJ+jXyuVs8vOaZ8c3VrXiLPLKUjQDhCBqSP46wjaEqeEPtDm69u2z4JOwKl2t0ebpCOEtL0yFXBBAgNA4EiNbc/HxU3TWdIm5oBSuEhBs3jLspD/8DA6JNBTAmviV/2G/SFMZc71Z1CmNPrzE9v1NY21p3qalicfj2XzLAJjw6KuI0CqeamYjXjq4Ma7uL8vrk+CvmJrw3BWEH6TiasMi0cYxrk8uEECA0Ago7R52/aKZj61p4Ynz36ASwWJzH97aeBhHkaHBHpLYE1C2tsCCLezP4gtPA3W6xOefXrP6FJLuToxDY9HhwT6iwDTTmG4OeKYkh6h8D3F31vbJ0GXRad6u71eEg6HaAV1Vq7eFgjPQwJdEfjwfGP2SYst2W3fKUI1CW8mB51xi0MvEug1gScSVn4uCDQJgFraEzHuLTgYn19VrL7Luj0ezWUEMKI3BGaOinFvBN/c1xe29EnQBZneq1QiJkhjVfxokUB/EaDs13XL2YadRfUO/pa09mTpToczaN5b1wdeaI9AgwT6hQC/WY6AuIi10NXP1sGSo3NPlJ/dAbgggX4mYNYHRkuidJInSwC0jXb4Jvf31vVa0O/PahoNBHj3J8/bmRCum8U96JBAfxGQKdhfO12/r7rVuVhJk/3QfuAYFrzs3RsI/oFUoKDtVwJPxD98QhKEBNb9royhCycrTiceLD6+rV8zwsS6TcCXDxwdMqJSqR+RidrrrcT1xPZa0GVqU+dtDxDJQYNE3Gbo6kkR8FgkcDkBBwXHP0/XHXJ/xpy11jdtWRpy17sziO3yMzAGCfQfgcdiV5bqzY65rINoj5JqfnVRck7xERR1BQjafiEwZdjEiW4JXf/HIxtD3MI98vZa0Fkuanf7zDCt60YSFocrEugzAScF55tn6g80Ouh1PDEm5GyFNVuWBq/iYXRIYDAIPDrp0bpGbQQb6qEfKPkVVpckHy/Pw+53BYhP2KGtRKAuYBTrdj/qKgUBUbTDcujl0itBd3W3AyS052mfHabjr4RrD6JBAr0nwLo55bfO1e9zb5kTAivfWhq8vvep4plIoHcE1s64x/ZE3Kq72T/K95QU8iryF+ddOLdLCaNFAn0lEB06+qKSBgFQG8tKXHdtrwRdBtt3lQxMGiFXK5BAJYwWCfSFwNvn6ndbWuWFahoEfvXWkuDNahg9SGCQCRBC6Ni48HsppV+0Z02Ol51acKaycHd7GA0SuCKB7uyYMnw8nwqW/W9kRxNY0ttu914JOrjd3c5a5zIrAq5IoM8EPjrfmF3dKqs3wAGlf2Ni/vs+J4wJIIE+EriH3OPUm518VkxFxIUjpSfmlVkvHOpj0ng6EgCDRj9MJ2mVzxJh3e739QZLjwX93gzLBCBkZntmLTOCtXHtfjRIoNcEvqpq2Vno9mgapeQfby0L+Z9eJ4gnIoF+JsDG1FsDtPQmCvR4e9Linvyc8ZbmOvXNWe3xaJBAjwmMCx/d4HZSN7vd3c5g3h4LOgH6bXaeaw3RCbmSCHpXADdIoJcECursh/dVtiqPQPJUPtmyLKjPsybxhNAhgf4kkDYjrQG0cD0T9ZL2dM2ZebsCWh2tNe1hNEigVwQmDpswg53oZI61mSHxqdy/j+T+nrgeCzrL6X4lg9gwnaT40SKB3hCoaZHzPy5uGsfOFZljvexwssEc1Ou7PHka6JDAQBJYMyOtQgTxdvZhbeb5MHGP/Px49gWn7HSFeRw6JNBTAjpRE6LX6A4q5wlUvEfxd9cK3T2QH7ciqy6GAEzkfubqp1/+ZjUWjSsS6B6BFie1vn2uXsuONjPH11onaG/4K/jlsQAAEABJREFUcA5p4gF0SMBTCTwe//BhVjbeLeq6kYm/pW3ryZ3KGCjbhSsS6DmBCeHR6iPglECPX9bSI0EH2XkztC9BWkGdVL49Cg0S6BGBN87Un5MBRqsnCcJt7y4LKFXD6EECHkxgdULah0zN/08pYoOtccHRkpM48YwCBG2PCYyPiOb3p7GPFQBrPCf3dG73Hgk6JeQWaF+mBGlcff3twcExmIvPEPiytDm72UnjlQoRIN99K8WszsqlxKNFAp5MYE38qt+xrvd3lDKeripYWNVQc0IJo0UCPSGgFTVBoiC65nbn5zXYyfXcdtd1W9CX76YGoJAC7cuMUN3Udi8aJNAjAvwmuFMWW5JyEqXw3JtLg15VwmiRgDcREIe1PsBEPa+9zJodZ/aH2J02fNdAOxA0PSMwwjxMndtdkOmtPTm724IuNddfTwjw8U6QBHI6QCJhPcnIC47FIg4CgQY7rfqkuIl3sws8O9a3tLdCCPox96NDAt5I4LGox5pFDbkNgLoeO+I3yX1xcscZb6wLlnnoCYwLH61qKyWg9op3p2SuH9XuHEiJrCY8yiiWdeccPAYJuBNg4k3fPNtQzmzbB5ZCpVMSv5a9hDjcj0M/EvA2Ao/NWpVPScfrpFvsrXMOFR/F8XRvu5AeUN7hpgj++Jqrh4cNRY5ef3gTD3erZN0WdEI7mv4zgrX4ZrVu4XU7CL2QVda8zSbLsxQUFIS7300yVSlhtEjAmwmsiXvkEzZ89AelDueqixfUNluxpa4AQdtdAiRQH6Deh0FlWb0Z/VoJdEvQ+eNqQEg0T4wANI0xafideDyIDgl0i8CFJsepE7W2jmldAX6xZZlZmUazW2ngQUjA0wmsSVj1SzaevrO9nNqsU3slpyyrjyK1x6NBAlclEBU8Sr3pnMgdN6Nf9SS2s1uCLlOnOjBv1gpHRAKuSUAAF08h4NHlsDtp03uFjQGskBJzbKgRst5aGvxHlx83SMDHCIiikMo+5BZeLUqd47LP7v2K+9Ehge4SGB8xJsbt2OS1Bzbz30+3qK693RJ0ATr+IUwwa+xdJ4WxSKBrAv8ubMyRKUS59lK44DCQb7r8uEECPkjgsdiVpQSI+nINS6MlsehiCYq6D17rgaqSXtKFi4J42pU+AdEo2m+AbizCtY55IIvyudrVZ+FmhmgnXesc3O9jBPpQHf6IWlWLM1FJggo09d2FQReVMFok4IsEnohf9SlQ+Cu0LzlFR0c7ZIfrLvj2KDRI4KoEIgLD1JvPKRW6NY5+TUFvoXXLlFxFQs6atMIIJYwWCVyNgNMJtk9LmkLdjtm8ZUlItlsYvUjAZwmIw1p+wUS9mFeQAo3cdS4nh/vRIYHuEBgXPiZYPY6COuytxnXhuaagA6XqZDKRASJOy9kFRIzqmsAnpY27Zbeu9mZCf9bFkRiFBHySwGNRjzUzIf+RUrnqhppknEVOoYH2WgRGBg2LZcc0MgeEwJincze4bkzn4Su5aws6AfXOZDZ+rrtSQhiPBNwJVDY7zxbVO9SudgDy0/eXhLhuFAJckICfEFiTkPYZBXhPqe6us19pKKXqHcxKPFok0BUBnag9rcTLQBYq/ivZqwr6LZ9QLuBzlJMnmjWTFT9aJHA1Au+fb2xl+11PQ7AftOy3lgW9xcKDv2KOSGCICWg1mjRKoZ4Xw0nlSYdKjimPtfEodEjgigRCTaFWZSehHY1rJe5Se1VBDwqon0sAXI8aCQSKDBJxHw+9NC0MIwEXgQPVLTttDjrdFWAbQYYfMIMrEvBLAv8z84cX2O+o+la2/Kri+BZHa7VfwsBK94jAqKDhgeoJhCxS/VfwCFeId0UTWVa720O1ouvmDtcO3CCBKxCwybR+34VW9cU9rGXy1JvXB+df4XBvj8byI4FuEWiMr3wWgJ51HUzAtPPcfuVlLq4o3CCBrgiwcXS1V5wCnflU3kumro5T4q4q6GysR+2zH2OSWM+pchpaJNA1gc+Lm3LZB0WZq/2CUwj6XddHYiwS8B8Ca8lamRL6E6XG1qb6xTWNtaeUMFok0BUBjagxi0R0/REkQASx2T6/q+OUuKsKOiGQrBw4IUjCx9UUGGi7JFBrk4uKGhzqZ4a1SH7+7hKCz952SasbkXiITxFom+udfqFUatfZr/ClRAoMtFckYDIYy5WdMu3oNVfi3O0VBX1FZv10AKI07+uH6yWcUAZwuRqBj843qhMhsOMOvbUs5BVmcUUCSEAhQKVVQMF1l7tddkw/V1W0V9mFFgl0RSAyaDjpiKdXHUe/oqBT6lS7240agl1DHUTR1wWB8mbHKWurvEDZRamQpvjReiQBLNQQEFgz56FzrOdqs5L10dK8cOZno1RsiysS6ILAqODI0Uo0U/bedrlT9RniUQYNdpsqRNF2SeDz4mb18Qr26/TZlmX4JrUuQWGk3xPQaLW/oRRcb2BzUufEM5WFe/weCgK4IoEgfeBYtrOGObYS47rDG+KZp8v1ii10Ah23yLPx86Auz8ZIJMAIlDY4jjfY5bnM27aK9BdtHtz6LQGs+BUJtD/G9nflgKNlJ0dRoLISRosELiWg1xpYz057rFO4Yrd7l4K+YmvDcCAwvv10iA6U3F/lpkSjRQIuAp+VNPFJZFx+tnlnS3LIQWZxRQJI4AoEJKH1D6yV7ppshlIafari3O4rHIrRSACGB4Y3KRgIgDocrsQptktBJ4IzQTlAQ0ieJBCDEkaLBNwJ8LHzZidt6wKiIFNCn3Tfj34kMAAEvD7Jn8b91EIE8melIicrzkYqfrRI4FICo4KHhXTEtf/edkSovi4Fnf1jnKUcEawTqhQ/WiRwKYHssmb3Ga/e3rIkpPDSYzCMBJDA5QQCNPKfWSvd1fKSqTyh1FKBb2O7HBPGMALhptCJzLSvZPLmA5s17YFOpktBZ0eogj7CKOLYDgOC6+UEmuy0qqZFnqfscUjSHxU/WiTgtQQGqeBpM9IaWPfp80p2R0pO4G+tAgNtJwIaQWMkRChRIutFB38TmxJUbZeCzrpNZypHjA6QzIofLRJwJ5BZ3nSchV1z/TOb+W5y4FFmcUUCSKCbBJxU/ItyaJO9ZU5DS+N5JYwWCbgT0Gt06jwfMhVUjXY/5jJBT8miEqFkmnLQKKOk3hynxKFFAk4n2ArrO/4lEugYD0Q6SAAJXJFApx0/m/PQeUrh7fZI8tX5wzhk1Q4DTWcCwQFBruEZVyyV1V50V7h9c5mgjwTLDCDgihcIKdeLBB9ZA1wuJXDgYss+FhfMHF9Pvbk06BPuQYcEkEDPCIhEUIeqLjZaEuyyvbFnKeDR/kAgwhiqc6tn9wQdqKAeaJCg1C0B9CIBlcDhapvbq3TJs+oO9CABJNAjAo/HP3yYAj3QfpIxryK/9zfHtSeCxvcIDDOFDVdqRQiZrfjdrasl7h7hfod7uF7EGeLc4aDfRaCy2XnWJtPpPMC6C1uFAPPr3I8OCSCB3hEQgLyknJlfXRSh+NEiAYWA2eCaMc7WHg79y4HNlz3qKLTvdDdqC320QaN134F+JMAJ7KhoVm/OIIT+6435pI7Ho0MCSKB3BBpk8VX259g1HazD6Zha21h7pncpDehZmPgQEiBABEmU1BnjnOTycfTLBJ0SUO+eGxUoDhvC8mPWHkjA7oTWiibnHKVo7PPyouJHiwSQQO8IrJ3zUBMB+Jdy9qHSk+orM5U4tEjAqDO0z+kOIAuyqtUKmU6CvvxLGsQ+VCOUncMMotvD7EosWn8mcLi25SsKEOBiQGnRliUh2S4/bpAAEugTAVmkLysJXGy0dPmcsbLfJy1W6poEwgOCncpBhBK1N12J6yToomhVW158ylflILRIQCFwpNqmV/ysB0j9AVLj0IMEkECvCDwZm5ZFKSjPoZvPVRXt7VVCeJLPEgg3DVPnhaFAr95Cp5RMVUiYdaRG8aNFApxAk4PWNDmp+qdPpvQNHo8OCSCBfiJA6LtKSmcrC1lnmBJC20cCPnF6eGDwaKUihMIUxa9YQfFwKwAdyy13wVrJzi06JKAQOFTdymeGcwXZv8PDby8LVm/QcEXiBgkggT4RoILwjpJAg60x1ik7m5UwWiSgl3T8CYi2zwQhhr8efWG4O5VOgg4EVEGPMBBlSk/ABQlwAiesdnWSIULJFh6HDgkggf4j8GTsyv0AtKg9RUN+dVFuux+NJxMYxLKJbnO6t9rs49yz7iTolII6zWuEVjS5H4h+/yZQb5MrWhyyOpmBIGjx2XP//khg7QeKACVqK/1MVZFmoLLBdL2TgFajq1VKLhCiNsJ5XCdBJ24t9BA9PrLGAaFrI3C81ub+XGzOG0sC1Df/tB2BWySABPqDgEw6ut2bbc2zndTZ2h/pYhpeS6BTwY3agLYudxZLQe5a0Jcfo3wSmRB2DF+dZq1w2Sw0fAc6/yRwps7u1lKgH/snBaw1Ehh4Ak/GP3yAAq1qz0lXYa061u5HgwQgSN/21LALBSVdd7lrqizqG9YEAsWug3GDBBgBJwVnnU1Wn3kkVEBBZ1xwRQIDRYAAUV92dLb6PE7BPVCgvTDdoICgjkeH3W5k51VRu9wpgNp014tXf2QNcPErAoX19iPs86H8Lax+c1nQfr8CgJVFAoNNQJBVQb/YcFF9VGmwi4H5eR6BIL05WCkVIaDqNrBFFXSQQd1h0gr4+j7ARSFwotamztXOugKxda6AQYsEBoiA06H5XElapvKERlsTTgWrAPFzG2QwjelAQCZ3+AFUQacE1L74MJ0oux80uH7MzdMIlDU51Tn9iVtXoKeVE8uDBHyFwM/mPGSlFHYo9Sm6WIpzPigw/NyKgmggABZoX9zfuqYKOqEdgh6qE3Xtx6LxcwIOJ7TYZarOSOTQk61+jgSrjwQGhQAR6HYlo/K6KjbqpYTQ+jsBUZTUHhtZdKiNcVXQ3Vvo4VpBnUDE18BhfXpG4HyjPY+d4fqcsF+Uc+8uDLrIwrgiASQwwATY8NZuJYv65nr1pVlKHFr/JaCTtFal9g7oaIy7fqj5DtZCV/vlQ/Uin16OR6PzcwJn6x1q1w4BusvPcWD1kcCgEXCKwh4lM6fsnGSXHfVKGK1/EzBoA9S5CQQgqnYLKhZCzO1+GqAhKOjtMHpmfO/o0ka7cnc7yEBQ0H3vEmONPJTAz2etqmWtdPX9CRfqqtwnd/LQUmOxBoNAoEbPOkzbc6IQ3u5ruykudWfjSCWCDbZjl6oCAy002ulEFQMR1S5ANQ49SAAJDCABorbSSy0V6tMmA5ghJu0FBAxag6gUk/3p6yzo1C6HKjtFAmoXK+DiUQQGuzCWVrmU5dn22aC08e0lJpyxigHBFQkMFgE2zLVXyau2yeo2oYgSi9YfCRi0Oj6za1vVKWn7jWYhV5c7dTrULnZBwGfQGRdcGYGKZicXdOYDYP07h10e3CABJDBoBGRBOKpk1mxrxhvjFBh+bg2SzuCGoHMLnRCiRugEUCd+dzsBvf3ybgkAABAASURBVD5P4PIKFjc6mjpiyZEOP/qQABIYDALNDkHtFZMpHeugTttg5It5eDYBvdZgVEpICFX129VCZ+PmYcpOnUjwA6PA8HNb2ezo6NYBwBa6n38esPqDT2DtnIfYn2p6Vsm5ttGi+pU4tP5HQK/RKTexs95Touq3S9ABOlroRg1xAi5IgBGot8nDmWlfhT610NsTQYMEkEDPCajfvar62pqen45n+BoBnaRVRZwNiAZRSlm7HNrucgcC6qC6UWrXeF8jgPXpMQEHhQnKSU7BpP6oKHFokQASGAQCpOPPdFXjRXkQcsQsPJwAAcKF2jW5DPf/MS/dpeE8kgm8rPbBB0pE8vC6YPEGgUBNq1yoZEMBKt5dQjz4FY5KSdEiAR8kIFN1Hvem1ka9D9YQq9QLAgIh6hNpok1waXiboLt1uQdqBPdx015kg6f4AoGaZqfatUcoFPhCnbAOSMAbCRCRqn+uWx22EG+sA5a5/wmIRFQbWZJMXV3wLkEnAK4Az9KoEQzcovNvApUtzkY3AuoPiluc33ixokhgKAk4iVP9/jllZ9RQlgXz9hwCoiiqT6TJcpuGuwSdFdHVXGcWAiUhkFt0/k2g1uaUFQKUYAtdYYEWCQw2gSdnP1pCKXW052toddpr2/1o/JiARtKq87lDey97m6ATUG+B10lEnbsbcPFbApZWWX2FLna5D+THANNGAt0hQIqUo+qa6ysUP1r/JaATtcqfPKBAgzkJl6BTCi7rinDz8zA6/yTQbKfqnzz2aVF/TPyTBtYaCQwtATYsqn4HG1obcE73ob0cHpG7RhCpWhBCXBPNuISckA5BB3c/4OKvBBxA1aEXItIqf+Xg7fXG8vsKAVqt1KTZ1oqTfykw/NhKYscDaewPn+v32iXoQGmbZXAEbKEzCriyEXRXFw4nIQs69Y53HkaHBJDA4BKghKjfwRZHi3Nwc8fcPJGAVtIwHVdKRjta6KxV3rFDcGutK8ei9SsCrB+H/X5AkFJps9GAY3YKDLRuBNA7iARUQWct9EHMFrPyVAJaUVIb4kDdutzBrVXOlJ2tnloFLNdgEGDj52r3HgXa/PwcYh+MfDEPJIAErkCA0ovKHtZCFxU/Wv8lIIkat8+BWwudtchUEe80nu6/rPy65o1O6n7TjSrufg0FKz/oBDBDNwIE1Ba63enQuO1Br58S0IoadRCdQtvTaR1NdgUK26N40fonAZtDblFqzv7puYu7Eo0WCSCBwSRAqPrH2u5w4PSvg8neQ/PSiJIq6Ox32vW4ebugE7XpLkCH30PrgcUaYAKCCOrnAfDzALj4IgHvqpMIRJ23W6ZOnM3Tuy7fgJSWCbo6Vwgl0HGXOyEdN8IR6PADLn5JQCBugk7d/IALEkACQ0HAIYM6O5yTyq47moeiHJin5xDQSFptR2muMIZOBRT0Dkj+6ZOAtdE7qi52eNGHBJBAdwj09zE6rVa9KU6m1NTf6WN63kdAEiS3nhri+pMn8GoQ2iHiBICtgIsfExCEjlY568pxfUb8GAdWHQkMOYGfzHiwUikE+4FGQVdg+LFlXe5u91K4tdCZhKs/2qy7VfX7MSu/rjr7g6febAFARb+GgZVHAh5AgBBC2Xex/Q2IINicdqsHFAuLMIQEWAvddSOcqwjuz6GzT4o6ybvDCTitoIuQ/24kgahjMwSIW7eO/zLBmiOBoSZAKahPn8hUxt/pob4gQ5w/IR09qezPnus3u601Tqn64aCkww+4+CUBkYBGrTilrg+KGkYPEkACQ0KA/YDrlIxF0vGnW4nrL4vpeAcB2U23AYhLw12CTkhbANjilAFnBWMc/HkV3QUdfzj8+aOAdfckApSogi4QEf9oe9K1GYKyyLLTJeKurAm0cusSdKAd3exOQEHnYPzZuXe5Mw5uN16wEK5IAAkMDQG3P9qiIHrpUNjQoPPFXGXZbdiF0g5BZ93srgCvtMNJsYXOQfixE9x+ODiGlCzqdpMcj0GHBJDAYBJYW/CK+x9r1u4azNwxL08k4KRO9d43cO9yZwFV0J0UW+iACyegdueYTIDde5wIOiQwRARCHfXu30H193qIiuOx2fpTwZyyW+ObuHW5E7fBdQfIbqrvT3iwru4ECAHlERnQ1zea3fehHwkggcElYKsXQpQcCSENih+t/xJwyh0tdELdBB3cbopzOAEF3X8/I2rNBQLq3NEC0HDABQkggaEjQAX1OygAwWfQh+RKeFamTrcudwptT6cJriLSjpviZIqC7mLi5xuRgNoKECiE+TkOrD4SGFICskjV76AoiGrv2ZAWCjMfUgJOSt0a321PqrUJutuz5w6Z4g0XQ3qZPCNzrSA0KyWRwaH+mChxaJEAEhg8AoQStYWuFbXqd3PwSoA5DTSBnqbvcDo7tJq4d7m33yHHE2SS33EQj0DnlwT0Qts/Pl559mOCgs5BoEMCQ0SAuvWSaTUafBJpiK6DJ2XrlNkAuVIg6v7YGm1Td77P7sQWOufg786oIeofOwLY5e7vnwes/9ASIEAjlBLoNHpZ8aP1XwKsM73jN7pzC71jjmAHhbaD/JcT1pwRMOvaRmOYFyiho7lFhwSQwFARIGOUnE06Y8eXU4lE63cEHE5Z1WoKxDXPf9sHg9A6hUazEx9bU1j4sw3Ti24TWZAJ/swC644EhpoA63Ifr5QhKMDkeve1EkbrnwRsjhZV0FkPjkvDXYJOQKiB9qXRPihd7u25ofFUAhFaIVgpG+tyH6v40SIBJDAEBAgdp+QarA8MVfxo/ZdAs92mCjoAqQa2CMwBBdoh6A4cnuFM/N2ZteJwhQH7fEQrfrRIAAkMLoG1dK1AgCjDXtSoM0YNbgkwN08k0GxvJmq5KLg03CXohLQF+M4mGxW59WqHhe8zAYNEgglAE0+IADGs2NqgCjyPQ4cEkMDgEDDnRqjd7YSQSpGI+G6FwUHv0bm02m2qVlNCOgRdprRKKXmLTN3nDFai0fohAUEgpUq1KZFxHF2BgRYJDCIBB8BEJTtRENTfaiUOrX8SaHXa1PucCJVdnwulhX5RQWKnoB6kxKHtRMBvAoEScY3LtFVYntVmcYsEkMAgE1C/e4E6Y+0g543ZeSgBh+w0KEUThLZedpegOwWNq7nOd9qdciC36JDA8ADJ/a1Os5EIEkACg0+AdbOr370wY6g8+CXAHD2RgFN2qlrtENy63EWxLcAL7aSAb9biIIbKeVC+owLEALU4hM5U/ehBAkhg0AhQoKqgDzOFBQ1axpiRRxNgQ+Xqk0iiXXQ1yl0tdGtdgCvQXnqc5rMdhL+bUQFSpMKAUIgFXJAAEhhUAmvpWn4D3FQl04jAEPXxNSUOrV8SoARA+XNHn5jzkGt41CXon95KWtm/QOXtWkKrTPH1fL75GelRrYJ1An88pu3NToQY78toxsfXekQQD0YCfSMQcChiBgHi+p1mtlwjapUfccDFfwm0OFpdAs4JUErVe+BcHxQeCRTUyCYHCrqLCW5AK0K+gkEWWucrfrRIAAkMAgEqLFBy0Wt0JYofrX8TaLa3umaG4xSI22PnHYLePtMMP6CxVVZa6zyIzo8JRBok9Y8ekcnVBd2POWHVkcBAECCULlTSHWYKb+stUyLQ+i2BFluLm0Z3PI2kCjpTeddzbJyQ1YGCzjmgAxgXpFEfY6SELkYmSAAJDCIBQhcpuY0KHh6i+NH6N4GG1ibXpF9tFKiq3aqgU4DzbTsBalvlZsWP1r8JjA/UqJNaEArxD2RRVeAHmQxmhwT8isAzx18MBSDKTXCOYebw6YALEmAE6lvr1UeKKRBVu1VBZ8cUMudaq1ucLosbJBAgkTCBQIGLBAGhBSzY7Q64IIGBJyC3ti5VctGKmhMiwSlfFR7+bq3N9R3aTWnb7zODokYSStTIerusY/twRQIuAqE6seNmHCokuiJ9bYP1QQIeRkAGkqQUKdQYot7LosSh9V8CTbZmdY4QKnRotyrostDeCmOMmuw0mBlckYCLwOQgjfo5ISDf6IrEDRJAAgNKgAC9SclgbNhok+JHiwRsDrs6Xwz7nKi96+oPtUaUihRMNpmqE4oocWj9l8D0UO0MVnvKHFAg8+84QNV/hzwO3TUJ4AFIoEcEnjm0aRQAmQxtS9PwoAicqbGNBW4ZAZnKY5hxrdSgP+fysI0q6K8nGcspgIPFASEQ1OLEZ9E5C3QAOoEEaQVygrMgAJLRalFbDjwOHRJAAv1LQJbpHUqKBq3hmERErRJG698EWHd7BSMgMsdWanky5gf1zONaBde2fcN+rFWlt7Y6+Unte9D4O4ExgaL6aAQAwW538KAFi+JzBGQK6p/mqJDIFp+rIFao1wTqWhsr1ZPd7n3jcZ0EnUWoffGVLTK+po8BwbWNwLRgXUSbj21Jx48NC+GKBJBAPxMghN6gJDkhPFrpelei0PoxAUuTVW2RU9IxkydHckVBr2lxqs+58QPR+TeBMSZpOuvBcb3Eh9lx92XV4sta/OMjgbUcZALrDm64FYAYgS0CEc4FaA0jmBdXJOAiYG2ut7s8bMN+i9V731gQOgk6U3v10bVaGz6LzgGh6yAwTC+6xtF5jEzJPdyiQwJIoH8JECqo362RQcOL+zd1TM3bCTS0NrSPn7OauD2DzkKdBZ1FqF3uFptsYGFckYBKYHaYruPudkrvV3egBwn0lgCe14nAWrpWohS+rkROHjFutOJHiwQ4gebWlkBuXc7tGXQe7tRCB0pUQW9xUPU5N34gOiQwOViTwChYmANCyJh7Myzx3I8OCSCB/iFgODjsVkLA9cy5IJD8EEPwxP5JGVPxFQJ22T5MqYuTyKpm87hOgt5oNh/lkdw5KYxzOsHG/eiQgEIgQi+qnxECoHYNKvvRIgEPIuB1RWE/yPcqhY40j1Dn6Fbi0Po3AYfsbJIpHcUpUKByy+zqU9yvOPb5UbwAH84hTewgZcxGqLQ51DH1jqPQ588EZofq1KEYQuh3gFKm6/5MBOuOBPqHwFN5L7GWOf2GktqUEeNdP9xKGC0SqK6vPqtQIEDy1pK1rrljlLhOgt4eeaTdQkmDs1rxo0UCnMCUYE08AXDd7Q5AIlOz6tUJMAAXJOBPBPq5rkJjy3cBiA7YIhLxbIghaBLz4ooEVAJVjTWuIc/2CFWr28NwmaATStQu1YomRyf1V05C678E2PieMMYkqZ8RAvJD/ksDa44E+pEAgZ8oqU0YFl2m+NEiAYVAZYOFtafaQwSuLegARD2oqsXZcTcd4IIE2ggkjzDwG3UoD7HNLct3NKnzCvM4dEgACfSMwNOH0hcDEP69ArY0TR0xaQ6zuCKBTgQaWupD3CJUrVbiLmuhAxHUg5odNEo5EC0SUAiYtcJog0QO8jD7u0gkm+1H3I8OCSCB3hGQnfCwcmZwgDlHEsSOR0SVHWj9noDD6RyvQBAkqmq1Gqd4FPvWksATlLbd3c5aX8Na7LRW2YcWCSgEEiL07vNLP7gGM4rCAAAQAElEQVT8GMWXRyhw0CKBHhD4Q+6zfFpl9e72WaNiQntweu8OxbO8jkBdSwOfFc71R49SaHp8ZppyA7taly5a6IQCoSeVI4qb8U53hQXaDgKxodqFrHV+wRVDYLh0wfodlx83SAAJ9IiABqSfEkIkfpIkSicjAsOncz86JOBOoLq+Wr2vghB6wH2f4r9c0Nke9kN9mBnXWtrgUCeCd0XgBgm0E5gaolX/+FGAx9qj0SABJNBNAs8UP2Ng3x21u31a5GT3u5i7mYrHHYYFGgACVQ217u9Xuay7nWfZpaDTTne6OzvmjeVnoEMC7QQWj9DzmeNcf/gIgampmdbb2nehQQJIoBsEnFWGH7IGlOtGJwFI8cSI6HndOA0P8UMCF5ss6hwgQKD7gi6QjkfXrA4Zp4D1ww9Pd6qsFYhpjEnKUY4llD6u+NEiASRwdQKUtZwA6BrlqMnDxxUSIIISRnsFAn4a3WJvjVSrLlx+Qxzf1+WHR5AkVf3tTjqVH4gOCXRFYOnIgI7PB4Elqdtq47o6DuOQABLoTODp3E38BUeu2eAIIZXTR8Ykdj4CQ0igjYBddtTLVFYfDxZDbapGtx3Rtu1S0F9PMpazcZ2KtkMAztc7jit+tEjAnUCgRIYP14s7lDjiJL9T/GiRABK4MgFK4P+UvdEho04ofrRDSsAjM6+wVKpztlOgJx+Leqy5q4J2KeiuAynsdFm2ya+34xSwjAOuXRO4YXQAfzZSeZHPralZFpwUo2tUGIsEXATW52z8FgFom9qVtc5jo2bMd+3ADRLogkCp9UJDRzTZ1eHv7LuioFNC9yiHFjc58BljBQbaywgE64RRkYGi+nkhFP7fZQdhBBJAAi4CrrFzQn/tCrDNhPDok6Ig6JkXV18n0Mv6VTdcNCunst/X3Yr/UntFQScgqP8C6lrlyYALErgKgZtGGWPYbqUb6FYcS2c0cEUCXRBoGzsnbdO8EiibMWrKgi4Owygk4CLAutjlVkfrNFeAbQRRVrWZBTutVxT0CmLOYQm5fqDZeHpYnU0u6XQmBpCAGwE+lj7aKO1XoogT/qL40SIBJNBGYO2xd7Ts9/T3bSGAmOHjz0lExB5QBQjaywhcbLSeZpGuHhzWu1PzeOwjPMyiLlvhioKevYQ4WNP+K+WUs3V2Pu2cEkSLBC4jcOPoAD7DVWPbDpJ8b2bdnW1+3CIBJMAJBLRWP0EIuO5WFggpnB6Jd7ZzLuiuTKC4tqxtRk7XIUS9AdkVvGRzRUHnx1HSMfheWG938jh0SOBKBAIkEj4lWKv+CSQg//lKx2I8EvA3AuuOpY9gdf4lc641Nmq62w+1Kwo3SOAyAhfqqzVKJCVUvVldiXO3VxV0gA5Br2qWh0EPFzzc/wgsGWGYz1oe5bzmBGBCaoblCe5HhwT8nQCxkT+x1nkA5yCJ4rFxYWNwVjgOA91VCTS1NkarB9AOTVbj3DxXFXRBQ9W76eyUTnbI1DWm7nY+epFAJwKSCPp5w3T5aiShv16+vT5CDaMHCfghgacPpl/Hqv1d5lzr4gnzXC9jcQVwgwSuQKDJ1lwhU+qafIhSaHkyYdXeKxzqir6qoL+ZGFwLlCoTHghFDQ71ZRyus4d0g5l7KoGEcN0ijUBcnxUCJFByODd4almxXEhgoAm8Q98RKSX/UPIJ0pt2hhmD+VMhShRaJNAlgVLLhQK3HepwpltcJ+9VBZ0f6T6OfsbqqONx6JDAtQjcHBXgcDvmntTMuq+5hdGLBPyGQNHBql+wyiqPHTUsnDBnIgvjigSuSaDMekGZsAvYcM1Vx895YtcUdAGImkhZk93ET/IHh3XsG4HoQGnm8ABxu5IKofLzd2XVBithtEjAHwj86dCG6QDkN9C+TB4+NjdAa+A3x7XHoEECVyZQ22QZruylRFa1WIm71AqXRlwWptptSlyTg86wO8H9nazKLrRI4DICd0Yb4wlApWsHgeF6SvCudxcM3PgLAUEmale7RtQcmzlyGr6AxV8ufh/r2eporXHKTnVoRh/YD4L+5jJDEaXgGg9l5dPlN9qPMotrnwj4x8lagQQmRRrUG+QIwPfvy7Te5B+1x1r6O4F1uek/I0CU9xo4kicvCGRMCHO4IoFrEiioKclTDmIavOPRSY9ec8j72i10liIB8jkzrvXERVv7xCGuIG6QwFUJzAzVzg/UCPuUg2Sgr2HXu0IDra8SWH940wyg8FulfqNCIncG6QPHKmG0SOBaBM7XlLkf8pl74Er+bgk6+xH+VEmgvMnhmuVICaP1PAKeVqJ7xgdOJAA1vFzMRugpqN2QgAsS8DECz555Vkcd9F+EENejaaIg5V0XPWuxj1UTqzOwBGh9a/0MJQtRJKoGK3Fd2W4J+tvLgr+glDbxBGQK4+pssmviEB5GhwSuRSBAImE3RgWoUwcTIHeuyKpTn8m91vm4Hwl4E4HWevFpQmBKe5mblsUsChSJ6BL39jg0SOCqBKoaqvnj4kH8IKa9FY/HrjzI/ddy3RJ0VyIEslyWbY5ctJ1hBle/JNC7Sk8ya+IjA0X1BktKnRuW72ga07vU8Cwk4JkE1uWk3wxAHoH2ZXrk5FyTzji6PYgGCXSLQH51cZV6IIFPVP81PD0QdEFt8p+12l1vfrlG2rgbCXQicNfowAWiQFx/BlkrPVCytX60/BjFN011ooQBbyXw56PpUYSQN5TyG3WGvTEjJmJXuwIEbbcJVNRVhqsHE9Kt8XN+fLcF3Slr3ucncNfgkJVJEngQHRLoFgFRBO03xwYKBMA1fAOEzBQrra+A24JeJOCNBNYee0frtMHHrOyhzIFAhPPXxySqY6A8Dh0S6A4Bm9NucTidbZ8dCk59oEO9Kf1a53db0N9dFlAKFFytK5Zo4Lk6e7f69NmxuCIBlUCEQZiQFGk4okQwcb/v3gzLSiWMFgl4IwGjrfoV1jqf2V72hqUxC52SIAW2h9EggW4TKKop5ePn7cfTPd15XK39YOi2oLedQNW+/BMWm7UtDrdIoGcE+KNsY01StnIWa7JvvDfLOl8JD5zFlJFA/xN4+mD6Kpbqfczxlc6Jnp0XpDeP4wF0SKCnBIpqimXlHEpcvT5K8Jq2R4JOSMc4emmjc+Q1U8cDkMAVCNw2xphs1JD9ym5C6X+Xb7Pgj6ACBK1XEFh3KP1GSkm6UtjRIZHbokNHKZPJKNFokUC3CVhb6qeqBxPo9vg5P6dHgm4fZs6itG3qV4dMJ1ta5VKeCDok0FMCrKud3DfBFCMK4HqbEAtHiE74wpsnnekpAzzeuwmsO5geS2T4t1ILfhPcvLFxKUoYLRLoKYGqhurj7Jww5gAoVK+JSzvk8ndz0yNBf3cGsbEfXvVu99yaVmVMvZvZ4WFIoIOATiTmFeNNGhZjYQ7YZ2uinpJPH8ii+BQFB4LOYwnwO9pBhq0AxAhskUTp5A0xSbOZF1ck0GsCJyryq5WTWXf7vxR/d22PBJ0nKgvkbW65O1NnV98Ew8PokEBPCQTrhNF3RhuL2Xmul/4wUZ/fQi1bWBjXTgQw4CkE/nByQ5hsh0xCiKslRYCU3zwteZgoiAZPKSOWwysJ0Or6avcnyHr8O9hjQTeA+X0KtJnjsjvp1JpWuZD70SGB3hKICpRmJkUa1Kcm2A/knakZ+Dhbb3nieQNHIP1YeqCmWcgAIBOhbalbFrO4WSfpXOLeFoVbJNBzAuXWC/zpnwh+JtPYC2viV6kTcfG47rgeC/o/lpAWoOQjJfEDVa3qlJ5KHFok0FMCs0K18yebtdnKeYTQB1Zk1P5VCaMdWAKY+rUJ8Dnam2yEPxOsdK07F45PKAgymMZf+2w8AglcnUDehXPqk2MEQO0Jv/pZnff2WND56YR0ZFbcUJvI49Ahgb4SuDHKkDIsQNyupkPIT1ZkWn6uhtGDBIaIwDv0HbGlTvwvy34hc3yVZ42ati8yaLgi7jwOHRLoFQFKqfNiY+0s5WTBTWOVuO5YoTsHXXpMlLbiCwIOV3SL0yiUNFx0+XGDBPpKYPm4wMRwnbDTLZ0/4Itc3Gh4pde7C81+bEnhweq3CSE3tteETh85Zc+kYWMVcW+PRoMEekegpLacDTmSYNfZFIofj0vb7fL3cNMrQV+3OKbeJFXzG5lc2R2vrXVZ3CCBvhIgAOTeCaaFwTpB/UBTKr+yIsPyIOCCBAaZAKWUrD+46W32ufyGknXMiPE7Y4ZPWKSE0SKBvhI4deFci1savepu5+f3StD5iVqx/k1uuTvfaOQGHRLoFwKEgLBigmmeWSPsBbawH1MCBF5IzbKmsSCuSKATgYEKrKVrpacPbvwPAViu5DE5Yty26ZExOMyoAEHbZwJO6rRbW+pjlYRkIgy+oNePbFgrgM1VhlanAQrq1MfnXHG4QQJ9ISASEO+bZJpj0gj7oH0hlG5YkWX5ZXsQDRIYMAL8ZSsBByM+AyB3QvvCxXzm6KnJ7UE0SKBfCJy/WJrLEmqb9591tz8Z//ABFu7V2usW+j/GLWkJkGrUiWVO1tb1qgB4EhK4EgGJgHT/JFOCu6gDhd/dm2l56krnYDwS6CuBp/JeMhltVV8SIMsA2lJDMW/jgNv+J3C6ssCppirQV1V/Lzy9FnSel4Y2vswtdyVN2O3OOaDrXwJc1L872TQvSNvW/c5TZx/aNWxMXR3y4XHokEB/EOAzwAmNrbsBSBK0L5Mixm7Hlnk7DDT9SsApO5sbWhrVJyWcotzr7nZeMPbbyE3v3MbkOX9i3e6Un22T9XDiYjn3okMC/U5gxUTTHCbqe9SECaxIzazded8OS4gahx4k0AcCTx9Mv062k0NAoO1d1CytmBHjd8waPU0VdxbVrysm5t8ETl04y7vXXa1hCvTkz2b9+GhfiPRJ0HnGJqnyELfcHa91v1GPx6BDAv1DgLfU75tomhsZKKqzJxEgi6gNDty3zTqpf3LBVPyVwFO5G78my4TPgRDazqCFCfkevAGunQaaASFwpqpI+byx0UR4qa+Z9FnQdVLtH5VCVLYEQ52tSQmiRQL9SkAkIH4jOjB5boSOP6feNu5EYDx10v0rsqw3Ay5IoBcE1uem/4b9EH5ACCgvBapKmbywcFLE2AW9SM6DTsGieDKBupaGIofTMV0poxOcfRo/5+mwzzE3vXd/W5j4rl642MJToCBAbvUF7kWHBAaMwNxh+sW3RQXwrinXW9pYRsFA6aepmZbfMz+uSKBbBP6Q+2zE+pyNGQDkf6F9EQUx75bpS5xhxuCY9ig0SGBACBwsPu72HhT6r1/EP1rV14z6LOi8AAHSRT4lIvfCuTqty+IGCQwkgXFmTex3JpkaWKv9nJIPAfjFisza7BVZdeFKHFok0BWB9bkbFkhUPMLGy5cq+836wN13zb4pJkBrGKHEob0yAdzTNwI1DTXqzXAEiHqDeV9S7RdBF/XNq5VCNDsD4ay1UgmiRQIDRsCsFUb/YIp5hFEi+zsyIckgy8dSY3oaXwAAEABJREFUs2pTOuLQhwQ6CKw/uPHnAMJuQogi3PL48KhtN0xNwqlcOzChbwAJnK7M300BgqFtKX0iftWnbd6+bftF0J+dk3jeJJXnK0U5UtOgeNEigQEloBWJ8YEp5uva39TGviMsOwLDiUwyUjNrf7P8HSqyGFyRAKw/vGnYupz0TKDwBwUHE/WL88YlHI6LmokTxihQPML6diFOX8g3dNSQ9kvrnKfXL4LOEzJo6//MLXflLcHQ4rBxLzokMOAECADhb2q7KSogBwDaZjgiIBA2NiqGW3cuz2oYAbj4NYH1BzelgIMeZwK+RAEhCsKpm6Ylt44OHh6nxKFFAgNNoKG1qbTVYVOmeqVOWXqxv/LsN0H/2/y5G7VCg40XjLJGUW51GfeiQwKDRmCSWTPnWxNNdRoBjimZEoD5EnWcSM2s+5oSh9a/CKw7mP4UUJrFxsvVeyvCA8O23THzxmijNiDSv2hgbTmBoXRHSk7wGVbZTxOwziK69WdzHjrfX+XpN0HnBQoQLn7GLXdn6rCnk3NAN7gEgnXC6AdjgqaON0vZLOe2R9sAQgjIH/DZ5ZbvtqrPfbL9uPowgacPpl+3Pif9JKFkjVs1q+aPi8tNnjQvmbXQ9W7x6EUCA06AApUr6qtmKRkRgfZb65yn2a+CLhBZvTmu3m6G4oYangc6JDCoBEQC4q1RxpQ7o40nWL97KSgLgRVSCz11b4ZFfXuWsgutbxFYl5v+NKVkPxCiPn6mk/Q5t81cRkYFR8b7Vm2xNp5F4MqlKawp/opSqjQqLq6OfeSdKx/d8z39KujpibGnjVK12n1woMra8xLhGUignwhEBUozfzDFbBquF3e4JRnORP4d1lr/D46tu1HxEe/TuRuS1uVsPEuAPK5WiUJ9zPDxO26fuTRBL+nUbnd1P3qQwCAROF56uuO5bgp9nkjm0mL3q6DzxNk4+npuuStvDgZLayP3okMCQ0JAJxLz8gmBiXdEBRwWBFD/bAKBu0RqP5OaZXnyRweoZkgKh5n2G4GnDj87el3uxncoCNsIgQlKwkadYe+tM5c1TR+J7zBXmKAdGgIXGy2nW5029QZMEWh6b0pytXP6XdA3Lo7doBXqXCouUxH2V1ZcLX/chwQGhUC0WTP7R5ODho01ucbW7TxTAiSQUPhTvdWad29m3Z08Dp13EVhb8IqeCfn/E5xSMQFQh1IIIRfmRM/66uZpS+YbNLrh3lUrLK0vEsgtPuo2Exz94LGEtLP9Xc9+F3RewACh9gVuuctvMHODDgkMOQFJBP3tY4wp94wPLDJIJFctEIHxAsjvs274L5Zva5ipxqPHowk8fXDjd421zax7Hf7PvaAjzMOy75h5vSE6dPR17vHoRwJDRaDJ1lxhba5fpORPiaD2ZCtx/WH7LuhdlKK6YtYTEjS77jB2yFrYXeE2ZW0Xx2MUEhhMAsMM4kQ2th5//aiA/QKBjg8ngRtEp+PwikzLv5ZvrZ8GuHgcAUopWZebvoKNk+dRCv8AgFHMudZArXHPTVOTzy+aMCdFI2qwJeGightPIHCw+HieUg4K9MCauJW7lHB/2gER9HfvIc5Aqfp9paDHLTqQ2bdPCaNFAp5AICZYM/fhqUGjZobp+LhrLS8T67ZlK3xDEpzHWYv9LXw1K6fiGe7pnPSvrz+48SgB8iYhMEUplShIeYkTrzt+0/TkBYF64xglHi0S8AQCTtnJmueVCUpZCBX+oPj72w6IoPNCWon5hwKxu6bibHUGwPGL5Ty6pw6PRwIDSoC10DXJI/TJ359sJlFGaRvLzDU5ErMABFJlBz2ZmmF5NzXLMgdwGXQCa4+9o12Xu+n7rFV+jBLyHhNz9XWThJCyGaOm7rpr9o1Thpki1PhBLyRmiASuQuBoWd5+9lti4ocwQSx8Iv5htbHL4/rTDZigv5kYXRsoVu9VCnvkous+JCWIFgl4FAE2ph5851hj8rcmmipDdMJuVjj23QMgBETmvkkofJWaWbszNaP2bqCUAC4DSuCPRzaGrMvd+H8BtqrzBOhLBIi7YNeND4/adufsG8OmDBvHxyXJgBYGE0cCvSTAutfl/KrzkztOJ+sIYb8mHRH96hswQeelJIaGH3HLXa0tGArrq7nXcxyWBAlcQoDPNHf/RNPCb4w3ngrQED43vHoEAbKIfRn/vSLTepa12J9csbUB755W6fSP56mcjfPX52x8WbRDGQH4fwSIO+PmcFPYtjtm3SDzl6mIRNT1T66YChIYGAJnK4v2MVF3TS/MWgi1UkQzv+9jYDJjqQ6ooD933XXHAqVKPm8tywogp6rtvRmuAG6QgAcTiDRIMawbPmH5OOOpcJ24kxXVxlzbSmA8+4/9JxAcFamZlvdSM623te3AbW8IPHP8xdCnctMfZ93qfGa/PUDge4SAOi0rE/WKsaGjs5mQtyZPnJesFTXBvckHz0ECg03gRPlp95sz//5Y1GPNA1mGARV0XnAtaXqMW+7Km8PgYovfvFqVVxmdlxMYHiBNSZ0YuJiJu3WiWZsNBNyeJQUWhK+zLuGPWFd8yYpMyzom7vMAl2sSWH/4VePTuZu+zbrVP3C22moEIE8z4Z7qfiIT7iOxo6fv/XrcLSMSomelsDAKuTsg9Hs0gXJr5WGH7FCHihzg2DDQBRYGOoP0xNiP9GJthZLPzooLihctEvAaAqz7PeLmKEPKyilBQUmRhr1GiXzFCu96NJNZIITwx6dWM3HfuyKjthDFnVPp7NxFHJwNDawr8lUCcOlb8Gp4t/qSyQtPsxb5rAkR0fM7p4IhJOAdBHLOH1V/HwDo5l/EP9qpMTAQtRhwQeeFZq109aUtxU1hUNNSz6PR9YUAnjskBEQRtLNCtfO/N8V83QNTzNXTQrTZAoECcF8IiWZBl7izlnspE/eXmbtn+Zc0iMX71fqnI3+fycbEV7Pu9K3grK+5gog7DVrD/rjRM/feFXuTmXerhxqDJ/sVKKysTxGosF440upobXsJEAWnLDp/NxgVHBRB35w0/XXWSq/kFaKUwLayAf+jwrNChwQGlECgRIYvHWlIWTUtaNydY43HhgeI21mGnd5IxFruI1nc95h7WxKtltRMy14m8mvvybJcvzyLBrJ4n1r/fGjDZD6D2/qc9OeZiFeKDvEIEFhHgCwDIDpwWyRBPDUhPGrbbTOXXbx1+pK54yOi5otE1Lgdgl4k4JUE9hcekpSCU4CXnpz9aIkSHkg7KILOK6CTrE9wy11ZSyhUNnX63ePR6DyHAJakhwSijNKM5eMCkx6KCdInjTDsYWLfqUteSY4AzGMi/2uRwpcStdanZlhymchvvDfLmroiqy5GOc4bbPqx9MC2t5ulr1mXs/E/rCVeJcvCKcpncCPkhwRIRBf1qBlmCtvGu9TvnH3TlNiomcl6SdfVcV2cilFIwPMJnL9YesAuO6cpJRW1dFBa5zy/QRP05xbFvmaQalytdGCt9O0VNTx/dEjApwhoRNDNCtMuYN3x1/1girk+KdKwh7++lYlblzMrEQJxBGClQOlbQOWTrGuersiw7GP2ZTYW/z/MvzQ1q3YsDOHChfvPuc/N5jO1MeH+/frc9P8yW9RkI/VtbzcjT7F63AUEuno1qUMraQ9HhYzMTpo09/jX424JSZw4Lxm71IfwgmLWA0ogt/i4253tdMPjM9OKBzRDt8QHTdB5ngHaqse55a6iOQxKGi5yLzp/I+An9eWT1bDx9gXLJwQmpk03R94/wVQ0K0y3jU9cIxC4chccgbkM0feAkL8AgQxCSQETeMpa8meZwH/B/M8x9/PULMsPVmTU3ZGaaZ3XW9H/Q+6zEX86tGH6U4fSl6zP3ZTK3KNMrH/P3BYm3Pt5q5sLtwzyIUrIe0y4fwFA7mD2ilOsSqJ4jN/YljBm9v47Z9/YcsfM62fPHRubEhEYPp0AGdTfHMAFCQwigXNVRXudskO9/0OSpQGb5rWrag3ql2vD/PmvG6WqtlY6K82uC/hcOsOAq58QCNEL0Ukj9Ml84ho27j76gcnmquRIw97oQGmbThIOMwxXvVuUAExgAn8DO+4h5v5AKLwIRP4vv7OetIs+E3p6Lbc+dyNVnAakSlEWjgkyyQRgvQRA/0YI/IK5ewHIdSy/rlrdoCwCIUVGnWEvn7lt8cTrjn4j7la4c9ZNM/iNbWPDRs2VBMnn7hNQ6o4WCVxK4EjpSffho2d+OuehLnvmLj2vv8KDKui80GZt5ePcclfVEgIFdTh7HGeBrt8IeE1CgRoSMTNUO/+OaGPyD6eYZj8yPcj0nUmm8htGBXzF754P1Qq7NAI5ycS1dqgrJRDhvE7S5fKW99QRk3fwl6HcNfum5rtjb4m+edqS+XzmtuGmiJlDXU7MHwkMFYG8C+d2yVSe4Mqf0mY7OP7k8g/iZtAF/Zn5i143ipVlSh33XMCJZhQWaJGAWStETgnWXMfvnr9vkmnRQ1PNU9OmBYX8MMZcx6ejTRll2DcjRLuNt+r5DHYBIjmgEZnoA1G/Uz2kWMvEuoCPc/OWNhvb3j4qODJ76ohJOxeMn3Po5mnJJbzVfXfszWNun7ksnre8p0VOTBxmipguCqKhh3nh4UjAZwmcLD89WqkcJfC3wXjuXMlPsYMu6DxjjbblQW65u2jjrXR8jI2zQOcFBIaoiDqRmCMN0pQZwdp5KSMNybxV75rBLsY856EYJvrTzSNZCx+u5NyLzQXazYUwsR7Hx7l5S3vJ5IVJ88fFpUyLnLR4ZNCwWKPOqP5IuaeBfiSABDoInCg/tUOmlM8/wSJpg4bYnmKeQV+HRNA3LZj1qVGqPq3UdseFAZ3eVskGLRJAAkgACSCBfieQV5E/UUmUAnnmp3E/tSjhwbRDIuiuCmrpd12WbepsQZBbNWh39rMccUUCHkkAC4UEkICXEdhbcDCbAo3kxaYAtbIsPsP9Q+GGTNBfnD9pb4BYuUep9IFqLdicblPfKjvQIgEkgASQABLwQALN9tYLpZbyBUrRCJC1P5vz0JDNmjZkgs4BXNQ77xDBLnO/TdbD9rIi7kWHBJDAQBDANJEAEuhXAtvP7slnCeqYA6A0rzHuwoC/Uc2V1xU2Qyro/5k3tcYoVfxTKdvp+mCobcG73hUeaJEAEkACSMAzCVTUVx9paGlSW+eCAD9YS9a6GqhDVeIhFXRe6cjEGQ9qSX0L98tUhIxSdd4ZHoUOCSAB7yCApUQC/kSA7sn/Sp00iY2dv/d4XNruoQYw5IK+lhA5UFP9YwVERUsY5NfhY2wKD7RIAAkgASTgWQSOl+XtlGU6vq1UtJWKjv9p8w/tdsgFnVc/fXHci0axSn2n9PbyVpAp+8/Dd6JDAkgACSABJOAhBOyyoz7vQr46KyIF8tSTsx+98rsZBrHcHiHovL6CsflOAm13uTc4TLC/8jyPRocEkAASQAJIwGMI7M7PyWWFCWYOgEJ5kzb89y6/B2w8RtCfnzPrqFlT8d6403kAABAASURBVKnC5HCNAZrsrUoQLRJAAkhgoAhgukigWwQaWhrPV9fXLFYOpgL8ZO2Me2xKeKitxwg6B1E0Qnu3SFoc3G+nOsguL+VedEgACSABJIAEhpxA9pk9/AYvkReEAuxaE7fqXe73FOdRgv7ppEmtAULt/ypwChpCoagO38am8ECLBJCAFxLAIvsEgTOV+btaHbYEV2UoOKkIP3D5PWjjUYLOuTyfPPVPesFygfspJZBZ1gpOeUgf7eNFQYcEkAASQAJ+SqDF0XrxaNmpqWr1CfztydmrTqlhD/F4nKBzLlJA7c2k/Qa5RmcgbC/HGeQ4F3RIAAkggUsIYHAQCOw8u/8kpTS0PavSxhDDL9v9HmU8UtBfmBt3KEhb9qFC6qQ1CKqah2x6XKUYaJEAEkACSMDPCJRaKnKszfWLlGoTSn6wdtz3XJOhKXGeYj1S0Dmc4Ytm3KUV6l3vVZXZYMXnxUPyNjpeFHRIAAkgAf8k4Oe1dsrO5n0FB0cqGCiFt59IWPm5EvY067GCzmeQM2oqvqMAs9iDYV8Fdr0rPNAiASSABJDAwBLYmX9gv/pqVApWSa9dNbA59i11jxV0Xq2Ni677l1kq5Q/x8yDkXjRCfaur0e4K4wYJIAEkgAS8loBHF7ym0ZJXXV+TpBZSgCcem/7gRTXsgR6PFnTOiwY03ySRFtcUck6qgc9Lynk0OiSABJAAEkACA0LASZ2OHWf2SSxxwhxQCjvWxK16kfs92Xm8oD8/Z051oOaC+mw6f3nLiYtlnswUy4YEkAASQAJDTaAP+ecUHd3JRH0iT4IC2CSg3+d+T3ceL+gc4KbFs/8YIFYXcz93Oy+I0Oz0mNn2eJHQIQEkgASQgA8QsLbUFRTXlqW4VeX3jyWknXULe6zXKwSd0wsUG28gYOdesMl6+LTII15u4yoPbpAAEkACSMD7CThZV3tW3m7X9OO8Nqx1fmZsXJcvX+G7Pc55jaD/bfHsU6Ga0pcUgmXNYZBbpTbalWi0SAAJIAEkgAR6RWBv/kHW1S5PUk6mAvnWPeQe1z1cSpwnW68RdA5xQ2Lsg0axqoz7udtXHQCW1kbuRYcEkAASQAJIoNcEKuurjlfUVSYrCbDW+a+fjF25XwkPqu1lZl4l6K466mrmSdDsmtzdKUvwUVE1yJShd+3EDRJAAkgACSCBnhGwy476Hee+CmFnue5qB0r3rY5b+VsW9qrV6wT9xfnzS4K1JT9RKPMJZ3aUFypBtEgACSABJIAEekQgK2/XEaDgmhGOtQ/rZcn5TUKI17UUuynoPWIz4Af/ffF1G8xSqdoVcswSDGWNtQOeL2aABJAAEkACvkXgXFXR3vrWxo652gn50ZOzH/XKu669UtD5x0kbqU3SCnWuaeMoFeDzkkawO73m3gVeBXRIAAkgASQwhASa7S2Vh4qPT1eKQCl9Y3X8yi1K2NusRwh6b6D9fdKkVpO2/G7l3EaHCb4swbneFR5okQASQAJI4OoEtubtLAcCprajaBE16le2+b1z67WCznFvWDjv81BtwZvcz11BQxicslRwLzokgASQABJAAlckkFN8ZJvNYZvND6BAZVkQ7nky5gf1POytzqsFnUNPXxx3v0G8eIH7+R0M2yoINNjdX1XL96BDAkgACSABJNBGoKrh4snC6hL1ETVChN942yNqbTXpvPV6QefVkYSmuSKxuQbQbU49/KewEpyy68k2vhsdEkACSAAJIAEXgVanvXbHmX38ETVXGCjd90Tsw79pC3j31icE/fnEGecDpervAfA2OoDVFgSflwzOo2zeffmx9EgACSAB/yFAKXV+cWLbedbFPqK91hclKt3tjY+otZe/k/EJQec1ei5x2muB4oU3uJ+7/PowOFRdwr3okAASQAJIAAnAznP7d7qPm1MKd/10zkPlvoLGZwSdX5AXkmO+ZRBq1Kb5nsoAL38+ndcKHRJAAkgACfSVAH/evLK+Rh03ByC/XpOwagf40OJTgs6vS6tenq0lja3c76QifFLcAo14kxzHgQ4JIAEk4JcErM31+YdKjs9yq/zWNfGrfucW9gmvzwn6G/Mn1QVoqtVXrbY4A+D9wgqc772LjytGIQEkgAR8nYDNabdmntopsnoGMAesm/28zuT4Bvf7mvM5QecXaNPi2TuCpIo/cD93tbYQyChVe+J5FDokgASQABLwfQL0ixPZ52RKo11VpbRZ1jhvf3TSo3WusI9tfFLQ+TXalDTzl4Hihd3cz91payicrPWZex94lTzcYfGQABJAAkNLYG/BwW2tDnu8UgpK4Ac/m/Xjo0rY16zPCjq/UGfkyck6sf4i9/MH2rLLNVDRZOVBdEgACSABJODDBApriveXWspTlCoyDdi0Jj7tLSXsi9anBT17CXHYJDFeoG2TzjipBj4sasab5Hzgk4xVQAJIAAlcicDFRsvpnPNHZyr7KaW5TXGVjyphX7U+Lej8or25aGRRoN6ayv3ctcoGeK+wEmxO18RyPAodEkACSAAJ+AiBRltTedaZPcGsOgbm+FopicLX1pK1Dh7wZefzgs4v3uZFk/5llCp+y/3c1dmC4P3C89yLDgl0QQCjkAAS8EYCdtne+MWJ7U1A6TBX+SltBpEseyx2Zakr7OMbvxB0fg1fTIr5v0Cp7BPu566yJRS+KM7nXnRIAAkgASTgAwQ+P74tT6byBF4VClQmhHxj9eyVx3jYH5zfCDq/mC8kTbvNKF1QVfx0XRgcqCzmu9AhgUEjgBkhASTQ/wQyTu3c0eqwJSgpEwIPPxG/6lMl7A/WrwSdX9CzzslTDGKNhfu521cVCPmWSu5FhwSQABJAAl5I4GDx0W2WprpEtegUnl4dl/aCGvYTj98JevYS4ggQrdO1pN41PSwFAT4vI1DRpGq8n1x6rKZvEsBaIQH/IlBYU7o/v7o4qaPW9F+rE1at7gj7j8/vBJ1f2g2L48sCDI1zRWiVedhJtfBhEc75zlmgQwJIAAl4C4Gqhosncs4f5o+nEV5mSmGvWZbu435/dH4p6PxCb5ofc8SsqbgLoO1JBuVxNr4PHRJAAl0TwFgk4CkEGloaz28/s3c4K4/r8TQm5uckvfa2h+Y8ZGdxfrn6raDzq70xcfaHJqlyFQDlQeCPs71xphDs+Iy6iwdukAASQAKeSKChtans87xtEitbGHP8F7wWqHjTY9MfdM0MyuP80fm1oPML/nzStE2BUsUz3M8df5HLvwrOg0N29cbzKHRIAAkMCgHMBAlcm0Cro7Xmi5Pb7EzFR7qOprSZgHzbmjkPnXOF/Xjj94LOr/0LSVMfN2nKXuZ+7mpaQ+G9/CKQ5baWO49DhwSQABJAAkNLoNVpr/3kWJaFtr89jXWzt1BBuGF1/CN7hrZknpE7Cnr7dXg+cdoPWEv9g/YgVDFRf7+wAGT2iVHi0CIBJOC9BLDk3k3A5rRbPz2WWSW3TxzDayMAuWtN3Mpd3I8OQEAIHQReSIq5K1CsyFRiyprD4MOiAiWIFgkgASSABIaAgEN2Nn1yPLPMKTsn8+xZC91BKLn5iYSVn/MwujYCKOhtHNTtC8kxy8xi+V4loriRi7rfD80oONAiASTQJQGMHCgCTllu+fR41hmn0zlVzYMIqSjmKg3Vg4KuoujwbE6eusCkKVfn/y1qCIcvS7Cl3kEIfUgACSCBgSfgoE7bp8czTtgcttk8Nz4/OwXyzTXxK9/jYXSdCaCgd+ahhp5PnDqTjamrTfNT1lDYWVao7kcPEkACSGCwCPhjPqxb3fnF8ezDrQ57fHv9KSHk2yjm7TS6MCjoXUBRol5InDLJKFaUKOFDtSGQWYotdYUHWiSABJDAQBBwUmfrpycyc5rtrdep6VP4weq4VW+qYfRcRgAF/TIkbhGE0NFJ5eOMYlWFEnvCEgofF6kvbFOi0SIBJIAEvJSAZxXbLtsbPz6acarZ1jpXKRkBWLk6YdUrShht1wRQ0LvmosauJUsc1gsTR7Pu93IlsqAhDN4vyMdH2hQgaJEAEkAC/UDA7rRZPz6aWWx3OmYpybF2VdoT8aueU8Jor0wABf3KbNQ9795DnDckHokySWXnlciSpjB4L78AZ5RTgKBFAkgACXRBoLtRLY7Wqo+OZdQ4ZWdM+zkUCNz/RFzaxvYwmmsQQEG/BiBl9z3kHufzSdOizZqSPCXuQksYvJtfBDac+11BghYJIAEk0GMCfG72T49mtsgyHa+eLMipOGau0uiWBwW9W5g6DtqcOGNqkKb4gBLDp4l9O78UWhw2JQotEkACSAAJdJOAtbk+/4uT20QZaJR6CqVfWx37yDtq+Ioe3OFOAAXdnUY3/c8lzrwuSFOYrRxutQXBlnMXoNHeokShRQJIAAkggWsQqGq4ePLLvB1hlFL+GlQASpuBkmWrE9I+vMapuLsLAijoXUDpTtRzibFLQrXn1H+QDQ4zbMmvgbrWxu6cjscgASSABPyaQEV99ZHtZ/aOIQBBLhCU1oFEl6xOWKlOv+2KH8KNt2WNgt6HK5a+OOHecO3ZfyhJNDsC4e2CeqhotChRaJEAEkACSOASAueqivbuOruf3/xm5LsoQK0gCimrZz+yj4fR9Y4ACnrvuKln/X3xnO+xlvp61lfkimt1GuA/RQ44bVEfXXfF4wYJIAEkgAQAcoqOZB8qOT6fsdAyx9dK1uW+6PHYlQd5wH9c/9cUBb0fmLKW+ppQbeEvlaScVANflurgQKX6lJuyCy0SQAJIwC8JMNF2bj25Y2fhxZIUBQClcF6kdNGTCWknlTi0vSeAgt57dp3OTF8c94dw/an7BGJjvUe8vS7A3qog2FqMs8p1AoUBJIAE/I6AQ3Y0fHw044i1pX6xUnkK9JBAxYTHEtLOKnFo+0bAXdD7lhKeDX9fOO+tCOncUg00OhUceXV8App8cMhqlLILLRJAAkjA5wk021svfHRka3mr0xbnVtlPpYjWhU/MeajaLQ69fSSAgt5HgJee/tfEBdlhgQWzdYJVfYatvDkMtpwrgRZH66WHYxgJIAEk4LMEapvrzn16LFN2UnmSUknWhfni6vhVtz4W9VizEoe2fwgMnqD3T3m9IpW/zF18PEh/ZmyAWK3e7m6xBcOb56rhYku9V9QBC4kEkAAS6AuBMuuFg5l5O4ezrvVIJR0m5r9eE7/qh0oYbf8SQEHvX55qan+bf/2FqEkZo9znf29yBMK7BU1QWF+tHoceJIAEkICvEThelrdjT34O72IPVOpGgHyHiflvlDDa/ifgK4Le/2T6IcW1Ix9qapv/vShLSc4u6+GTYgH2X8A74BUmaJEAEvANAk7qbM06vWt73oX8RLVGlDYTItz4RPzK19Q49AwIART0AcHaOdHNibOXBknn/wLAOpzYLpmKsL86yPUKVpsTb5ZjSHBFAkjAywk025rLPzyyteBiozVJqQqltEIg4oIn4h7+UolDO3AEUNC7w7YfjnkuadZjgZqSH4ipPL9HAAAQAElEQVRgl5XkSprC4M2zZTiurgBBiwSQgFcSKLWU535yPEvv9upT3n7JoZLzusfjHz7slZXywkKjoA/iRXshcebLxoC6GK1Qr94Z1+AwwzsFLXCqtnwQS4JZIQEkgAT6hQA9UHQke2/BwViWWghz7Svd3KgLX/jk7EdL2iPQDAIBFPRBgOyexeb5E878MyXKbNaUHWqPB4eshS/LDZBRmt/eKa/sQYsEkAAS8EwCdtlR/8mxzANFbTO/ubSEUmgCICtWx6c9vHbGPTbAZVAJuC7CoOaImbkIbE6cFjdMf/qvBByuMFACJy1hsOVsATTZ8Xn1Nii4RQJIwBMJWJrrzn14+EtLs73luo7y0bOyKM9dHb9yS0cc+gaTAAr6YNK+JK+/LZz70zDd2Zs0pMmu7KppDYU3z12E0oaLSlTfLJ6NBJAAEuhHAvlVhXsy8naOpECjlGQpwH8bZWn2z2IfOa7EoR18Aijog8+8U45/XzT/CwiwRgZIVepYU4szAN4/D7DnQmGnYzGABJAAEhgqAnbZ3phxaueOgyUnFrAyGJgDoMAbI4+viV9159o5D7HudlcsboaIAAr6EIF3z/bVeVNrXkqaFBWkKWZdVW03wVMqQk51CLzNuuAb7eossu6neYIfy4AEkIAfEKhprD310ZGt1ZamOvX5cv5IGhHootXxq57xAwReUUUUdA+6TM8lzlwRqi16QCQt6sPpVawL/o2zFsivq/KgkmJRkAAS8BMC9FDJ8W3Zp/eMlymNVurMutu/dBDnrCfi0r5S4tAOPQEU9KG/Bp1KkL447p8glkQZxcoyZYdNNsCnJRrYWlIA7EulRPu+xRoiASQwZARaHa01Hx3dmnuuqiiZFULDHOthBxsldPXquFU3/SL+UWxlcCge5FDQPehiKEV5PWlO+YvJk0eFavLVqRIpJZBnDYU3zhSDpbVRORQtEkACSKDfCfAXq3x4dKvc6rAldCROz4oCmb8mLu1pQgjtiEefpxBAQfeUK9FFOdIT478TJp5aphPr1JtNrPYgeOtcExy7qDbguzgTo7pBAA9BAkjgEgJO6rTvOncge09+TiwBEqHupvSFxpCAmY/HrjyoxqHH4wigoHvcJelcoA3J8zJNI1tDTVLZbmWPk2ohu9wI/y08BzYnv8lU2YMWCSABJNA7AvWtjSWsVX62oq4yhaVAmGMrtbDewTtWJ6T9aO247+HduYyIJ68o6J58ddrL9vdJk1qfT5q2KER77mEJWtUb5s43hsOrZ6rgjKWi/Ug0HkMAC4IEvIQApdR5sPjoti9ObAt1Op1TO4pNt2s02pg1CSs/6ohDnycTQEH35KtzSdk2Lk7YLJOKsXqx5ryyq8VphM9LDfCfgnyotzUr0WiRABJAAtckUNNw8eQHh78oyK8u5je+BbhOoGCnQH/+RNyqlP+Z+cMLrjjceAUBFHSvuEwdhXxjyeySV5InRJu1Zc8R6OhuL20Kg9fPNsL+yqKOg9HnqwSwXkigTwT4POzbzuzbln1mbwwbN5+oJkZpnkyEhWvi0/6EN76pVLzGg4LuNZeqc0E3L5620qArm2kQLqqvaXNSDeyvCobXzpyHiiZL5xMwhASQABJgBPKrivd+eOTL5uqGGt4qbx8rZzso/X9srHzqk/EPH2AhXL2QAAq6F140pcgvLZp97OWU8SNNmtLfS0Jr2xRzbKfVFgTvFVLXc+t2pxrN9uCKBLpBAA/xSQJNtuaKj49lHDhYcnQ+GzcfplSSda8fILI4lYn5WiUOrXcSQEH3zuvWqdTPJ07/lUGsGmeULpxWdlAquJ5b/+eZCrxpToGCFgn4KYHc4qPZnx7PMrfYW+d0IKANlND/WR23au4Tcx7K64hHn7cSQEH31it3SbmfT5xx/sWkKVOCpfxHJdKk3gmv3DT37/x8sNqaLjkLg0hg0AlghoNIoKK++sj7hz87VVBdzB9Fa7vpjeXPWuhfiIIQsyYu7W84Vs6A+MiKgu4jF1Kpxqak+L+DLTLIJJXlKnHcljWHwRtnWyC7tACwG54TQYcEfJdAo62p/POT23fvOrt/llOWpyg1ZUJeIxP6rTUJaTc9FruyVIlH6xsEUNB94zp2qsVrN5HG55OmJYSI51I1pFGdDEKmIhyzhMI/zlyAk7XqvXSdzsUAEvBqAn5eeCbeLfsLD2V/djw7qKGlYeElON4UqBTzZFzaG5fEY9BHCKCg+8iF7KoaG5MT3n51yShDkKbkTYHY1bmXW50BkFEWAG+dLcS74bsCh3FIwAsJnKsq2vvBkS+qi2vLOnWvA4VjQMiS1fGr7mdj5dVeWDUscjcJoKB3E5Q3H/Zc4oz7I4JLxpuk8hPAvt1KXWpaQ+C9Agqfns+HZqdNiUaLBJBA1wQ8MtbaXJ//4ZEvDx0qOT6fUnm0WkgK1RTIqsb4ytmr41Zmq/Ho8VkCKOg+e2k7V+yvcXGFzydNnT5Mc/Ieg1jToOylIMC5+jD452kL7KsocpN75Qi0SAAJeCIBm9Nu2XZmz7ateTuimT/WvYwU4O+S0DppTfzKTWvJWtl9H/p9lwAKuu9e2y5r9rfEhe++nDzBFKHLe14LjeoX3SHr4KuaYCbsxXCiY66aLtPASCSABAaAQA+S5HOvs1Y5rW6o5ZPDiMqpFOgnlAiT18SvevSncT/F2aUUMH5iUdD95EJfWs1nF81/KNx8eniwpjBbcJtCtsFuhszyAHjt9HnIr6u69DQMIwEkMEQEnNRpP1KWt/3fhz690D73eohSFNYiPwOULFsTn3bbmriHzyjxaP2LAAq6f13vTrX985wl1ZsSY5cEBxbMMAoXTrnvtNqD4JNirevGucJ6vI/GnQ36kcBgEzhRfnbHfw9/UXnmQn4SpXS4kj8T8lo+OUxTXOW01QkrM5X4LixG+QEBFHQ/uMjXqmL63LnHX0yZEhOkL7zZIFR1ejaV3zj38XkNvH2uAMoaaq+VFO5HAkig/wjQM5WFe1iLvOhkxelEmdJRHUnTBkrhDxrSOp5PDsPGyR0d+9DnrwRQ0P31yndR7+cWxn7+csqk0WHa06kBUo3a385aAVDVEgr/Pk+AzzhX2VTXxdkYhQSQQH8RKKwp3v/+4c/PHik9sYC1yKOVdJmINwGFp0WdLnpNwqpf/jTOQ8bJlQKiHVICKOhDit8zM9+weO7bLyVNGBauP/OwQbRcVEtJCZQ1h8E7BRQ+KMyHmpZ6dRd6kAAS6DuBUkt5LhPyEznnj851ys5J7imyP9Z/JxIZtzph1erHpj/Y8b10Pwj9fk0ABd2vL//VK//3hddtfjl5bFiwtnClXrBY3I8ubgyDLfkOeC8/H4obatx3oR8JIIEeEjhTVbjng8Ofn9pbcDCeCfk05XQm4jbmnpNkceSa+FWPrp69slLZ50cWq9pNAijo3QTlz4dtWhz73CspY0OCNMU/0ZE6q8KCv9GtnLXYPyiS4M2zhTidrAIGLRLoBgG7bG88VHJi278Pflp+pOTEAofsVOdc56ezrvZ/yLI4iQn5yp/OeQjnauZQ0F2VAAr6VfHgTncCzyXOfPYfS8YEm7Rlj2mFhk4t9outIa7pZF/OK4XcqmJwssE+93PRjwSQQBuBFkdr1d6C3Oz/Hv7Sca6qMJkCjWzbo2zpSyA6x69JSPvez+Y8dF6JRTtABHwoWRR0H7qYg1WV5xdP+8s/U0bzFvt3jEJ1iXu+Tc5A2F1phpdPXYAdZYXQYre770Y/EvBbAtaWhsKs07u2f3w0w1xqqUhhIIKYa1sprWP/gf9AtTRydXzag6tn/7igbQdukUD3CaCgd58VHnkJAdZif+3FlIlRJk1eokksP0bAqR7R6jTA4doQ+MdZC3xRnA8WW5O6Dz1IwJ8IXKivOfrp8ax9W09uH3ux0ZrE6q5jzrWy8fFC/hx5I5Ui1ySs+uWaGWkVrh248RUCg1oPFPRBxe2bmT2fOH/n88lTZ4aGlYw3iyUZAvD7eNrq6pC1cLouDN44a4O3zhbAIdagd8rqjLNtB+EWCfgYgWZ764WcoiPZ/zn0WcHOs/tmNtma57lXkXWzHwJBvpeNj49zPUc+5yH8x+sOCP29IoCC3itseFJXBDbMnl2wOXnG9TZ9hDFYW/yqhjSr/e2UEqhpDYWdF0zwwqlq+LgoH0oa8e74rjhinHcScFKn/VxV0d5Pjmft/+RYRnjhxZIUmcrjOteG/puAnLwmPi1udewj73TehyEk0EMClxyOgn4JEAz2ncC7C0nzpsUzv/vqkkhtqCb/KYNY20m5HbIOChrC4P1CCf5xqhh2VRRCg72l7xljCkhgCAhcbLSc3nZ237b3D33ewF9h2mxrnsuKob4wBYA2AqUbRUonsfHxbzwR/8h2th9XJNDvBFDQ+x0pJuhOID0x/mcvJ48LDxEK5pqksu0itHbqb29wmOFgTQi8eqYJ/pWf73r0TaZsZNE9EfQjAQ8jYHParUdLTm774MgXJ7NO755cXV/D33qmviylrbj0K9Yx9cNGWRq2OiEt7bGEtLNt8bhFAgNDoJ8FfWAKial6P4GNKXFfPZ80LTnAPEwfpClay1rtFe61kqkIFc1hrkffXjxVCZ+wLvmiumr3Q9CPBIaUgFN2Np+pLNzDb3D78MiXhtNVBckOp2Oqe6EoBStz6QSE6aw1PndN3KoX1+L4OOAyOARQ0AeHM+bSTuD5OcT+XOLs//dy8rhIA5TEBooVXwjQ2unFEjanHvJZl/yHxRp4Ma8MthbnQ0VTp8fe21NDgwQGlgAbF3cUXSz7amvejl3vH/7cyedWb7/BTds5Z7qHEvo9aVgLv1v9kSfiHz7ReT+GkMDAE/AqQR94HJjDYBJ4eemMwy8kx9xUSoYZjNqKn+oEa+Glne0tTiPk1YXBvwoI/ON0MWSXFcDFlobBLCbm5YcEKqwXjrCu9O3vH/q8/kDRoeuszfWLGIZA5jpW17Pj9G+krTW+cE1c2j8ei3qsGXBBAkNEAAV9iMBjth0EspcQx4uLY/76j5TocaDVjAqUav7CxL0MoLO8N9jNcKw2FN4654TXz5yHPRVF0GDDm+k6SKKvLwRqGmtP7Tr7Vfa/D31atis/Z9bFRgt/ZvyScXG4yKdkpZTc0aiLiFiTkPY/2BrvC3U8tz8JoKCrNNHjCQS2LDaWvZA04bF/pESPAiJGmKTSDQbh4gX3snGZt9iCIKcmGP55tgVeO30eMkrzoYCNufN97seiHwlciYDdaa8rqDm/j7fE+Xzq2af3TKmor0phgj3S/RwKtIp9rl5kcTesjl8VxkT8e2sSVn60dsY9NhaHKxLwGAIo6B5zKbAglxJ4a4m5+vmk6T9+OWX8iCB94egQTf7mALGqgrjNSMdaSmC1B8FJSxh8zMbcN5+sAn63/P7KIpyd7lKgGIaqhosn9xceyv7w6NbD/z3ypTn3/LF5vCVOL5tPHUpZB9FfSdsz48PWxK/6IRPzrYgQCXgy22jRZgAACbhJREFUART0Qbo6mE3fCDy3MLZ0Y2L8wy8lT4qUjJXhIdpzTzNxLybQ6X46cMha4HfL768KZt3ydnjlVAl8ej4fTtVWgN3Z6Ym5vhUIz/YKAs32lsq8irM7vzixY9d7Bz+p3X5m79Ti2rIUm8M2+9IKMFE/yUR8PYjyfCbeo1cnrPopPjN+KSUMezIBFHRPvjpYti4JvDpvas3GxQmrmbiP0Y47aojQnP65WVN8TEsaOyaTbz+z0WGCc/Vh8GWZAV48ZYEtZwsgs7QAzlguQKvzssPbz0LjrQSa7a0X+KNl287s2/b+4c/zPjmWOex4+enF9a31/Ka2zuPhFOxMwDNZF/tjwN9uFp82bXXCqjWrZz+yz1vrj+X2bwIo6D5x/f23Ev8Yt6Tl2cS5f9qcOHPmP5eMkiIDDn47TJu/1SDU1AHp3CJ3UhGqW0PhhCUUPi/Vw4t5dfAqG3//pCjfNcd8XWuT/4L0wppToDLrLj91tOzEdt4C//ehz0o+OZYxnD9aVt1Qk+yUnTGXVouJdw0T8dcpkG8G6GgoE/BlbEz8L6tn49vNLmWFYe8jgILufdcMS3wVAs/MX/L6hsXxN7ycMiHIJFaMDNEW/ilQunBCAHtndWdpUBCgjo2/82fe+Rzzr561M5Evg/8U5MPeC0VQ1ljLfvvZgbh6BAGH7GgotZTn7is8mP3R0cycf+d+2ph1eveU0xcKk3gLnFJ59BUKehgI/T2AvJCJdzgT8W+viV/5XtqMNHz+8QrAMNo7CaCge+d1G9RSe2tmzydNK9+4OPbnLyRNmf7G0ghRK9XcbtKUvxkg1pwXuxB4YEuL0wilTWFwoDoY/l0owHMnauC1M+fho6JzLpHns9dhVz0DNcAr7zo/f7H0wIGio9mfn9y2+z+HP83/4PAXAXsLDsaX1JantDpaEoCAqatiUEqPUgrPEwIPiAIZzcbDY1fHpf1qdfwje7o6HuOQgK8QQEH3lSuJ9bgmgX8mTfj4+cSp97+UPCH6dSbwAVLF4mBNYTprwR/XkrouH2h3UgmstiAobAh3ibxr9rpT9fDyqVJ4Lz8fstl4/MnacsDu+mviv+IBvNv8VGXBrl3nDrCW99YcfvMa7zr/qujwnKKLxSkNLY0LZZmOZwlc/ntFaTPres+gAL8jlNysMzmCWCt81pqEVQ89Ebfqn4/Frixl5+GKBPyCwOVfEL+oNlbScwgMXUleSorZtSkx9hHWgp/xzyVjDCbz2ZGh2oJfmDUlOwLEi7XkkjvolZJSSqDJEQjlzWFwjI3HZ5QFAO+ufz7vArxx+rzz/cICe0ZJYeuBqpLWs3VVrbWtjZ1vxVcS8hPLu8prmy1n+RSqR8rytnPh/vLk9t3vH/78BBNv4N3mx0pPLqqoq2Qtb1sCw9L55jUW0bHSIibgbwGlPxYEEh8dH2FaE592/Zr4Vf/7RMLKzx+d9Ghdx7HoQwL+RQAF3b+uN9b2KgSenzOnPH1x3B83J85Ieil5fKi9Okwaps27MUx3al2wtjDTLJUV64RaG7mC0Nuceqi1B4kljaGak9YQ3d5Kk+6zYq3ujbMOacNxK7xw8oL91TMlLf8pON+0tbioed+FkpY8ywVbWUOtw2Jrlq9SNI/dZZcd9Q2tDcUX6muO8klacoqPbOOvEv3sRNbeD458cfLfhz69+MHhLwIz83ZP5FOonrmQn8SFu66lYaFTdk67YsXa7kA/wva/JgN9gtkbHBKEro5PG7smPu2+1QlpGx6PXXnwHnIPPqrA4OCKBDgBFHROAZ3PEuhLxd69hzj/tnj+lxsWzXty0+LYZZuTpo35R8o4XaD5PePIgH3LR+iPbQjXnN4dpCmpMEg1dpFcfeKwVlmvqbOZ9KVNQQF5dcGGr6pN+q2leu2/iwTp9TM2gYv+phPVrhvzXmXj9m+fK4T3C/Jdz9Fnsa59PlnOsYtlcNpSAfl1VcDH84sbaoDfvFfZZIXq5jrXPPdWWxM02lugxWHvsvo2p93S4mitarY1l9e3NpZYWxoKa5vrzvGu76qGmhMX6quOllguHDxTVbiHt6j3FR7M5o+BfX5y++6Pjm49+MHhz0/9++Cn5bx1/d/DX5g+P7E9aufZfTNzzx+bV1hdklxdX5Pc2No8n7+JjFIa2mUhOkVSCwWaQQn9Cx/3pqKcsDphlZa52avjV33nyfi0PzO79eezVtV2Og0DSAAJdCKAgt4JBwaQwLUJPD/noaY/z7/pX39ZuPjHf0+cu+i5xBmRLydN0C6IeNc0IWDHbSMNB383XH/ig1DN2ZNmsdiqFy/Sa4m9kquTaoDfmFdnC4KqlhAoaQoD/hz9cda1zyfLyS43whelBvikWAt8PP+DIsl18947BQBb8im8ec4Jr52xwyunW+HFU03A/yRwp6TP7YdHvgz++GhGxCfHsyK/OLFt9NaT28dm5u2cwLu+t5/ZN23n2a9m7ivIiTtScmIBb1GX1Jan8MfAGlirutVhi3PIzilMgCN5Wt11lMJ55nYAhdcB6G+B0B/JIF/fdtNaWsga3m0el/YYH/deM/uR3O6mi8chASTQQQAFvYMF+pBADwl0Ppw/BvW7+Xd88ucFS/73rwsX3pWeOGfa5uSZwa8kjxdig94ZO8W49e6RAQd+M0x38u0QTcE+k1R2Xi/W1GmFersArZ0T865QKRP4Q8x9xkT7eaD0V0y4v00EmuiUxWjWuiZrElZFM5fEWt3fXh2f9n+r49JeeDL+kQy8ac27LjSW1rMJoKB79vXB0vkIgSfiHylaO++b7/95/vW//tuiBakbE+PmP580LfqV5AlB/0yJ0r6xdDiZG/JKyBjznkTWwn9guP7YLyL0eX8L0+a/Gaw5/5lZLN9rFC/kGYSLJXrRUqUTrBYtqWvQCXVNWqGhRSM02iTS5JBIi1MSWmWB2KkAXXe5A1DexV3F0DIhBv7K2jPMf4K5wxToAQDKH+/KZsL8H+ZeYCL9B9Z1/hgB8h0q0JtkEK5zEDIuQEtNq+NXEeZGsxZ2HHO3MNF+aHVC2u9XJ6x6/YnYtJ0/m/PQeZYurkgACQwCART0QYCMWSCB7hD4adxPLU/NuWUna+H/868LF//x2YXz/2fD4vj7NyXOumVz8tQFLyZPmfpyyvioV5LHDvtHSnTIP5eMMf0jZYzxnymjDa+mjNK9tmSk5rUlI6TXUoaLbyyJEN5YGkHeWhp8mVsdn8a7uIetjl/FhHjVuDXxqyYz/3TmYtfEp123Oj5t4er4VUtWJ6R9nbkfMZH+5ZqEtL88Eb/ytTWxaV88Gf/wgZ/HrSzkPRLdqRcegwSQwOAQ+P8AAAD//5gUcRgAAAAGSURBVAMAyrQ85ldfDXIAAAAASUVORK5CYII="/>
          <p:cNvPicPr>
            <a:picLocks noChangeAspect="1"/>
          </p:cNvPicPr>
          <p:nvPr/>
        </p:nvPicPr>
        <p:blipFill>
          <a:blip r:embed="rId3"/>
          <a:srcRect/>
          <a:stretch/>
        </p:blipFill>
        <p:spPr>
          <a:xfrm>
            <a:off x="3587504" y="1914968"/>
            <a:ext cx="1968992" cy="1968992"/>
          </a:xfrm>
          <a:prstGeom prst="rect">
            <a:avLst/>
          </a:prstGeom>
        </p:spPr>
      </p:pic>
      <p:sp>
        <p:nvSpPr>
          <p:cNvPr id="3" name="Text 0"/>
          <p:cNvSpPr/>
          <p:nvPr/>
        </p:nvSpPr>
        <p:spPr>
          <a:xfrm>
            <a:off x="496186" y="1072609"/>
            <a:ext cx="8151628" cy="443023"/>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Conclusion &amp; Future Directions</a:t>
            </a:r>
            <a:endParaRPr lang="en-US" sz="2820" dirty="0"/>
          </a:p>
        </p:txBody>
      </p:sp>
      <p:sp>
        <p:nvSpPr>
          <p:cNvPr id="4" name="Text 1"/>
          <p:cNvSpPr/>
          <p:nvPr/>
        </p:nvSpPr>
        <p:spPr>
          <a:xfrm>
            <a:off x="637953" y="2065842"/>
            <a:ext cx="2595132" cy="221512"/>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Summary of Learnings</a:t>
            </a:r>
            <a:endParaRPr lang="en-US" sz="1410" dirty="0"/>
          </a:p>
        </p:txBody>
      </p:sp>
      <p:sp>
        <p:nvSpPr>
          <p:cNvPr id="5" name="Text 2"/>
          <p:cNvSpPr/>
          <p:nvPr/>
        </p:nvSpPr>
        <p:spPr>
          <a:xfrm>
            <a:off x="637953" y="2372390"/>
            <a:ext cx="2595132" cy="1360820"/>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This project has provided a rigorous framework for conducting systematic reviews, highlighting the importance of meticulous planning, execution, and transparent reporting using tools like PRISMA.</a:t>
            </a:r>
            <a:endParaRPr lang="en-US" sz="1105" dirty="0"/>
          </a:p>
        </p:txBody>
      </p:sp>
      <p:sp>
        <p:nvSpPr>
          <p:cNvPr id="6" name="Text 3"/>
          <p:cNvSpPr/>
          <p:nvPr/>
        </p:nvSpPr>
        <p:spPr>
          <a:xfrm>
            <a:off x="5910915" y="1728283"/>
            <a:ext cx="2595132"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Recommendations for Future Research and Directions</a:t>
            </a:r>
            <a:endParaRPr lang="en-US" sz="1410" dirty="0"/>
          </a:p>
        </p:txBody>
      </p:sp>
      <p:sp>
        <p:nvSpPr>
          <p:cNvPr id="7" name="Text 4"/>
          <p:cNvSpPr/>
          <p:nvPr/>
        </p:nvSpPr>
        <p:spPr>
          <a:xfrm>
            <a:off x="5910915" y="2256342"/>
            <a:ext cx="2595132" cy="1814426"/>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Future work could involve expanding the scope to include meta-analysis if appropriate data are found, exploring new biomaterial applications, or integrating real-world evidence. Continued refinement of search strategies and collaboration are key for advancing biomaterials research.</a:t>
            </a:r>
            <a:endParaRPr lang="en-US" sz="110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1245</Words>
  <Application>Microsoft Office PowerPoint</Application>
  <PresentationFormat>On-screen Show (16:9)</PresentationFormat>
  <Paragraphs>95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Rubik</vt:lpstr>
      <vt:lpstr>Varela Round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 Project: Systematic Review of Biomaterials</dc:title>
  <dc:subject>PptxGenJS Presentation</dc:subject>
  <dc:creator>PptxGenJS</dc:creator>
  <cp:lastModifiedBy>Jonathan Terrero</cp:lastModifiedBy>
  <cp:revision>5</cp:revision>
  <dcterms:created xsi:type="dcterms:W3CDTF">2025-08-24T19:37:17Z</dcterms:created>
  <dcterms:modified xsi:type="dcterms:W3CDTF">2025-08-25T16:17:00Z</dcterms:modified>
</cp:coreProperties>
</file>